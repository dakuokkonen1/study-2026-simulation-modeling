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2ca4ae6644e93" /><Relationship Type="http://schemas.openxmlformats.org/officeDocument/2006/relationships/extended-properties" Target="/docProps/app.xml" Id="Reb0c17a55e3a442b" /><Relationship Type="http://schemas.openxmlformats.org/officeDocument/2006/relationships/officeDocument" Target="/ppt/presentation.xml" Id="R18a869ed64b54e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8d968f6e4043de"/>
  </p:sldMasterIdLst>
  <p:notesMasterIdLst>
    <p:notesMasterId xmlns:r="http://schemas.openxmlformats.org/officeDocument/2006/relationships" r:id="R4431d88fc564400b"/>
  </p:notesMasterIdLst>
  <p:sldIdLst>
    <p:sldId xmlns:r="http://schemas.openxmlformats.org/officeDocument/2006/relationships" id="256" r:id="R8566369139244511"/>
    <p:sldId xmlns:r="http://schemas.openxmlformats.org/officeDocument/2006/relationships" id="257" r:id="R3b082dbd894d4458"/>
    <p:sldId xmlns:r="http://schemas.openxmlformats.org/officeDocument/2006/relationships" id="258" r:id="R2f48a5f07fc042cc"/>
    <p:sldId xmlns:r="http://schemas.openxmlformats.org/officeDocument/2006/relationships" id="259" r:id="R92624c485f2b4996"/>
    <p:sldId xmlns:r="http://schemas.openxmlformats.org/officeDocument/2006/relationships" id="260" r:id="R3357dfce896244b7"/>
    <p:sldId xmlns:r="http://schemas.openxmlformats.org/officeDocument/2006/relationships" id="261" r:id="R1a7d6d5ebca543e3"/>
    <p:sldId xmlns:r="http://schemas.openxmlformats.org/officeDocument/2006/relationships" id="262" r:id="R7402e5aeead14fde"/>
    <p:sldId xmlns:r="http://schemas.openxmlformats.org/officeDocument/2006/relationships" id="263" r:id="R8757957bf9f54315"/>
    <p:sldId xmlns:r="http://schemas.openxmlformats.org/officeDocument/2006/relationships" id="264" r:id="R40ddbcad878e488c"/>
    <p:sldId xmlns:r="http://schemas.openxmlformats.org/officeDocument/2006/relationships" id="265" r:id="R3d45c8160d444614"/>
    <p:sldId xmlns:r="http://schemas.openxmlformats.org/officeDocument/2006/relationships" id="266" r:id="Rd698fbb96be342a1"/>
    <p:sldId xmlns:r="http://schemas.openxmlformats.org/officeDocument/2006/relationships" id="267" r:id="R70651348c5fd44fc"/>
    <p:sldId xmlns:r="http://schemas.openxmlformats.org/officeDocument/2006/relationships" id="268" r:id="R6c5a41d7ba61463a"/>
    <p:sldId xmlns:r="http://schemas.openxmlformats.org/officeDocument/2006/relationships" id="269" r:id="R8a67a8078fa64547"/>
    <p:sldId xmlns:r="http://schemas.openxmlformats.org/officeDocument/2006/relationships" id="270" r:id="R91a8f88373b444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cde643e63942d2" /><Relationship Type="http://schemas.openxmlformats.org/officeDocument/2006/relationships/slideMaster" Target="/ppt/slideMasters/slideMaster1.xml" Id="R418d968f6e4043de" /><Relationship Type="http://schemas.openxmlformats.org/officeDocument/2006/relationships/notesMaster" Target="/ppt/notesMasters/notesMaster1.xml" Id="R4431d88fc564400b" /><Relationship Type="http://schemas.openxmlformats.org/officeDocument/2006/relationships/presProps" Target="/ppt/presProps.xml" Id="R219c1b310003480e" /><Relationship Type="http://schemas.openxmlformats.org/officeDocument/2006/relationships/tableStyles" Target="/ppt/tableStyles.xml" Id="R6fe22d8b3ef64613" /><Relationship Type="http://schemas.openxmlformats.org/officeDocument/2006/relationships/slide" Target="/ppt/slides/slide1.xml" Id="R8566369139244511" /><Relationship Type="http://schemas.openxmlformats.org/officeDocument/2006/relationships/slide" Target="/ppt/slides/slide2.xml" Id="R3b082dbd894d4458" /><Relationship Type="http://schemas.openxmlformats.org/officeDocument/2006/relationships/slide" Target="/ppt/slides/slide3.xml" Id="R2f48a5f07fc042cc" /><Relationship Type="http://schemas.openxmlformats.org/officeDocument/2006/relationships/slide" Target="/ppt/slides/slide4.xml" Id="R92624c485f2b4996" /><Relationship Type="http://schemas.openxmlformats.org/officeDocument/2006/relationships/slide" Target="/ppt/slides/slide5.xml" Id="R3357dfce896244b7" /><Relationship Type="http://schemas.openxmlformats.org/officeDocument/2006/relationships/slide" Target="/ppt/slides/slide6.xml" Id="R1a7d6d5ebca543e3" /><Relationship Type="http://schemas.openxmlformats.org/officeDocument/2006/relationships/slide" Target="/ppt/slides/slide7.xml" Id="R7402e5aeead14fde" /><Relationship Type="http://schemas.openxmlformats.org/officeDocument/2006/relationships/slide" Target="/ppt/slides/slide8.xml" Id="R8757957bf9f54315" /><Relationship Type="http://schemas.openxmlformats.org/officeDocument/2006/relationships/slide" Target="/ppt/slides/slide9.xml" Id="R40ddbcad878e488c" /><Relationship Type="http://schemas.openxmlformats.org/officeDocument/2006/relationships/slide" Target="/ppt/slides/slide10.xml" Id="R3d45c8160d444614" /><Relationship Type="http://schemas.openxmlformats.org/officeDocument/2006/relationships/slide" Target="/ppt/slides/slide11.xml" Id="Rd698fbb96be342a1" /><Relationship Type="http://schemas.openxmlformats.org/officeDocument/2006/relationships/slide" Target="/ppt/slides/slide12.xml" Id="R70651348c5fd44fc" /><Relationship Type="http://schemas.openxmlformats.org/officeDocument/2006/relationships/slide" Target="/ppt/slides/slide13.xml" Id="R6c5a41d7ba61463a" /><Relationship Type="http://schemas.openxmlformats.org/officeDocument/2006/relationships/slide" Target="/ppt/slides/slide14.xml" Id="R8a67a8078fa64547" /><Relationship Type="http://schemas.openxmlformats.org/officeDocument/2006/relationships/slide" Target="/ppt/slides/slide15.xml" Id="R91a8f88373b444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dd246bd3b044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4d508e616c445a" /><Relationship Type="http://schemas.openxmlformats.org/officeDocument/2006/relationships/notesMaster" Target="/ppt/notesMasters/notesMaster1.xml" Id="R6b060268f49343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4286e8902f4ae2" /><Relationship Type="http://schemas.openxmlformats.org/officeDocument/2006/relationships/notesMaster" Target="/ppt/notesMasters/notesMaster1.xml" Id="R91e6205d506447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ae3072070e4227" /><Relationship Type="http://schemas.openxmlformats.org/officeDocument/2006/relationships/notesMaster" Target="/ppt/notesMasters/notesMaster1.xml" Id="Rdfdcdc0e0d6947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3a1d6182ee4d81" /><Relationship Type="http://schemas.openxmlformats.org/officeDocument/2006/relationships/notesMaster" Target="/ppt/notesMasters/notesMaster1.xml" Id="Rfc6db8622ee64a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455df20a454671" /><Relationship Type="http://schemas.openxmlformats.org/officeDocument/2006/relationships/notesMaster" Target="/ppt/notesMasters/notesMaster1.xml" Id="R5c64ef7ba9224d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e84806dccb4075" /><Relationship Type="http://schemas.openxmlformats.org/officeDocument/2006/relationships/notesMaster" Target="/ppt/notesMasters/notesMaster1.xml" Id="R2078c3329ba441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669f945a414310" /><Relationship Type="http://schemas.openxmlformats.org/officeDocument/2006/relationships/notesMaster" Target="/ppt/notesMasters/notesMaster1.xml" Id="R3cf8dec3703c4b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678035f6934dda" /><Relationship Type="http://schemas.openxmlformats.org/officeDocument/2006/relationships/notesMaster" Target="/ppt/notesMasters/notesMaster1.xml" Id="R54897444475d40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f04896754e4267" /><Relationship Type="http://schemas.openxmlformats.org/officeDocument/2006/relationships/notesMaster" Target="/ppt/notesMasters/notesMaster1.xml" Id="Ra360f3ba79e642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625782015e4a1e" /><Relationship Type="http://schemas.openxmlformats.org/officeDocument/2006/relationships/notesMaster" Target="/ppt/notesMasters/notesMaster1.xml" Id="R1603967a9d1b48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93d66e134b44d9" /><Relationship Type="http://schemas.openxmlformats.org/officeDocument/2006/relationships/notesMaster" Target="/ppt/notesMasters/notesMaster1.xml" Id="R456c19e1066840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f1a99570ff4f4d" /><Relationship Type="http://schemas.openxmlformats.org/officeDocument/2006/relationships/notesMaster" Target="/ppt/notesMasters/notesMaster1.xml" Id="R30d42264578246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c8f141b04b4f3f" /><Relationship Type="http://schemas.openxmlformats.org/officeDocument/2006/relationships/notesMaster" Target="/ppt/notesMasters/notesMaster1.xml" Id="R8d7683c22c2c40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31b950134c40d5" /><Relationship Type="http://schemas.openxmlformats.org/officeDocument/2006/relationships/notesMaster" Target="/ppt/notesMasters/notesMaster1.xml" Id="R8d038abbdecc42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ba185a45b74ea1" /><Relationship Type="http://schemas.openxmlformats.org/officeDocument/2006/relationships/notesMaster" Target="/ppt/notesMasters/notesMaster1.xml" Id="Rbd317cc7a95a4b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- labs/lab01/image/01-plot.png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- labs/lab01/image/03-plot.png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- labs/lab01/image/04-plot.png</a:t>
            </a:r>
          </a:p>
          <a:p xmlns:a="http://schemas.openxmlformats.org/drawingml/2006/main">
            <a:r>
              <a:t>- labs/lab01/image/05-plot.png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- labs/lab01/image/07-jupyter.png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существующей лабораторной работы № 1. Базовый опыт: u₀ = 1, α = 0,3, t ∈ [0, 10], saveat = 0,1. Параметрическая серия: α = 0,1; 0,3; 0,5; 0,8; 1,0. Значения взяты из сохранённых результатов. Время 6–8 мкс соответствует измерению BenchmarkTools в исходном эксперименте и зависит от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labs/lab01/report/simulation-modeling-lab01-report.qmd</a:t>
            </a:r>
          </a:p>
          <a:p xmlns:a="http://schemas.openxmlformats.org/drawingml/2006/main">
            <a:r>
              <a:t>- labs/lab01/presentation/simulation-modeling-lab01-presentation.qmd</a:t>
            </a:r>
          </a:p>
          <a:p xmlns:a="http://schemas.openxmlformats.org/drawingml/2006/main">
            <a:r>
              <a:t>- labs/lab01/project/src/exponential_growth.jl</a:t>
            </a:r>
          </a:p>
          <a:p xmlns:a="http://schemas.openxmlformats.org/drawingml/2006/main">
            <a:r>
              <a:t>- labs/lab01/project/scripts/01_exponential_growth.jl</a:t>
            </a:r>
          </a:p>
          <a:p xmlns:a="http://schemas.openxmlformats.org/drawingml/2006/main">
            <a:r>
              <a:t>- labs/lab01/project/scripts/02_exponential_growth.jl</a:t>
            </a:r>
          </a:p>
          <a:p xmlns:a="http://schemas.openxmlformats.org/drawingml/2006/main">
            <a:r>
              <a:t>- labs/lab01/project/Manifest.toml</a:t>
            </a:r>
          </a:p>
          <a:p xmlns:a="http://schemas.openxmlformats.org/drawingml/2006/main">
            <a:r>
              <a:t>- labs/lab01/project/data</a:t>
            </a:r>
          </a:p>
          <a:p xmlns:a="http://schemas.openxmlformats.org/drawingml/2006/main">
            <a:r>
              <a:t>- labs/lab01/project/notebooks</a:t>
            </a:r>
          </a:p>
          <a:p xmlns:a="http://schemas.openxmlformats.org/drawingml/2006/main">
            <a:r>
              <a:t>- labs/lab01/project/test/runtests.jl</a:t>
            </a:r>
          </a:p>
          <a:p xmlns:a="http://schemas.openxmlformats.org/drawingml/2006/main">
            <a:r>
              <a:t>- labs/lab01/image/logo-rudn.png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92de190c741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abf52ba514c08" /><Relationship Type="http://schemas.openxmlformats.org/officeDocument/2006/relationships/slideLayout" Target="/ppt/slideLayouts/slideLayout1.xml" Id="Ra6b54e0bb86441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b54e0bb86441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5eca2985e4f6b" /><Relationship Type="http://schemas.openxmlformats.org/officeDocument/2006/relationships/image" Target="/ppt/media/image.png" Id="R59edc660f99e4b4c" /><Relationship Type="http://schemas.openxmlformats.org/officeDocument/2006/relationships/notesSlide" Target="/ppt/notesSlides/notesSlide1.xml" Id="Rb5ef20f30a7144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65a667ea34ed4" /><Relationship Type="http://schemas.openxmlformats.org/officeDocument/2006/relationships/image" Target="/ppt/media/image2.png" Id="R3d2c6dfb9e4c4667" /><Relationship Type="http://schemas.openxmlformats.org/officeDocument/2006/relationships/notesSlide" Target="/ppt/notesSlides/notesSlide2.xml" Id="Rc6e501cf04d144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c64180d8a4d16" /><Relationship Type="http://schemas.openxmlformats.org/officeDocument/2006/relationships/image" Target="/ppt/media/image3.png" Id="R9cdc0c3816a544d7" /><Relationship Type="http://schemas.openxmlformats.org/officeDocument/2006/relationships/notesSlide" Target="/ppt/notesSlides/notesSlide3.xml" Id="R6480e7b3006645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90fb136f24fbc" /><Relationship Type="http://schemas.openxmlformats.org/officeDocument/2006/relationships/image" Target="/ppt/media/image4.png" Id="R076a0183c91e4e3b" /><Relationship Type="http://schemas.openxmlformats.org/officeDocument/2006/relationships/notesSlide" Target="/ppt/notesSlides/notesSlide4.xml" Id="R98afe5f170a64b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56aaaa462497a" /><Relationship Type="http://schemas.openxmlformats.org/officeDocument/2006/relationships/image" Target="/ppt/media/image2.png" Id="Rc7abada4871d459a" /><Relationship Type="http://schemas.openxmlformats.org/officeDocument/2006/relationships/notesSlide" Target="/ppt/notesSlides/notesSlide5.xml" Id="R925e527cd1434f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bced378ec470c" /><Relationship Type="http://schemas.openxmlformats.org/officeDocument/2006/relationships/image" Target="/ppt/media/image3.png" Id="R03372f712a19492d" /><Relationship Type="http://schemas.openxmlformats.org/officeDocument/2006/relationships/notesSlide" Target="/ppt/notesSlides/notesSlide6.xml" Id="R7665295f501344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3c3f6029c4f89" /><Relationship Type="http://schemas.openxmlformats.org/officeDocument/2006/relationships/image" Target="/ppt/media/image3.png" Id="Re8138577f091495b" /><Relationship Type="http://schemas.openxmlformats.org/officeDocument/2006/relationships/notesSlide" Target="/ppt/notesSlides/notesSlide7.xml" Id="R5007751efe344b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a320bce5d43e9" /><Relationship Type="http://schemas.openxmlformats.org/officeDocument/2006/relationships/image" Target="/ppt/media/image2.png" Id="R88c2bb70ff8a43da" /><Relationship Type="http://schemas.openxmlformats.org/officeDocument/2006/relationships/notesSlide" Target="/ppt/notesSlides/notesSlide8.xml" Id="R2c3db5f6c6d04b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691dcd3194ab5" /><Relationship Type="http://schemas.openxmlformats.org/officeDocument/2006/relationships/image" Target="/ppt/media/image5.png" Id="R878501e1469645a1" /><Relationship Type="http://schemas.openxmlformats.org/officeDocument/2006/relationships/image" Target="/ppt/media/image6.png" Id="R5d8cc6676204481d" /><Relationship Type="http://schemas.openxmlformats.org/officeDocument/2006/relationships/notesSlide" Target="/ppt/notesSlides/notesSlide9.xml" Id="R12a9f32d82a64e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caf0d243d4c23" /><Relationship Type="http://schemas.openxmlformats.org/officeDocument/2006/relationships/image" Target="/ppt/media/image7.png" Id="R33f795ee41184f58" /><Relationship Type="http://schemas.openxmlformats.org/officeDocument/2006/relationships/image" Target="/ppt/media/image8.png" Id="R5c0e26d804c646e4" /><Relationship Type="http://schemas.openxmlformats.org/officeDocument/2006/relationships/notesSlide" Target="/ppt/notesSlides/notesSlide10.xml" Id="R2ebb4c954be947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35b64b9114d1a" /><Relationship Type="http://schemas.openxmlformats.org/officeDocument/2006/relationships/image" Target="/ppt/media/image9.png" Id="R06e97cd6b9e64c95" /><Relationship Type="http://schemas.openxmlformats.org/officeDocument/2006/relationships/image" Target="/ppt/media/image10.png" Id="Rbf341d8f9e694d3d" /><Relationship Type="http://schemas.openxmlformats.org/officeDocument/2006/relationships/image" Target="/ppt/media/image11.png" Id="Rc02022dc50a849bb" /><Relationship Type="http://schemas.openxmlformats.org/officeDocument/2006/relationships/notesSlide" Target="/ppt/notesSlides/notesSlide11.xml" Id="R8e8372adf79344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6e7881ae84ad6" /><Relationship Type="http://schemas.openxmlformats.org/officeDocument/2006/relationships/image" Target="/ppt/media/image12.png" Id="R2fbe31e8b8a041d5" /><Relationship Type="http://schemas.openxmlformats.org/officeDocument/2006/relationships/image" Target="/ppt/media/image13.png" Id="R6443ae243c7147ae" /><Relationship Type="http://schemas.openxmlformats.org/officeDocument/2006/relationships/notesSlide" Target="/ppt/notesSlides/notesSlide12.xml" Id="R2b81d715be084f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e54119f764b4e" /><Relationship Type="http://schemas.openxmlformats.org/officeDocument/2006/relationships/image" Target="/ppt/media/image3.png" Id="R94da66f3e1e04275" /><Relationship Type="http://schemas.openxmlformats.org/officeDocument/2006/relationships/notesSlide" Target="/ppt/notesSlides/notesSlide13.xml" Id="R86c262deb5664e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080e137ad45e8" /><Relationship Type="http://schemas.openxmlformats.org/officeDocument/2006/relationships/image" Target="/ppt/media/image2.png" Id="R1f8536696f034dec" /><Relationship Type="http://schemas.openxmlformats.org/officeDocument/2006/relationships/notesSlide" Target="/ppt/notesSlides/notesSlide14.xml" Id="Rff6b4b47a21d47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10dd4435a4eba" /><Relationship Type="http://schemas.openxmlformats.org/officeDocument/2006/relationships/image" Target="/ppt/media/image2.png" Id="R7b370041ce4647de" /><Relationship Type="http://schemas.openxmlformats.org/officeDocument/2006/relationships/notesSlide" Target="/ppt/notesSlides/notesSlide15.xml" Id="R593a2e2e5a4b4f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3396A765-E720-4140-8F2A-9B2252C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F0AA6C92-D1C5-4BD3-9709-9C06392C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dc660f99e4b4c"/>
          <a:stretch xmlns:a="http://schemas.openxmlformats.org/drawingml/2006/main"/>
        </p:blipFill>
        <p:spPr>
          <a:xfrm xmlns:a="http://schemas.openxmlformats.org/drawingml/2006/main">
            <a:off x="457200" y="560369"/>
            <a:ext cx="1104900" cy="936661"/>
          </a:xfrm>
          <a:prstGeom xmlns:a="http://schemas.openxmlformats.org/drawingml/2006/main" prst="rect">
            <a:avLst/>
          </a:prstGeom>
        </p:spPr>
      </p:pic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5F81805C-F6B2-4923-AA28-EDF4ED9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9144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EA5"/>
                </a:solidFill>
              </a:defRPr>
            </a:pPr>
            <a:r>
              <a:rPr sz="1350" b="1">
                <a:solidFill>
                  <a:srgbClr val="176EA5"/>
                </a:solidFill>
              </a:rPr>
              <a:t>ИМИТАЦИОННОЕ МОДЕЛИРОВАНИЕ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45F79F-CBEE-46C7-8579-E321FAC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621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Лабораторная работа № 1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5432B33-C963-45BE-9D52-7A35D6A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Модель экспоненциального роста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DF11CD1-D867-493C-A776-41C0A6B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thor">
            <a:extLst xmlns:a="http://schemas.openxmlformats.org/drawingml/2006/main">
              <a:ext uri="{FF2B5EF4-FFF2-40B4-BE49-F238E27FC236}">
                <a16:creationId xmlns:a16="http://schemas.microsoft.com/office/drawing/2014/main" id="{C9EE01F2-1E06-4D5F-B59A-782D6429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Куокконен Дарина Андреевна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НФИбд-01-23</a:t>
            </a:r>
          </a:p>
        </p:txBody>
      </p:sp>
      <p:sp>
        <p:nvSpPr>
          <p:cNvPr id="9" name="university">
            <a:extLst xmlns:a="http://schemas.openxmlformats.org/drawingml/2006/main">
              <a:ext uri="{FF2B5EF4-FFF2-40B4-BE49-F238E27FC236}">
                <a16:creationId xmlns:a16="http://schemas.microsoft.com/office/drawing/2014/main" id="{1E145EEC-F5DF-4FF7-9082-F8E8222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673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Российский университет дружбы народов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имени Патриса Лумумбы · Москва · 2026</a:t>
            </a:r>
          </a:p>
        </p:txBody>
      </p:sp>
    </p:spTree>
    <p:extLst>
      <p:ext uri="{BB962C8B-B14F-4D97-AF65-F5344CB8AC3E}">
        <p14:creationId xmlns:p14="http://schemas.microsoft.com/office/powerpoint/2010/main" val="189112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c6dfb9e4c4667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Вводная часть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Численное решение простейшей динамической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Сравнение с аналитической экспонентой.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Воспроизводимое исследование средствами Julia.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1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Цель и задачи исследования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c0c3816a544d7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1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Исследовать экспоненциальный рост и подготовить воспроизводимый Julia-проект.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подготовить среду и закрепить зависимости;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реализовать одиночный и параметрический эксперименты;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сопоставить численное и аналитическое решения;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получить Julia-скрипты, QMD и Jupyter-ноутбуки;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проверить модель автоматическими тестами;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сохранить исходники и результаты в Git.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3EEA6B23-AFB4-4427-A475-AEF5DDA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0A9777-4FA0-429D-8228-411BC96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A3BF7-966F-458F-B59D-CE4CCF9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Скорость изменения пропорциональна величине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C91618-2B9A-40EC-9AA7-257BA9B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a0183c91e4e3b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AE11C7-4C12-40DF-87E8-6272C63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1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A091B3-20E5-4A17-8498-D902EAD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B1E9D04E-FA55-4CFF-8F43-F473404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sir-formulas">
            <a:extLst xmlns:a="http://schemas.openxmlformats.org/drawingml/2006/main">
              <a:ext uri="{FF2B5EF4-FFF2-40B4-BE49-F238E27FC236}">
                <a16:creationId xmlns:a16="http://schemas.microsoft.com/office/drawing/2014/main" id="{E62C42B5-3244-41DB-8CEC-D1C06B6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4333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du/dt = αu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u(0) = u₀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u(t) = u₀ exp(αt)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T₂ = ln(2) / α</a:t>
            </a:r>
          </a:p>
        </p:txBody>
      </p:sp>
      <p:sp>
        <p:nvSpPr>
          <p:cNvPr id="10" name="sir-meaning">
            <a:extLst xmlns:a="http://schemas.openxmlformats.org/drawingml/2006/main">
              <a:ext uri="{FF2B5EF4-FFF2-40B4-BE49-F238E27FC236}">
                <a16:creationId xmlns:a16="http://schemas.microsoft.com/office/drawing/2014/main" id="{41D19FF8-7068-4D04-B519-53E8161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α — постоянная относительная скорость роста.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u₀ — начальное значение.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При α &gt; 0 время удвоения не зависит от u₀.</a:t>
            </a:r>
          </a:p>
        </p:txBody>
      </p:sp>
      <p:sp>
        <p:nvSpPr>
          <p:cNvPr id="11" name="r0-bg">
            <a:extLst xmlns:a="http://schemas.openxmlformats.org/drawingml/2006/main">
              <a:ext uri="{FF2B5EF4-FFF2-40B4-BE49-F238E27FC236}">
                <a16:creationId xmlns:a16="http://schemas.microsoft.com/office/drawing/2014/main" id="{DDA48782-AECC-4910-B9D2-3F29955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r0-value">
            <a:extLst xmlns:a="http://schemas.openxmlformats.org/drawingml/2006/main">
              <a:ext uri="{FF2B5EF4-FFF2-40B4-BE49-F238E27FC236}">
                <a16:creationId xmlns:a16="http://schemas.microsoft.com/office/drawing/2014/main" id="{B18707AA-ED3C-4619-A9B6-DFF017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0,3</a:t>
            </a:r>
          </a:p>
        </p:txBody>
      </p:sp>
      <p:sp>
        <p:nvSpPr>
          <p:cNvPr id="13" name="r0-caption">
            <a:extLst xmlns:a="http://schemas.openxmlformats.org/drawingml/2006/main">
              <a:ext uri="{FF2B5EF4-FFF2-40B4-BE49-F238E27FC236}">
                <a16:creationId xmlns:a16="http://schemas.microsoft.com/office/drawing/2014/main" id="{A58DA480-4E37-4926-931E-A697D70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базовый коэффициент α</a:t>
            </a:r>
          </a:p>
        </p:txBody>
      </p:sp>
      <p:sp>
        <p:nvSpPr>
          <p:cNvPr id="14" name="peak-bg">
            <a:extLst xmlns:a="http://schemas.openxmlformats.org/drawingml/2006/main">
              <a:ext uri="{FF2B5EF4-FFF2-40B4-BE49-F238E27FC236}">
                <a16:creationId xmlns:a16="http://schemas.microsoft.com/office/drawing/2014/main" id="{057DFCE5-9E6A-4EC5-AF80-3D23DC9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peak-value">
            <a:extLst xmlns:a="http://schemas.openxmlformats.org/drawingml/2006/main">
              <a:ext uri="{FF2B5EF4-FFF2-40B4-BE49-F238E27FC236}">
                <a16:creationId xmlns:a16="http://schemas.microsoft.com/office/drawing/2014/main" id="{25877720-9526-4D97-B9EA-1C32D0D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peak-caption">
            <a:extLst xmlns:a="http://schemas.openxmlformats.org/drawingml/2006/main">
              <a:ext uri="{FF2B5EF4-FFF2-40B4-BE49-F238E27FC236}">
                <a16:creationId xmlns:a16="http://schemas.microsoft.com/office/drawing/2014/main" id="{7005C71B-CBA1-467E-AD9C-32FB371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начальное значение u₀</a:t>
            </a:r>
          </a:p>
        </p:txBody>
      </p:sp>
    </p:spTree>
    <p:extLst>
      <p:ext uri="{BB962C8B-B14F-4D97-AF65-F5344CB8AC3E}">
        <p14:creationId xmlns:p14="http://schemas.microsoft.com/office/powerpoint/2010/main" val="1584789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bada4871d459a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Выполнение работы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Два самостоятельных вычислительных сценария.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Литературные исходники и производные форматы.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Единые команды выполнения и проверки.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1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Два эксперимента проходят единый конвейер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72f712a19492d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1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Literate.jl → Julia → Jupyter → Quarto → Git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make tangle — получить Julia, QMD и IPYNB;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make run — выполнить оба эксперимента;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make notebooks — выполнить ячейки блокнотов;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make docs — собрать HTML-документацию;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make test — проверить 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Команды выполняются из каталога project.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Julia и основные пакеты проекта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38577f091495b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1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Julia 1.11.9 · зависимости закреплены в Project.toml и Manifest.toml.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DifferentialEquations 8.1.1 — численное решение ОДУ;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DrWatson 2.19.1 — структура и данные экспериментов;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Literate 2.21.0 и IJulia 1.34.4 — исходники и блокноты;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DataFrames 1.8.2 и CSV 0.10.17 — таблицы результатов;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Plots 1.41.7 — построение графиков;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BenchmarkTools 1.8.0 — измерение времени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2bb70ff8a43da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Результаты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Одиночный опыт: α = 0,3; u₀ = 1; t от 0 до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Пять значений коэффициента роста.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Точность, время удвоения и длительность вычислений.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1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Численное решение близко к аналитическому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501e1469645a1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1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cc6676204481d"/>
          <a:stretch xmlns:a="http://schemas.openxmlformats.org/drawingml/2006/main"/>
        </p:blipFill>
        <p:spPr>
          <a:xfrm xmlns:a="http://schemas.openxmlformats.org/drawingml/2006/main">
            <a:off x="629073" y="1261365"/>
            <a:ext cx="7257203" cy="4354322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20,0854485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численное значение u(10)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4,40 × 10⁻⁶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относительная ошибка при t = 10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2,31049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время удвоения T₂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Tsit5 · 101 точка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с шагом сохранения 0,1.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Увеличение α ускоряет экспоненциальный рост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795ee41184f58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1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e26d804c646e4"/>
          <a:stretch xmlns:a="http://schemas.openxmlformats.org/drawingml/2006/main"/>
        </p:blipFill>
        <p:spPr>
          <a:xfrm xmlns:a="http://schemas.openxmlformats.org/drawingml/2006/main">
            <a:off x="476250" y="1181101"/>
            <a:ext cx="7477125" cy="4486275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α                 u(10)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0,1              2,7183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0,3            20,0854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0,5          148,4086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0,8       2 980,5736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1,0     22 021,0156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Во всех опытах u₀ = 1;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горизонт — 10.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Меняется только α.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AF2585DF-AC5B-4323-9E8D-F5DD6AD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961FBD9-A3D3-4B4D-8148-6A8EA05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B50FA-2F33-49D5-92A3-2006E35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Время удвоения и стоимость вычислений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24C76B-A866-4FC3-BD4F-676A5F4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97cd6b9e64c95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359995-F295-4F48-BFC9-5FDCEDF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1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8B0D7C-16CB-40EC-970C-B3565A5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41d8f9e694d3d"/>
          <a:stretch xmlns:a="http://schemas.openxmlformats.org/drawingml/2006/main"/>
        </p:blipFill>
        <p:spPr>
          <a:xfrm xmlns:a="http://schemas.openxmlformats.org/drawingml/2006/main">
            <a:off x="664964" y="1640086"/>
            <a:ext cx="5089922" cy="3053953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022dc50a849bb"/>
          <a:stretch xmlns:a="http://schemas.openxmlformats.org/drawingml/2006/main"/>
        </p:blipFill>
        <p:spPr>
          <a:xfrm xmlns:a="http://schemas.openxmlformats.org/drawingml/2006/main">
            <a:off x="6437114" y="1640086"/>
            <a:ext cx="5089922" cy="3053953"/>
          </a:xfrm>
          <a:prstGeom xmlns:a="http://schemas.openxmlformats.org/drawingml/2006/main" prst="rect">
            <a:avLst/>
          </a:prstGeom>
        </p:spPr>
      </p:pic>
      <p:sp>
        <p:nvSpPr>
          <p:cNvPr id="10" name="sir-label">
            <a:extLst xmlns:a="http://schemas.openxmlformats.org/drawingml/2006/main">
              <a:ext uri="{FF2B5EF4-FFF2-40B4-BE49-F238E27FC236}">
                <a16:creationId xmlns:a16="http://schemas.microsoft.com/office/drawing/2014/main" id="{2E8BCE43-1A01-4261-B5EA-2E52C71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T₂ = ln(2) / α</a:t>
            </a:r>
          </a:p>
        </p:txBody>
      </p:sp>
      <p:sp>
        <p:nvSpPr>
          <p:cNvPr id="11" name="lv-label">
            <a:extLst xmlns:a="http://schemas.openxmlformats.org/drawingml/2006/main">
              <a:ext uri="{FF2B5EF4-FFF2-40B4-BE49-F238E27FC236}">
                <a16:creationId xmlns:a16="http://schemas.microsoft.com/office/drawing/2014/main" id="{9A8A30A9-3164-4FDB-BCBF-1144A37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410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Около 6–8 мкс на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4138984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F6DA7DFC-D303-45C7-932C-2B94A3A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3BE153-F224-4FFB-A6F8-60B72D8F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A92CE-6E00-4040-9EA3-57F7709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Jupyter сохраняет код и результаты экспериментов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AC0AB2-F232-4224-990D-03B69F9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e31e8b8a041d5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67D68B-5FBC-4A0B-927B-439ED04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1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6334E4-9415-4008-9646-364F276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3ae243c7147ae"/>
          <a:stretch xmlns:a="http://schemas.openxmlformats.org/drawingml/2006/main"/>
        </p:blipFill>
        <p:spPr>
          <a:xfrm xmlns:a="http://schemas.openxmlformats.org/drawingml/2006/main">
            <a:off x="552450" y="1267420"/>
            <a:ext cx="7143749" cy="4018359"/>
          </a:xfrm>
          <a:prstGeom xmlns:a="http://schemas.openxmlformats.org/drawingml/2006/main" prst="rect">
            <a:avLst/>
          </a:prstGeom>
        </p:spPr>
      </p:pic>
      <p:sp>
        <p:nvSpPr>
          <p:cNvPr id="9" name="pipeline">
            <a:extLst xmlns:a="http://schemas.openxmlformats.org/drawingml/2006/main">
              <a:ext uri="{FF2B5EF4-FFF2-40B4-BE49-F238E27FC236}">
                <a16:creationId xmlns:a16="http://schemas.microsoft.com/office/drawing/2014/main" id="{A132DAB6-9E24-4B67-8EEE-3D0F242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Два выполненных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Julia-ноутбука</a:t>
            </a:r>
          </a:p>
        </p:txBody>
      </p:sp>
      <p:sp>
        <p:nvSpPr>
          <p:cNvPr id="10" name="versions">
            <a:extLst xmlns:a="http://schemas.openxmlformats.org/drawingml/2006/main">
              <a:ext uri="{FF2B5EF4-FFF2-40B4-BE49-F238E27FC236}">
                <a16:creationId xmlns:a16="http://schemas.microsoft.com/office/drawing/2014/main" id="{A0225854-4DE9-4CAF-B50B-6816A35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1051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Одиночный опыт:</a:t>
            </a:r>
          </a:p>
          <a:p xmlns:a="http://schemas.openxmlformats.org/drawingml/2006/main">
            <a:pPr algn="l">
              <a:buNone/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4 кодовые ячейки.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Параметрическая серия: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8 кодовых ячеек.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Сохранённые выводы</a:t>
            </a:r>
          </a:p>
          <a:p xmlns:a="http://schemas.openxmlformats.org/drawingml/2006/main">
            <a:pPr algn="l">
              <a:buNone/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без ошибок.</a:t>
            </a:r>
          </a:p>
        </p:txBody>
      </p:sp>
    </p:spTree>
    <p:extLst>
      <p:ext uri="{BB962C8B-B14F-4D97-AF65-F5344CB8AC3E}">
        <p14:creationId xmlns:p14="http://schemas.microsoft.com/office/powerpoint/2010/main" val="12214848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Проверка модели и управление версиями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a66f3e1e04275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1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Тесты отделены от вычислительных сценариев: project/test/runtests.jl.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точность численного решения относительно экспоненты;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соответствие времени удвоения формуле ln(2) / α;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отклонение недопустимого параметра α = 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отдельные исходники, данные и документация;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история изменений и теги в Git;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удалённые репозитории GitHub и GitVerse.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536696f034dec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Заключение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Численный результат сопоставлен с точным решением.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Исследовано влияние коэффициента роста.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Подготовлены код, данные, блокноты и документы.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1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70041ce4647de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Выводы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Относительная ошибка базового опыта — 4,40 × 10⁻⁶.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При увеличении α время удвоения сокращается.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Параметрическая серия включает пять значений 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Два блокнота содержат сохранённые результаты.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Команды Makefile объединяют этапы исследования.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1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2026-08-31T14:15:18.4610000Z</dcterms:created>
  <dcterms:modified xsi:type="dcterms:W3CDTF">2026-08-31T14:15:18.4610000Z</dcterms:modified>
</coreProperties>
</file>