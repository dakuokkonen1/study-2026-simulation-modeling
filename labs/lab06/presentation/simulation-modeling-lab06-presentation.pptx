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9f5da805994cb4" /><Relationship Type="http://schemas.openxmlformats.org/officeDocument/2006/relationships/extended-properties" Target="/docProps/app.xml" Id="R609969c7d79c4ef7" /><Relationship Type="http://schemas.openxmlformats.org/officeDocument/2006/relationships/officeDocument" Target="/ppt/presentation.xml" Id="R6883528f876744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f5fa09a7a74d45"/>
  </p:sldMasterIdLst>
  <p:notesMasterIdLst>
    <p:notesMasterId xmlns:r="http://schemas.openxmlformats.org/officeDocument/2006/relationships" r:id="R1bab8260a37e4225"/>
  </p:notesMasterIdLst>
  <p:sldIdLst>
    <p:sldId xmlns:r="http://schemas.openxmlformats.org/officeDocument/2006/relationships" id="256" r:id="Rf3c050d1ac2a454b"/>
    <p:sldId xmlns:r="http://schemas.openxmlformats.org/officeDocument/2006/relationships" id="257" r:id="Rb51559de29564782"/>
    <p:sldId xmlns:r="http://schemas.openxmlformats.org/officeDocument/2006/relationships" id="258" r:id="R90aaf76c3a5c4e1d"/>
    <p:sldId xmlns:r="http://schemas.openxmlformats.org/officeDocument/2006/relationships" id="259" r:id="R40a41cf9c1244dc0"/>
    <p:sldId xmlns:r="http://schemas.openxmlformats.org/officeDocument/2006/relationships" id="260" r:id="R7c7f2b3de6fe4c35"/>
    <p:sldId xmlns:r="http://schemas.openxmlformats.org/officeDocument/2006/relationships" id="261" r:id="Re3645f0d14b349d5"/>
    <p:sldId xmlns:r="http://schemas.openxmlformats.org/officeDocument/2006/relationships" id="262" r:id="R8b1fcb902ab44335"/>
    <p:sldId xmlns:r="http://schemas.openxmlformats.org/officeDocument/2006/relationships" id="263" r:id="Rc7762e2e68514f6a"/>
    <p:sldId xmlns:r="http://schemas.openxmlformats.org/officeDocument/2006/relationships" id="264" r:id="R591043ac794d4b0f"/>
    <p:sldId xmlns:r="http://schemas.openxmlformats.org/officeDocument/2006/relationships" id="265" r:id="R331dacd6ec9148cb"/>
    <p:sldId xmlns:r="http://schemas.openxmlformats.org/officeDocument/2006/relationships" id="266" r:id="R4bb86f7145df4ded"/>
    <p:sldId xmlns:r="http://schemas.openxmlformats.org/officeDocument/2006/relationships" id="267" r:id="Rd7983dec5ff54417"/>
    <p:sldId xmlns:r="http://schemas.openxmlformats.org/officeDocument/2006/relationships" id="268" r:id="R524c0f0d372047c9"/>
    <p:sldId xmlns:r="http://schemas.openxmlformats.org/officeDocument/2006/relationships" id="269" r:id="R835796c7640e4f60"/>
    <p:sldId xmlns:r="http://schemas.openxmlformats.org/officeDocument/2006/relationships" id="270" r:id="Rd030834ed2db497b"/>
    <p:sldId xmlns:r="http://schemas.openxmlformats.org/officeDocument/2006/relationships" id="271" r:id="R2485e492acbd47fc"/>
    <p:sldId xmlns:r="http://schemas.openxmlformats.org/officeDocument/2006/relationships" id="272" r:id="R0cb4185018ef40b6"/>
    <p:sldId xmlns:r="http://schemas.openxmlformats.org/officeDocument/2006/relationships" id="273" r:id="R1edf11dda96c49be"/>
    <p:sldId xmlns:r="http://schemas.openxmlformats.org/officeDocument/2006/relationships" id="274" r:id="R58338fb6f0664c10"/>
    <p:sldId xmlns:r="http://schemas.openxmlformats.org/officeDocument/2006/relationships" id="275" r:id="Re6dc8a71c3a040d0"/>
    <p:sldId xmlns:r="http://schemas.openxmlformats.org/officeDocument/2006/relationships" id="276" r:id="R15e14aa3cdc348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cf8c28840143ff" /><Relationship Type="http://schemas.openxmlformats.org/officeDocument/2006/relationships/slideMaster" Target="/ppt/slideMasters/slideMaster1.xml" Id="Rc8f5fa09a7a74d45" /><Relationship Type="http://schemas.openxmlformats.org/officeDocument/2006/relationships/notesMaster" Target="/ppt/notesMasters/notesMaster1.xml" Id="R1bab8260a37e4225" /><Relationship Type="http://schemas.openxmlformats.org/officeDocument/2006/relationships/presProps" Target="/ppt/presProps.xml" Id="R86be56d6849a41b4" /><Relationship Type="http://schemas.openxmlformats.org/officeDocument/2006/relationships/tableStyles" Target="/ppt/tableStyles.xml" Id="Rdfeca3a61e6f4723" /><Relationship Type="http://schemas.openxmlformats.org/officeDocument/2006/relationships/slide" Target="/ppt/slides/slide1.xml" Id="Rf3c050d1ac2a454b" /><Relationship Type="http://schemas.openxmlformats.org/officeDocument/2006/relationships/slide" Target="/ppt/slides/slide2.xml" Id="Rb51559de29564782" /><Relationship Type="http://schemas.openxmlformats.org/officeDocument/2006/relationships/slide" Target="/ppt/slides/slide3.xml" Id="R90aaf76c3a5c4e1d" /><Relationship Type="http://schemas.openxmlformats.org/officeDocument/2006/relationships/slide" Target="/ppt/slides/slide4.xml" Id="R40a41cf9c1244dc0" /><Relationship Type="http://schemas.openxmlformats.org/officeDocument/2006/relationships/slide" Target="/ppt/slides/slide5.xml" Id="R7c7f2b3de6fe4c35" /><Relationship Type="http://schemas.openxmlformats.org/officeDocument/2006/relationships/slide" Target="/ppt/slides/slide6.xml" Id="Re3645f0d14b349d5" /><Relationship Type="http://schemas.openxmlformats.org/officeDocument/2006/relationships/slide" Target="/ppt/slides/slide7.xml" Id="R8b1fcb902ab44335" /><Relationship Type="http://schemas.openxmlformats.org/officeDocument/2006/relationships/slide" Target="/ppt/slides/slide8.xml" Id="Rc7762e2e68514f6a" /><Relationship Type="http://schemas.openxmlformats.org/officeDocument/2006/relationships/slide" Target="/ppt/slides/slide9.xml" Id="R591043ac794d4b0f" /><Relationship Type="http://schemas.openxmlformats.org/officeDocument/2006/relationships/slide" Target="/ppt/slides/slide10.xml" Id="R331dacd6ec9148cb" /><Relationship Type="http://schemas.openxmlformats.org/officeDocument/2006/relationships/slide" Target="/ppt/slides/slide11.xml" Id="R4bb86f7145df4ded" /><Relationship Type="http://schemas.openxmlformats.org/officeDocument/2006/relationships/slide" Target="/ppt/slides/slide12.xml" Id="Rd7983dec5ff54417" /><Relationship Type="http://schemas.openxmlformats.org/officeDocument/2006/relationships/slide" Target="/ppt/slides/slide13.xml" Id="R524c0f0d372047c9" /><Relationship Type="http://schemas.openxmlformats.org/officeDocument/2006/relationships/slide" Target="/ppt/slides/slide14.xml" Id="R835796c7640e4f60" /><Relationship Type="http://schemas.openxmlformats.org/officeDocument/2006/relationships/slide" Target="/ppt/slides/slide15.xml" Id="Rd030834ed2db497b" /><Relationship Type="http://schemas.openxmlformats.org/officeDocument/2006/relationships/slide" Target="/ppt/slides/slide16.xml" Id="R2485e492acbd47fc" /><Relationship Type="http://schemas.openxmlformats.org/officeDocument/2006/relationships/slide" Target="/ppt/slides/slide17.xml" Id="R0cb4185018ef40b6" /><Relationship Type="http://schemas.openxmlformats.org/officeDocument/2006/relationships/slide" Target="/ppt/slides/slide18.xml" Id="R1edf11dda96c49be" /><Relationship Type="http://schemas.openxmlformats.org/officeDocument/2006/relationships/slide" Target="/ppt/slides/slide19.xml" Id="R58338fb6f0664c10" /><Relationship Type="http://schemas.openxmlformats.org/officeDocument/2006/relationships/slide" Target="/ppt/slides/slide20.xml" Id="Re6dc8a71c3a040d0" /><Relationship Type="http://schemas.openxmlformats.org/officeDocument/2006/relationships/slide" Target="/ppt/slides/slide21.xml" Id="R15e14aa3cdc348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fbb661c79e4a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adc0d9b3e445c9" /><Relationship Type="http://schemas.openxmlformats.org/officeDocument/2006/relationships/notesMaster" Target="/ppt/notesMasters/notesMaster1.xml" Id="R3c7c60aedf8d46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7bc4503eb840f9" /><Relationship Type="http://schemas.openxmlformats.org/officeDocument/2006/relationships/notesMaster" Target="/ppt/notesMasters/notesMaster1.xml" Id="R0ce7817ccb004f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bcc2a8d6d247db" /><Relationship Type="http://schemas.openxmlformats.org/officeDocument/2006/relationships/notesMaster" Target="/ppt/notesMasters/notesMaster1.xml" Id="R9c1534609a5a40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22fcdc7d0e4a71" /><Relationship Type="http://schemas.openxmlformats.org/officeDocument/2006/relationships/notesMaster" Target="/ppt/notesMasters/notesMaster1.xml" Id="R14c2a3a92a044d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0f69414a1f4b66" /><Relationship Type="http://schemas.openxmlformats.org/officeDocument/2006/relationships/notesMaster" Target="/ppt/notesMasters/notesMaster1.xml" Id="R5f33b3be5e424b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653c4ff4054f63" /><Relationship Type="http://schemas.openxmlformats.org/officeDocument/2006/relationships/notesMaster" Target="/ppt/notesMasters/notesMaster1.xml" Id="Rd8f82e396aaa44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07e66b428e49d8" /><Relationship Type="http://schemas.openxmlformats.org/officeDocument/2006/relationships/notesMaster" Target="/ppt/notesMasters/notesMaster1.xml" Id="Rbe5c948ed0da49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16fff6a94b45fb" /><Relationship Type="http://schemas.openxmlformats.org/officeDocument/2006/relationships/notesMaster" Target="/ppt/notesMasters/notesMaster1.xml" Id="R9f6fbcbbc46a4d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a260a703f54d0f" /><Relationship Type="http://schemas.openxmlformats.org/officeDocument/2006/relationships/notesMaster" Target="/ppt/notesMasters/notesMaster1.xml" Id="Rfd48c4a0b8e741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ed809462cb43cb" /><Relationship Type="http://schemas.openxmlformats.org/officeDocument/2006/relationships/notesMaster" Target="/ppt/notesMasters/notesMaster1.xml" Id="R152a6464f05a49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61800339294f7c" /><Relationship Type="http://schemas.openxmlformats.org/officeDocument/2006/relationships/notesMaster" Target="/ppt/notesMasters/notesMaster1.xml" Id="Rc6d947eec5bc4a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17194daf3643d4" /><Relationship Type="http://schemas.openxmlformats.org/officeDocument/2006/relationships/notesMaster" Target="/ppt/notesMasters/notesMaster1.xml" Id="R79434db5ee0844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a94528fef94d42" /><Relationship Type="http://schemas.openxmlformats.org/officeDocument/2006/relationships/notesMaster" Target="/ppt/notesMasters/notesMaster1.xml" Id="Rba7347231ae044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755bfd468f34035" /><Relationship Type="http://schemas.openxmlformats.org/officeDocument/2006/relationships/notesMaster" Target="/ppt/notesMasters/notesMaster1.xml" Id="Rf70416c28d0344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3e7a45a77644e50" /><Relationship Type="http://schemas.openxmlformats.org/officeDocument/2006/relationships/notesMaster" Target="/ppt/notesMasters/notesMaster1.xml" Id="R2c7d3140f5a94db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3263274b634448b" /><Relationship Type="http://schemas.openxmlformats.org/officeDocument/2006/relationships/notesMaster" Target="/ppt/notesMasters/notesMaster1.xml" Id="R88934e915e9f49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f7760269e974935" /><Relationship Type="http://schemas.openxmlformats.org/officeDocument/2006/relationships/notesMaster" Target="/ppt/notesMasters/notesMaster1.xml" Id="R8e4a8ef1321b424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402400fa4234d4a" /><Relationship Type="http://schemas.openxmlformats.org/officeDocument/2006/relationships/notesMaster" Target="/ppt/notesMasters/notesMaster1.xml" Id="R380ccc3a4bad48d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b775c99089644b4" /><Relationship Type="http://schemas.openxmlformats.org/officeDocument/2006/relationships/notesMaster" Target="/ppt/notesMasters/notesMaster1.xml" Id="Rdd16fcfe8c9947f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2272e15de154abb" /><Relationship Type="http://schemas.openxmlformats.org/officeDocument/2006/relationships/notesMaster" Target="/ppt/notesMasters/notesMaster1.xml" Id="Re674acba9e0244d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8ca02c5d7c84b48" /><Relationship Type="http://schemas.openxmlformats.org/officeDocument/2006/relationships/notesMaster" Target="/ppt/notesMasters/notesMaster1.xml" Id="R8151d390383745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 практикума А. В. Корольковой и Д. С. Кулябова, стр. 191–207. Закон βSI без деления на N. Базовые условия: 990/10/0, β=.3, γ=.1, T=100. Пик на сетке .5 не равен непрерывному максимуму. Все числа взяты из выполненных опытов.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labs/lab06/report/simulation-modeling-lab06-report.qmd</a:t>
            </a:r>
          </a:p>
          <a:p xmlns:a="http://schemas.openxmlformats.org/drawingml/2006/main">
            <a:r>
              <a:t>- labs/lab06/project/src/SIRPetri.jl</a:t>
            </a:r>
          </a:p>
          <a:p xmlns:a="http://schemas.openxmlformats.org/drawingml/2006/main">
            <a:r>
              <a:t>- labs/lab06/project/scripts</a:t>
            </a:r>
          </a:p>
          <a:p xmlns:a="http://schemas.openxmlformats.org/drawingml/2006/main">
            <a:r>
              <a:t>- labs/lab06/project/data</a:t>
            </a:r>
          </a:p>
          <a:p xmlns:a="http://schemas.openxmlformats.org/drawingml/2006/main">
            <a:r>
              <a:t>- labs/lab06/project/notebooks</a:t>
            </a:r>
          </a:p>
          <a:p xmlns:a="http://schemas.openxmlformats.org/drawingml/2006/main">
            <a:r>
              <a:t>- labs/lab06/project/test/runtests.jl</a:t>
            </a:r>
          </a:p>
          <a:p xmlns:a="http://schemas.openxmlformats.org/drawingml/2006/main">
            <a:r>
              <a:t>- labs/lab06/image/logo-rudn.png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 практикума А. В. Корольковой и Д. С. Кулябова, стр. 191–207. Закон βSI без деления на N. Базовые условия: 990/10/0, β=.3, γ=.1, T=100. Пик на сетке .5 не равен непрерывному максимуму. Все числа взяты из выполненных опытов.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labs/lab06/report/simulation-modeling-lab06-report.qmd</a:t>
            </a:r>
          </a:p>
          <a:p xmlns:a="http://schemas.openxmlformats.org/drawingml/2006/main">
            <a:r>
              <a:t>- labs/lab06/project/src/SIRPetri.jl</a:t>
            </a:r>
          </a:p>
          <a:p xmlns:a="http://schemas.openxmlformats.org/drawingml/2006/main">
            <a:r>
              <a:t>- labs/lab06/project/scripts</a:t>
            </a:r>
          </a:p>
          <a:p xmlns:a="http://schemas.openxmlformats.org/drawingml/2006/main">
            <a:r>
              <a:t>- labs/lab06/project/data</a:t>
            </a:r>
          </a:p>
          <a:p xmlns:a="http://schemas.openxmlformats.org/drawingml/2006/main">
            <a:r>
              <a:t>- labs/lab06/project/notebooks</a:t>
            </a:r>
          </a:p>
          <a:p xmlns:a="http://schemas.openxmlformats.org/drawingml/2006/main">
            <a:r>
              <a:t>- labs/lab06/project/test/runtests.jl</a:t>
            </a:r>
          </a:p>
          <a:p xmlns:a="http://schemas.openxmlformats.org/drawingml/2006/main">
            <a:r>
              <a:t>- labs/lab06/image/logo-rudn.png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 практикума А. В. Корольковой и Д. С. Кулябова, стр. 191–207. Закон βSI без деления на N. Базовые условия: 990/10/0, β=.3, γ=.1, T=100. Пик на сетке .5 не равен непрерывному максимуму. Все числа взяты из выполненных опытов.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labs/lab06/report/simulation-modeling-lab06-report.qmd</a:t>
            </a:r>
          </a:p>
          <a:p xmlns:a="http://schemas.openxmlformats.org/drawingml/2006/main">
            <a:r>
              <a:t>- labs/lab06/project/src/SIRPetri.jl</a:t>
            </a:r>
          </a:p>
          <a:p xmlns:a="http://schemas.openxmlformats.org/drawingml/2006/main">
            <a:r>
              <a:t>- labs/lab06/project/scripts</a:t>
            </a:r>
          </a:p>
          <a:p xmlns:a="http://schemas.openxmlformats.org/drawingml/2006/main">
            <a:r>
              <a:t>- labs/lab06/project/data</a:t>
            </a:r>
          </a:p>
          <a:p xmlns:a="http://schemas.openxmlformats.org/drawingml/2006/main">
            <a:r>
              <a:t>- labs/lab06/project/notebooks</a:t>
            </a:r>
          </a:p>
          <a:p xmlns:a="http://schemas.openxmlformats.org/drawingml/2006/main">
            <a:r>
              <a:t>- labs/lab06/project/test/runtests.jl</a:t>
            </a:r>
          </a:p>
          <a:p xmlns:a="http://schemas.openxmlformats.org/drawingml/2006/main">
            <a:r>
              <a:t>- labs/lab06/image/logo-rudn.png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 практикума А. В. Корольковой и Д. С. Кулябова, стр. 191–207. Закон βSI без деления на N. Базовые условия: 990/10/0, β=.3, γ=.1, T=100. Пик на сетке .5 не равен непрерывному максимуму. Все числа взяты из выполненных опытов.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labs/lab06/report/simulation-modeling-lab06-report.qmd</a:t>
            </a:r>
          </a:p>
          <a:p xmlns:a="http://schemas.openxmlformats.org/drawingml/2006/main">
            <a:r>
              <a:t>- labs/lab06/project/src/SIRPetri.jl</a:t>
            </a:r>
          </a:p>
          <a:p xmlns:a="http://schemas.openxmlformats.org/drawingml/2006/main">
            <a:r>
              <a:t>- labs/lab06/project/scripts</a:t>
            </a:r>
          </a:p>
          <a:p xmlns:a="http://schemas.openxmlformats.org/drawingml/2006/main">
            <a:r>
              <a:t>- labs/lab06/project/data</a:t>
            </a:r>
          </a:p>
          <a:p xmlns:a="http://schemas.openxmlformats.org/drawingml/2006/main">
            <a:r>
              <a:t>- labs/lab06/project/notebooks</a:t>
            </a:r>
          </a:p>
          <a:p xmlns:a="http://schemas.openxmlformats.org/drawingml/2006/main">
            <a:r>
              <a:t>- labs/lab06/project/test/runtests.jl</a:t>
            </a:r>
          </a:p>
          <a:p xmlns:a="http://schemas.openxmlformats.org/drawingml/2006/main">
            <a:r>
              <a:t>- labs/lab06/image/logo-rudn.png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 практикума А. В. Корольковой и Д. С. Кулябова, стр. 191–207. Закон βSI без деления на N. Базовые условия: 990/10/0, β=.3, γ=.1, T=100. Пик на сетке .5 не равен непрерывному максимуму. Все числа взяты из выполненных опытов.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labs/lab06/report/simulation-modeling-lab06-report.qmd</a:t>
            </a:r>
          </a:p>
          <a:p xmlns:a="http://schemas.openxmlformats.org/drawingml/2006/main">
            <a:r>
              <a:t>- labs/lab06/project/src/SIRPetri.jl</a:t>
            </a:r>
          </a:p>
          <a:p xmlns:a="http://schemas.openxmlformats.org/drawingml/2006/main">
            <a:r>
              <a:t>- labs/lab06/project/scripts</a:t>
            </a:r>
          </a:p>
          <a:p xmlns:a="http://schemas.openxmlformats.org/drawingml/2006/main">
            <a:r>
              <a:t>- labs/lab06/project/data</a:t>
            </a:r>
          </a:p>
          <a:p xmlns:a="http://schemas.openxmlformats.org/drawingml/2006/main">
            <a:r>
              <a:t>- labs/lab06/project/notebooks</a:t>
            </a:r>
          </a:p>
          <a:p xmlns:a="http://schemas.openxmlformats.org/drawingml/2006/main">
            <a:r>
              <a:t>- labs/lab06/project/test/runtests.jl</a:t>
            </a:r>
          </a:p>
          <a:p xmlns:a="http://schemas.openxmlformats.org/drawingml/2006/main">
            <a:r>
              <a:t>- labs/lab06/image/logo-rudn.png</a:t>
            </a:r>
          </a:p>
          <a:p xmlns:a="http://schemas.openxmlformats.org/drawingml/2006/main">
            <a:r>
              <a:t>- labs/lab06/image/01-plot.png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 практикума А. В. Корольковой и Д. С. Кулябова, стр. 191–207. Закон βSI без деления на N. Базовые условия: 990/10/0, β=.3, γ=.1, T=100. Пик на сетке .5 не равен непрерывному максимуму. Все числа взяты из выполненных опытов.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labs/lab06/report/simulation-modeling-lab06-report.qmd</a:t>
            </a:r>
          </a:p>
          <a:p xmlns:a="http://schemas.openxmlformats.org/drawingml/2006/main">
            <a:r>
              <a:t>- labs/lab06/project/src/SIRPetri.jl</a:t>
            </a:r>
          </a:p>
          <a:p xmlns:a="http://schemas.openxmlformats.org/drawingml/2006/main">
            <a:r>
              <a:t>- labs/lab06/project/scripts</a:t>
            </a:r>
          </a:p>
          <a:p xmlns:a="http://schemas.openxmlformats.org/drawingml/2006/main">
            <a:r>
              <a:t>- labs/lab06/project/data</a:t>
            </a:r>
          </a:p>
          <a:p xmlns:a="http://schemas.openxmlformats.org/drawingml/2006/main">
            <a:r>
              <a:t>- labs/lab06/project/notebooks</a:t>
            </a:r>
          </a:p>
          <a:p xmlns:a="http://schemas.openxmlformats.org/drawingml/2006/main">
            <a:r>
              <a:t>- labs/lab06/project/test/runtests.jl</a:t>
            </a:r>
          </a:p>
          <a:p xmlns:a="http://schemas.openxmlformats.org/drawingml/2006/main">
            <a:r>
              <a:t>- labs/lab06/image/logo-rudn.png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 практикума А. В. Корольковой и Д. С. Кулябова, стр. 191–207. Закон βSI без деления на N. Базовые условия: 990/10/0, β=.3, γ=.1, T=100. Пик на сетке .5 не равен непрерывному максимуму. Все числа взяты из выполненных опытов.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labs/lab06/report/simulation-modeling-lab06-report.qmd</a:t>
            </a:r>
          </a:p>
          <a:p xmlns:a="http://schemas.openxmlformats.org/drawingml/2006/main">
            <a:r>
              <a:t>- labs/lab06/project/src/SIRPetri.jl</a:t>
            </a:r>
          </a:p>
          <a:p xmlns:a="http://schemas.openxmlformats.org/drawingml/2006/main">
            <a:r>
              <a:t>- labs/lab06/project/scripts</a:t>
            </a:r>
          </a:p>
          <a:p xmlns:a="http://schemas.openxmlformats.org/drawingml/2006/main">
            <a:r>
              <a:t>- labs/lab06/project/data</a:t>
            </a:r>
          </a:p>
          <a:p xmlns:a="http://schemas.openxmlformats.org/drawingml/2006/main">
            <a:r>
              <a:t>- labs/lab06/project/notebooks</a:t>
            </a:r>
          </a:p>
          <a:p xmlns:a="http://schemas.openxmlformats.org/drawingml/2006/main">
            <a:r>
              <a:t>- labs/lab06/project/test/runtests.jl</a:t>
            </a:r>
          </a:p>
          <a:p xmlns:a="http://schemas.openxmlformats.org/drawingml/2006/main">
            <a:r>
              <a:t>- labs/lab06/image/logo-rudn.png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 практикума А. В. Корольковой и Д. С. Кулябова, стр. 191–207. Закон βSI без деления на N. Базовые условия: 990/10/0, β=.3, γ=.1, T=100. Пик на сетке .5 не равен непрерывному максимуму. Все числа взяты из выполненных опытов.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labs/lab06/report/simulation-modeling-lab06-report.qmd</a:t>
            </a:r>
          </a:p>
          <a:p xmlns:a="http://schemas.openxmlformats.org/drawingml/2006/main">
            <a:r>
              <a:t>- labs/lab06/project/src/SIRPetri.jl</a:t>
            </a:r>
          </a:p>
          <a:p xmlns:a="http://schemas.openxmlformats.org/drawingml/2006/main">
            <a:r>
              <a:t>- labs/lab06/project/scripts</a:t>
            </a:r>
          </a:p>
          <a:p xmlns:a="http://schemas.openxmlformats.org/drawingml/2006/main">
            <a:r>
              <a:t>- labs/lab06/project/data</a:t>
            </a:r>
          </a:p>
          <a:p xmlns:a="http://schemas.openxmlformats.org/drawingml/2006/main">
            <a:r>
              <a:t>- labs/lab06/project/notebooks</a:t>
            </a:r>
          </a:p>
          <a:p xmlns:a="http://schemas.openxmlformats.org/drawingml/2006/main">
            <a:r>
              <a:t>- labs/lab06/project/test/runtests.jl</a:t>
            </a:r>
          </a:p>
          <a:p xmlns:a="http://schemas.openxmlformats.org/drawingml/2006/main">
            <a:r>
              <a:t>- labs/lab06/image/logo-rudn.png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 практикума А. В. Корольковой и Д. С. Кулябова, стр. 191–207. Закон βSI без деления на N. Базовые условия: 990/10/0, β=.3, γ=.1, T=100. Пик на сетке .5 не равен непрерывному максимуму. Все числа взяты из выполненных опытов.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labs/lab06/report/simulation-modeling-lab06-report.qmd</a:t>
            </a:r>
          </a:p>
          <a:p xmlns:a="http://schemas.openxmlformats.org/drawingml/2006/main">
            <a:r>
              <a:t>- labs/lab06/project/src/SIRPetri.jl</a:t>
            </a:r>
          </a:p>
          <a:p xmlns:a="http://schemas.openxmlformats.org/drawingml/2006/main">
            <a:r>
              <a:t>- labs/lab06/project/scripts</a:t>
            </a:r>
          </a:p>
          <a:p xmlns:a="http://schemas.openxmlformats.org/drawingml/2006/main">
            <a:r>
              <a:t>- labs/lab06/project/data</a:t>
            </a:r>
          </a:p>
          <a:p xmlns:a="http://schemas.openxmlformats.org/drawingml/2006/main">
            <a:r>
              <a:t>- labs/lab06/project/notebooks</a:t>
            </a:r>
          </a:p>
          <a:p xmlns:a="http://schemas.openxmlformats.org/drawingml/2006/main">
            <a:r>
              <a:t>- labs/lab06/project/test/runtests.jl</a:t>
            </a:r>
          </a:p>
          <a:p xmlns:a="http://schemas.openxmlformats.org/drawingml/2006/main">
            <a:r>
              <a:t>- labs/lab06/image/logo-rudn.png</a:t>
            </a:r>
          </a:p>
          <a:p xmlns:a="http://schemas.openxmlformats.org/drawingml/2006/main">
            <a:r>
              <a:t>- labs/lab06/image/02-plot.png</a:t>
            </a:r>
          </a:p>
          <a:p xmlns:a="http://schemas.openxmlformats.org/drawingml/2006/main">
            <a:r>
              <a:t>- labs/lab06/image/03-plot.png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 практикума А. В. Корольковой и Д. С. Кулябова, стр. 191–207. Закон βSI без деления на N. Базовые условия: 990/10/0, β=.3, γ=.1, T=100. Пик на сетке .5 не равен непрерывному максимуму. Все числа взяты из выполненных опытов.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labs/lab06/report/simulation-modeling-lab06-report.qmd</a:t>
            </a:r>
          </a:p>
          <a:p xmlns:a="http://schemas.openxmlformats.org/drawingml/2006/main">
            <a:r>
              <a:t>- labs/lab06/project/src/SIRPetri.jl</a:t>
            </a:r>
          </a:p>
          <a:p xmlns:a="http://schemas.openxmlformats.org/drawingml/2006/main">
            <a:r>
              <a:t>- labs/lab06/project/scripts</a:t>
            </a:r>
          </a:p>
          <a:p xmlns:a="http://schemas.openxmlformats.org/drawingml/2006/main">
            <a:r>
              <a:t>- labs/lab06/project/data</a:t>
            </a:r>
          </a:p>
          <a:p xmlns:a="http://schemas.openxmlformats.org/drawingml/2006/main">
            <a:r>
              <a:t>- labs/lab06/project/notebooks</a:t>
            </a:r>
          </a:p>
          <a:p xmlns:a="http://schemas.openxmlformats.org/drawingml/2006/main">
            <a:r>
              <a:t>- labs/lab06/project/test/runtests.jl</a:t>
            </a:r>
          </a:p>
          <a:p xmlns:a="http://schemas.openxmlformats.org/drawingml/2006/main">
            <a:r>
              <a:t>- labs/lab06/image/logo-rudn.png</a:t>
            </a:r>
          </a:p>
          <a:p xmlns:a="http://schemas.openxmlformats.org/drawingml/2006/main">
            <a:r>
              <a:t>- labs/lab06/image/04-plot.png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 практикума А. В. Корольковой и Д. С. Кулябова, стр. 191–207. Закон βSI без деления на N. Базовые условия: 990/10/0, β=.3, γ=.1, T=100. Пик на сетке .5 не равен непрерывному максимуму. Все числа взяты из выполненных опытов.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labs/lab06/report/simulation-modeling-lab06-report.qmd</a:t>
            </a:r>
          </a:p>
          <a:p xmlns:a="http://schemas.openxmlformats.org/drawingml/2006/main">
            <a:r>
              <a:t>- labs/lab06/project/src/SIRPetri.jl</a:t>
            </a:r>
          </a:p>
          <a:p xmlns:a="http://schemas.openxmlformats.org/drawingml/2006/main">
            <a:r>
              <a:t>- labs/lab06/project/scripts</a:t>
            </a:r>
          </a:p>
          <a:p xmlns:a="http://schemas.openxmlformats.org/drawingml/2006/main">
            <a:r>
              <a:t>- labs/lab06/project/data</a:t>
            </a:r>
          </a:p>
          <a:p xmlns:a="http://schemas.openxmlformats.org/drawingml/2006/main">
            <a:r>
              <a:t>- labs/lab06/project/notebooks</a:t>
            </a:r>
          </a:p>
          <a:p xmlns:a="http://schemas.openxmlformats.org/drawingml/2006/main">
            <a:r>
              <a:t>- labs/lab06/project/test/runtests.jl</a:t>
            </a:r>
          </a:p>
          <a:p xmlns:a="http://schemas.openxmlformats.org/drawingml/2006/main">
            <a:r>
              <a:t>- labs/lab06/image/logo-rudn.png</a:t>
            </a:r>
          </a:p>
          <a:p xmlns:a="http://schemas.openxmlformats.org/drawingml/2006/main">
            <a:r>
              <a:t>- labs/lab06/image/05-plot.png</a:t>
            </a:r>
          </a:p>
          <a:p xmlns:a="http://schemas.openxmlformats.org/drawingml/2006/main">
            <a:r>
              <a:t>- labs/lab06/image/06-plot.png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 практикума А. В. Корольковой и Д. С. Кулябова, стр. 191–207. Закон βSI без деления на N. Базовые условия: 990/10/0, β=.3, γ=.1, T=100. Пик на сетке .5 не равен непрерывному максимуму. Все числа взяты из выполненных опытов.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labs/lab06/report/simulation-modeling-lab06-report.qmd</a:t>
            </a:r>
          </a:p>
          <a:p xmlns:a="http://schemas.openxmlformats.org/drawingml/2006/main">
            <a:r>
              <a:t>- labs/lab06/project/src/SIRPetri.jl</a:t>
            </a:r>
          </a:p>
          <a:p xmlns:a="http://schemas.openxmlformats.org/drawingml/2006/main">
            <a:r>
              <a:t>- labs/lab06/project/scripts</a:t>
            </a:r>
          </a:p>
          <a:p xmlns:a="http://schemas.openxmlformats.org/drawingml/2006/main">
            <a:r>
              <a:t>- labs/lab06/project/data</a:t>
            </a:r>
          </a:p>
          <a:p xmlns:a="http://schemas.openxmlformats.org/drawingml/2006/main">
            <a:r>
              <a:t>- labs/lab06/project/notebooks</a:t>
            </a:r>
          </a:p>
          <a:p xmlns:a="http://schemas.openxmlformats.org/drawingml/2006/main">
            <a:r>
              <a:t>- labs/lab06/project/test/runtests.jl</a:t>
            </a:r>
          </a:p>
          <a:p xmlns:a="http://schemas.openxmlformats.org/drawingml/2006/main">
            <a:r>
              <a:t>- labs/lab06/image/logo-rudn.png</a:t>
            </a:r>
          </a:p>
          <a:p xmlns:a="http://schemas.openxmlformats.org/drawingml/2006/main">
            <a:r>
              <a:t>- labs/lab06/image/07-plot.png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 практикума А. В. Корольковой и Д. С. Кулябова, стр. 191–207. Закон βSI без деления на N. Базовые условия: 990/10/0, β=.3, γ=.1, T=100. Пик на сетке .5 не равен непрерывному максимуму. Все числа взяты из выполненных опытов.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labs/lab06/report/simulation-modeling-lab06-report.qmd</a:t>
            </a:r>
          </a:p>
          <a:p xmlns:a="http://schemas.openxmlformats.org/drawingml/2006/main">
            <a:r>
              <a:t>- labs/lab06/project/src/SIRPetri.jl</a:t>
            </a:r>
          </a:p>
          <a:p xmlns:a="http://schemas.openxmlformats.org/drawingml/2006/main">
            <a:r>
              <a:t>- labs/lab06/project/scripts</a:t>
            </a:r>
          </a:p>
          <a:p xmlns:a="http://schemas.openxmlformats.org/drawingml/2006/main">
            <a:r>
              <a:t>- labs/lab06/project/data</a:t>
            </a:r>
          </a:p>
          <a:p xmlns:a="http://schemas.openxmlformats.org/drawingml/2006/main">
            <a:r>
              <a:t>- labs/lab06/project/notebooks</a:t>
            </a:r>
          </a:p>
          <a:p xmlns:a="http://schemas.openxmlformats.org/drawingml/2006/main">
            <a:r>
              <a:t>- labs/lab06/project/test/runtests.jl</a:t>
            </a:r>
          </a:p>
          <a:p xmlns:a="http://schemas.openxmlformats.org/drawingml/2006/main">
            <a:r>
              <a:t>- labs/lab06/image/logo-rudn.png</a:t>
            </a:r>
          </a:p>
          <a:p xmlns:a="http://schemas.openxmlformats.org/drawingml/2006/main">
            <a:r>
              <a:t>- labs/lab06/image/08-plot.png</a:t>
            </a:r>
          </a:p>
          <a:p xmlns:a="http://schemas.openxmlformats.org/drawingml/2006/main">
            <a:r>
              <a:t>- labs/lab06/image/09-plot.png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 практикума А. В. Корольковой и Д. С. Кулябова, стр. 191–207. Закон βSI без деления на N. Базовые условия: 990/10/0, β=.3, γ=.1, T=100. Пик на сетке .5 не равен непрерывному максимуму. Все числа взяты из выполненных опытов.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labs/lab06/report/simulation-modeling-lab06-report.qmd</a:t>
            </a:r>
          </a:p>
          <a:p xmlns:a="http://schemas.openxmlformats.org/drawingml/2006/main">
            <a:r>
              <a:t>- labs/lab06/project/src/SIRPetri.jl</a:t>
            </a:r>
          </a:p>
          <a:p xmlns:a="http://schemas.openxmlformats.org/drawingml/2006/main">
            <a:r>
              <a:t>- labs/lab06/project/scripts</a:t>
            </a:r>
          </a:p>
          <a:p xmlns:a="http://schemas.openxmlformats.org/drawingml/2006/main">
            <a:r>
              <a:t>- labs/lab06/project/data</a:t>
            </a:r>
          </a:p>
          <a:p xmlns:a="http://schemas.openxmlformats.org/drawingml/2006/main">
            <a:r>
              <a:t>- labs/lab06/project/notebooks</a:t>
            </a:r>
          </a:p>
          <a:p xmlns:a="http://schemas.openxmlformats.org/drawingml/2006/main">
            <a:r>
              <a:t>- labs/lab06/project/test/runtests.jl</a:t>
            </a:r>
          </a:p>
          <a:p xmlns:a="http://schemas.openxmlformats.org/drawingml/2006/main">
            <a:r>
              <a:t>- labs/lab06/image/logo-rudn.png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 практикума А. В. Корольковой и Д. С. Кулябова, стр. 191–207. Закон βSI без деления на N. Базовые условия: 990/10/0, β=.3, γ=.1, T=100. Пик на сетке .5 не равен непрерывному максимуму. Все числа взяты из выполненных опытов.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labs/lab06/report/simulation-modeling-lab06-report.qmd</a:t>
            </a:r>
          </a:p>
          <a:p xmlns:a="http://schemas.openxmlformats.org/drawingml/2006/main">
            <a:r>
              <a:t>- labs/lab06/project/src/SIRPetri.jl</a:t>
            </a:r>
          </a:p>
          <a:p xmlns:a="http://schemas.openxmlformats.org/drawingml/2006/main">
            <a:r>
              <a:t>- labs/lab06/project/scripts</a:t>
            </a:r>
          </a:p>
          <a:p xmlns:a="http://schemas.openxmlformats.org/drawingml/2006/main">
            <a:r>
              <a:t>- labs/lab06/project/data</a:t>
            </a:r>
          </a:p>
          <a:p xmlns:a="http://schemas.openxmlformats.org/drawingml/2006/main">
            <a:r>
              <a:t>- labs/lab06/project/notebooks</a:t>
            </a:r>
          </a:p>
          <a:p xmlns:a="http://schemas.openxmlformats.org/drawingml/2006/main">
            <a:r>
              <a:t>- labs/lab06/project/test/runtests.jl</a:t>
            </a:r>
          </a:p>
          <a:p xmlns:a="http://schemas.openxmlformats.org/drawingml/2006/main">
            <a:r>
              <a:t>- labs/lab06/image/logo-rudn.png</a:t>
            </a:r>
          </a:p>
          <a:p xmlns:a="http://schemas.openxmlformats.org/drawingml/2006/main">
            <a:r>
              <a:t>- labs/lab06/image/10-plot.png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 практикума А. В. Корольковой и Д. С. Кулябова, стр. 191–207. Закон βSI без деления на N. Базовые условия: 990/10/0, β=.3, γ=.1, T=100. Пик на сетке .5 не равен непрерывному максимуму. Все числа взяты из выполненных опытов.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labs/lab06/report/simulation-modeling-lab06-report.qmd</a:t>
            </a:r>
          </a:p>
          <a:p xmlns:a="http://schemas.openxmlformats.org/drawingml/2006/main">
            <a:r>
              <a:t>- labs/lab06/project/src/SIRPetri.jl</a:t>
            </a:r>
          </a:p>
          <a:p xmlns:a="http://schemas.openxmlformats.org/drawingml/2006/main">
            <a:r>
              <a:t>- labs/lab06/project/scripts</a:t>
            </a:r>
          </a:p>
          <a:p xmlns:a="http://schemas.openxmlformats.org/drawingml/2006/main">
            <a:r>
              <a:t>- labs/lab06/project/data</a:t>
            </a:r>
          </a:p>
          <a:p xmlns:a="http://schemas.openxmlformats.org/drawingml/2006/main">
            <a:r>
              <a:t>- labs/lab06/project/notebooks</a:t>
            </a:r>
          </a:p>
          <a:p xmlns:a="http://schemas.openxmlformats.org/drawingml/2006/main">
            <a:r>
              <a:t>- labs/lab06/project/test/runtests.jl</a:t>
            </a:r>
          </a:p>
          <a:p xmlns:a="http://schemas.openxmlformats.org/drawingml/2006/main">
            <a:r>
              <a:t>- labs/lab06/image/logo-rudn.png</a:t>
            </a:r>
          </a:p>
          <a:p xmlns:a="http://schemas.openxmlformats.org/drawingml/2006/main">
            <a:r>
              <a:t>- labs/lab06/image/11-plot.png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 практикума А. В. Корольковой и Д. С. Кулябова, стр. 191–207. Закон βSI без деления на N. Базовые условия: 990/10/0, β=.3, γ=.1, T=100. Пик на сетке .5 не равен непрерывному максимуму. Все числа взяты из выполненных опытов.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labs/lab06/report/simulation-modeling-lab06-report.qmd</a:t>
            </a:r>
          </a:p>
          <a:p xmlns:a="http://schemas.openxmlformats.org/drawingml/2006/main">
            <a:r>
              <a:t>- labs/lab06/project/src/SIRPetri.jl</a:t>
            </a:r>
          </a:p>
          <a:p xmlns:a="http://schemas.openxmlformats.org/drawingml/2006/main">
            <a:r>
              <a:t>- labs/lab06/project/scripts</a:t>
            </a:r>
          </a:p>
          <a:p xmlns:a="http://schemas.openxmlformats.org/drawingml/2006/main">
            <a:r>
              <a:t>- labs/lab06/project/data</a:t>
            </a:r>
          </a:p>
          <a:p xmlns:a="http://schemas.openxmlformats.org/drawingml/2006/main">
            <a:r>
              <a:t>- labs/lab06/project/notebooks</a:t>
            </a:r>
          </a:p>
          <a:p xmlns:a="http://schemas.openxmlformats.org/drawingml/2006/main">
            <a:r>
              <a:t>- labs/lab06/project/test/runtests.jl</a:t>
            </a:r>
          </a:p>
          <a:p xmlns:a="http://schemas.openxmlformats.org/drawingml/2006/main">
            <a:r>
              <a:t>- labs/lab06/image/logo-rudn.png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 практикума А. В. Корольковой и Д. С. Кулябова, стр. 191–207. Закон βSI без деления на N. Базовые условия: 990/10/0, β=.3, γ=.1, T=100. Пик на сетке .5 не равен непрерывному максимуму. Все числа взяты из выполненных опытов.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labs/lab06/report/simulation-modeling-lab06-report.qmd</a:t>
            </a:r>
          </a:p>
          <a:p xmlns:a="http://schemas.openxmlformats.org/drawingml/2006/main">
            <a:r>
              <a:t>- labs/lab06/project/src/SIRPetri.jl</a:t>
            </a:r>
          </a:p>
          <a:p xmlns:a="http://schemas.openxmlformats.org/drawingml/2006/main">
            <a:r>
              <a:t>- labs/lab06/project/scripts</a:t>
            </a:r>
          </a:p>
          <a:p xmlns:a="http://schemas.openxmlformats.org/drawingml/2006/main">
            <a:r>
              <a:t>- labs/lab06/project/data</a:t>
            </a:r>
          </a:p>
          <a:p xmlns:a="http://schemas.openxmlformats.org/drawingml/2006/main">
            <a:r>
              <a:t>- labs/lab06/project/notebooks</a:t>
            </a:r>
          </a:p>
          <a:p xmlns:a="http://schemas.openxmlformats.org/drawingml/2006/main">
            <a:r>
              <a:t>- labs/lab06/project/test/runtests.jl</a:t>
            </a:r>
          </a:p>
          <a:p xmlns:a="http://schemas.openxmlformats.org/drawingml/2006/main">
            <a:r>
              <a:t>- labs/lab06/image/logo-rudn.png</a:t>
            </a:r>
          </a:p>
          <a:p xmlns:a="http://schemas.openxmlformats.org/drawingml/2006/main">
            <a:r>
              <a:t>- labs/lab06/image/12-plot.png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 практикума А. В. Корольковой и Д. С. Кулябова, стр. 191–207. Закон βSI без деления на N. Базовые условия: 990/10/0, β=.3, γ=.1, T=100. Пик на сетке .5 не равен непрерывному максимуму. Все числа взяты из выполненных опытов.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labs/lab06/report/simulation-modeling-lab06-report.qmd</a:t>
            </a:r>
          </a:p>
          <a:p xmlns:a="http://schemas.openxmlformats.org/drawingml/2006/main">
            <a:r>
              <a:t>- labs/lab06/project/src/SIRPetri.jl</a:t>
            </a:r>
          </a:p>
          <a:p xmlns:a="http://schemas.openxmlformats.org/drawingml/2006/main">
            <a:r>
              <a:t>- labs/lab06/project/scripts</a:t>
            </a:r>
          </a:p>
          <a:p xmlns:a="http://schemas.openxmlformats.org/drawingml/2006/main">
            <a:r>
              <a:t>- labs/lab06/project/data</a:t>
            </a:r>
          </a:p>
          <a:p xmlns:a="http://schemas.openxmlformats.org/drawingml/2006/main">
            <a:r>
              <a:t>- labs/lab06/project/notebooks</a:t>
            </a:r>
          </a:p>
          <a:p xmlns:a="http://schemas.openxmlformats.org/drawingml/2006/main">
            <a:r>
              <a:t>- labs/lab06/project/test/runtests.jl</a:t>
            </a:r>
          </a:p>
          <a:p xmlns:a="http://schemas.openxmlformats.org/drawingml/2006/main">
            <a:r>
              <a:t>- labs/lab06/image/logo-rudn.png</a:t>
            </a:r>
          </a:p>
          <a:p xmlns:a="http://schemas.openxmlformats.org/drawingml/2006/main">
            <a:r>
              <a:t>- labs/lab06/image/01-jupyter.png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 практикума А. В. Корольковой и Д. С. Кулябова, стр. 191–207. Закон βSI без деления на N. Базовые условия: 990/10/0, β=.3, γ=.1, T=100. Пик на сетке .5 не равен непрерывному максимуму. Все числа взяты из выполненных опытов.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labs/lab06/report/simulation-modeling-lab06-report.qmd</a:t>
            </a:r>
          </a:p>
          <a:p xmlns:a="http://schemas.openxmlformats.org/drawingml/2006/main">
            <a:r>
              <a:t>- labs/lab06/project/src/SIRPetri.jl</a:t>
            </a:r>
          </a:p>
          <a:p xmlns:a="http://schemas.openxmlformats.org/drawingml/2006/main">
            <a:r>
              <a:t>- labs/lab06/project/scripts</a:t>
            </a:r>
          </a:p>
          <a:p xmlns:a="http://schemas.openxmlformats.org/drawingml/2006/main">
            <a:r>
              <a:t>- labs/lab06/project/data</a:t>
            </a:r>
          </a:p>
          <a:p xmlns:a="http://schemas.openxmlformats.org/drawingml/2006/main">
            <a:r>
              <a:t>- labs/lab06/project/notebooks</a:t>
            </a:r>
          </a:p>
          <a:p xmlns:a="http://schemas.openxmlformats.org/drawingml/2006/main">
            <a:r>
              <a:t>- labs/lab06/project/test/runtests.jl</a:t>
            </a:r>
          </a:p>
          <a:p xmlns:a="http://schemas.openxmlformats.org/drawingml/2006/main">
            <a:r>
              <a:t>- labs/lab06/image/logo-rudn.png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Глава 6 практикума А. В. Корольковой и Д. С. Кулябова, стр. 191–207. Закон βSI без деления на N. Базовые условия: 990/10/0, β=.3, γ=.1, T=100. Пик на сетке .5 не равен непрерывному максимуму. Все числа взяты из выполненных опытов.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labs/lab06/report/simulation-modeling-lab06-report.qmd</a:t>
            </a:r>
          </a:p>
          <a:p xmlns:a="http://schemas.openxmlformats.org/drawingml/2006/main">
            <a:r>
              <a:t>- labs/lab06/project/src/SIRPetri.jl</a:t>
            </a:r>
          </a:p>
          <a:p xmlns:a="http://schemas.openxmlformats.org/drawingml/2006/main">
            <a:r>
              <a:t>- labs/lab06/project/scripts</a:t>
            </a:r>
          </a:p>
          <a:p xmlns:a="http://schemas.openxmlformats.org/drawingml/2006/main">
            <a:r>
              <a:t>- labs/lab06/project/data</a:t>
            </a:r>
          </a:p>
          <a:p xmlns:a="http://schemas.openxmlformats.org/drawingml/2006/main">
            <a:r>
              <a:t>- labs/lab06/project/notebooks</a:t>
            </a:r>
          </a:p>
          <a:p xmlns:a="http://schemas.openxmlformats.org/drawingml/2006/main">
            <a:r>
              <a:t>- labs/lab06/project/test/runtests.jl</a:t>
            </a:r>
          </a:p>
          <a:p xmlns:a="http://schemas.openxmlformats.org/drawingml/2006/main">
            <a:r>
              <a:t>- labs/lab06/image/logo-rudn.png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f91f861f494b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698c2e1ae54463" /><Relationship Type="http://schemas.openxmlformats.org/officeDocument/2006/relationships/slideLayout" Target="/ppt/slideLayouts/slideLayout1.xml" Id="R5c95ba279c2448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95ba279c2448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e35d2f52b4068" /><Relationship Type="http://schemas.openxmlformats.org/officeDocument/2006/relationships/image" Target="/ppt/media/image.png" Id="R5c6795e6cf2f4c25" /><Relationship Type="http://schemas.openxmlformats.org/officeDocument/2006/relationships/notesSlide" Target="/ppt/notesSlides/notesSlide1.xml" Id="R8ef1ca129b254f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64f9cd8124969" /><Relationship Type="http://schemas.openxmlformats.org/officeDocument/2006/relationships/image" Target="/ppt/media/image2.png" Id="Rc63e358b15594ac2" /><Relationship Type="http://schemas.openxmlformats.org/officeDocument/2006/relationships/notesSlide" Target="/ppt/notesSlides/notesSlide2.xml" Id="R522c265230f248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e7f0e0d664f27" /><Relationship Type="http://schemas.openxmlformats.org/officeDocument/2006/relationships/image" Target="/ppt/media/image3.png" Id="Rbfa797247f634471" /><Relationship Type="http://schemas.openxmlformats.org/officeDocument/2006/relationships/notesSlide" Target="/ppt/notesSlides/notesSlide3.xml" Id="Rc736329b769c4c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f4a2cae2648a3" /><Relationship Type="http://schemas.openxmlformats.org/officeDocument/2006/relationships/image" Target="/ppt/media/image4.png" Id="Rcea4f1f8e9484861" /><Relationship Type="http://schemas.openxmlformats.org/officeDocument/2006/relationships/notesSlide" Target="/ppt/notesSlides/notesSlide4.xml" Id="Rc7bccac83b7646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aaf0137f44296" /><Relationship Type="http://schemas.openxmlformats.org/officeDocument/2006/relationships/image" Target="/ppt/media/image5.png" Id="Rf862832915f34406" /><Relationship Type="http://schemas.openxmlformats.org/officeDocument/2006/relationships/image" Target="/ppt/media/image6.png" Id="Rf82ce444f97f45c7" /><Relationship Type="http://schemas.openxmlformats.org/officeDocument/2006/relationships/notesSlide" Target="/ppt/notesSlides/notesSlide5.xml" Id="Rad13a9a23f554d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01d3e1fe54190" /><Relationship Type="http://schemas.openxmlformats.org/officeDocument/2006/relationships/image" Target="/ppt/media/image2.png" Id="R671eac6db2ed467f" /><Relationship Type="http://schemas.openxmlformats.org/officeDocument/2006/relationships/notesSlide" Target="/ppt/notesSlides/notesSlide6.xml" Id="R47db917cee954e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bc7238fed42d7" /><Relationship Type="http://schemas.openxmlformats.org/officeDocument/2006/relationships/image" Target="/ppt/media/image3.png" Id="R9937f53f91a54d80" /><Relationship Type="http://schemas.openxmlformats.org/officeDocument/2006/relationships/notesSlide" Target="/ppt/notesSlides/notesSlide7.xml" Id="Rfd1ad670d7ca4b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3bb48044046ee" /><Relationship Type="http://schemas.openxmlformats.org/officeDocument/2006/relationships/image" Target="/ppt/media/image3.png" Id="R2da8c6e83c014905" /><Relationship Type="http://schemas.openxmlformats.org/officeDocument/2006/relationships/notesSlide" Target="/ppt/notesSlides/notesSlide8.xml" Id="Rc958da870ddd44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78e0655c14a53" /><Relationship Type="http://schemas.openxmlformats.org/officeDocument/2006/relationships/image" Target="/ppt/media/image7.png" Id="R31fcd20729bf47e8" /><Relationship Type="http://schemas.openxmlformats.org/officeDocument/2006/relationships/image" Target="/ppt/media/image8.png" Id="R3da26a4b00214b36" /><Relationship Type="http://schemas.openxmlformats.org/officeDocument/2006/relationships/image" Target="/ppt/media/image9.png" Id="Ref0a9c96f5de4b2d" /><Relationship Type="http://schemas.openxmlformats.org/officeDocument/2006/relationships/notesSlide" Target="/ppt/notesSlides/notesSlide9.xml" Id="R273e2d967d7b4a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b292c30be4cf6" /><Relationship Type="http://schemas.openxmlformats.org/officeDocument/2006/relationships/image" Target="/ppt/media/image5.png" Id="R363263a8a7ad43a7" /><Relationship Type="http://schemas.openxmlformats.org/officeDocument/2006/relationships/image" Target="/ppt/media/image10.png" Id="Rce79fbeaaef14429" /><Relationship Type="http://schemas.openxmlformats.org/officeDocument/2006/relationships/notesSlide" Target="/ppt/notesSlides/notesSlide10.xml" Id="R30e605b91d164e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bc1905b9a4b16" /><Relationship Type="http://schemas.openxmlformats.org/officeDocument/2006/relationships/image" Target="/ppt/media/image7.png" Id="Rd1e5bddd0f0a48ee" /><Relationship Type="http://schemas.openxmlformats.org/officeDocument/2006/relationships/image" Target="/ppt/media/image11.png" Id="R0f2edd62e4344e8f" /><Relationship Type="http://schemas.openxmlformats.org/officeDocument/2006/relationships/image" Target="/ppt/media/image12.png" Id="R35b530d6924c4300" /><Relationship Type="http://schemas.openxmlformats.org/officeDocument/2006/relationships/notesSlide" Target="/ppt/notesSlides/notesSlide11.xml" Id="R9fce64b8fb704c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8f62efb7d4a2b" /><Relationship Type="http://schemas.openxmlformats.org/officeDocument/2006/relationships/image" Target="/ppt/media/image13.png" Id="R3e072b44d2344668" /><Relationship Type="http://schemas.openxmlformats.org/officeDocument/2006/relationships/image" Target="/ppt/media/image14.png" Id="Rd1b8fb4f7d1d4621" /><Relationship Type="http://schemas.openxmlformats.org/officeDocument/2006/relationships/notesSlide" Target="/ppt/notesSlides/notesSlide12.xml" Id="Re08e004d2fb545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609b6aa6b4ad5" /><Relationship Type="http://schemas.openxmlformats.org/officeDocument/2006/relationships/image" Target="/ppt/media/image7.png" Id="R9a3ccfc63eb64059" /><Relationship Type="http://schemas.openxmlformats.org/officeDocument/2006/relationships/image" Target="/ppt/media/image15.png" Id="Reae17675eb3a4028" /><Relationship Type="http://schemas.openxmlformats.org/officeDocument/2006/relationships/image" Target="/ppt/media/image16.png" Id="R66f4d406841f46be" /><Relationship Type="http://schemas.openxmlformats.org/officeDocument/2006/relationships/notesSlide" Target="/ppt/notesSlides/notesSlide13.xml" Id="R2852ae8b65ac47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b640ac1ae438f" /><Relationship Type="http://schemas.openxmlformats.org/officeDocument/2006/relationships/image" Target="/ppt/media/image2.png" Id="R9eb15e3f35184295" /><Relationship Type="http://schemas.openxmlformats.org/officeDocument/2006/relationships/notesSlide" Target="/ppt/notesSlides/notesSlide14.xml" Id="Rff1f02c329f745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c4563a69e4da6" /><Relationship Type="http://schemas.openxmlformats.org/officeDocument/2006/relationships/image" Target="/ppt/media/image5.png" Id="R3e5764c4df634db9" /><Relationship Type="http://schemas.openxmlformats.org/officeDocument/2006/relationships/image" Target="/ppt/media/image17.png" Id="Ra305c58af2124add" /><Relationship Type="http://schemas.openxmlformats.org/officeDocument/2006/relationships/notesSlide" Target="/ppt/notesSlides/notesSlide15.xml" Id="R5a50ecd843344a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2fb5c3eb64b66" /><Relationship Type="http://schemas.openxmlformats.org/officeDocument/2006/relationships/image" Target="/ppt/media/image13.png" Id="Ra5767e2e93d64bb3" /><Relationship Type="http://schemas.openxmlformats.org/officeDocument/2006/relationships/image" Target="/ppt/media/image18.png" Id="R2843e523b12c4c76" /><Relationship Type="http://schemas.openxmlformats.org/officeDocument/2006/relationships/notesSlide" Target="/ppt/notesSlides/notesSlide16.xml" Id="R577bc0a4a63344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51bedcb2849c0" /><Relationship Type="http://schemas.openxmlformats.org/officeDocument/2006/relationships/image" Target="/ppt/media/image3.png" Id="Rce1ddd6e26ad4246" /><Relationship Type="http://schemas.openxmlformats.org/officeDocument/2006/relationships/notesSlide" Target="/ppt/notesSlides/notesSlide17.xml" Id="R5ad8da3e0131452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1ca163208480e" /><Relationship Type="http://schemas.openxmlformats.org/officeDocument/2006/relationships/image" Target="/ppt/media/image13.png" Id="R2d719e06051247a4" /><Relationship Type="http://schemas.openxmlformats.org/officeDocument/2006/relationships/image" Target="/ppt/media/image19.png" Id="R3eff107db9d548b9" /><Relationship Type="http://schemas.openxmlformats.org/officeDocument/2006/relationships/notesSlide" Target="/ppt/notesSlides/notesSlide18.xml" Id="R9907959649fa4ad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ee2117b3f4701" /><Relationship Type="http://schemas.openxmlformats.org/officeDocument/2006/relationships/image" Target="/ppt/media/image20.png" Id="R737b4f317a9e4ac2" /><Relationship Type="http://schemas.openxmlformats.org/officeDocument/2006/relationships/image" Target="/ppt/media/image.jpeg" Id="R3f414217f7774ba1" /><Relationship Type="http://schemas.openxmlformats.org/officeDocument/2006/relationships/notesSlide" Target="/ppt/notesSlides/notesSlide19.xml" Id="Re1272a89783745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ec647243f4cdc" /><Relationship Type="http://schemas.openxmlformats.org/officeDocument/2006/relationships/image" Target="/ppt/media/image3.png" Id="R4a01affe1804495c" /><Relationship Type="http://schemas.openxmlformats.org/officeDocument/2006/relationships/notesSlide" Target="/ppt/notesSlides/notesSlide20.xml" Id="R6b2ff1b058c04c5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b80c5bc5d460a" /><Relationship Type="http://schemas.openxmlformats.org/officeDocument/2006/relationships/image" Target="/ppt/media/image2.png" Id="R9758b6d88ca64d06" /><Relationship Type="http://schemas.openxmlformats.org/officeDocument/2006/relationships/notesSlide" Target="/ppt/notesSlides/notesSlide21.xml" Id="R108c88615dfe47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ft-band">
            <a:extLst xmlns:a="http://schemas.openxmlformats.org/drawingml/2006/main">
              <a:ext uri="{FF2B5EF4-FFF2-40B4-BE49-F238E27FC236}">
                <a16:creationId xmlns:a16="http://schemas.microsoft.com/office/drawing/2014/main" id="{3396A765-E720-4140-8F2A-9B2252C7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-band">
            <a:extLst xmlns:a="http://schemas.openxmlformats.org/drawingml/2006/main">
              <a:ext uri="{FF2B5EF4-FFF2-40B4-BE49-F238E27FC236}">
                <a16:creationId xmlns:a16="http://schemas.microsoft.com/office/drawing/2014/main" id="{F0AA6C92-D1C5-4BD3-9709-9C06392C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795e6cf2f4c25"/>
          <a:stretch xmlns:a="http://schemas.openxmlformats.org/drawingml/2006/main"/>
        </p:blipFill>
        <p:spPr>
          <a:xfrm xmlns:a="http://schemas.openxmlformats.org/drawingml/2006/main">
            <a:off x="457200" y="560369"/>
            <a:ext cx="1104900" cy="936661"/>
          </a:xfrm>
          <a:prstGeom xmlns:a="http://schemas.openxmlformats.org/drawingml/2006/main" prst="rect">
            <a:avLst/>
          </a:prstGeom>
        </p:spPr>
      </p:pic>
      <p:sp>
        <p:nvSpPr>
          <p:cNvPr id="4" name="course">
            <a:extLst xmlns:a="http://schemas.openxmlformats.org/drawingml/2006/main">
              <a:ext uri="{FF2B5EF4-FFF2-40B4-BE49-F238E27FC236}">
                <a16:creationId xmlns:a16="http://schemas.microsoft.com/office/drawing/2014/main" id="{5F81805C-F6B2-4923-AA28-EDF4ED91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9144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EA5"/>
                </a:solidFill>
              </a:defRPr>
            </a:pPr>
            <a:r>
              <a:rPr sz="1350" b="1">
                <a:solidFill>
                  <a:srgbClr val="176EA5"/>
                </a:solidFill>
              </a:rPr>
              <a:t>ИМИТАЦИОННОЕ МОДЕЛИРОВАНИЕ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045F79F-CBEE-46C7-8579-E321FAC8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56210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36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Лабораторная работа № 6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35432B33-C963-45BE-9D52-7A35D6A1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003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Реализация SIR в подходе сетей Петри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DDF11CD1-D867-493C-A776-41C0A6BC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956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uthor">
            <a:extLst xmlns:a="http://schemas.openxmlformats.org/drawingml/2006/main">
              <a:ext uri="{FF2B5EF4-FFF2-40B4-BE49-F238E27FC236}">
                <a16:creationId xmlns:a16="http://schemas.microsoft.com/office/drawing/2014/main" id="{C9EE01F2-1E06-4D5F-B59A-782D6429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1950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Куокконен Дарина Андреевна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НФИбд-01-23</a:t>
            </a:r>
          </a:p>
        </p:txBody>
      </p:sp>
      <p:sp>
        <p:nvSpPr>
          <p:cNvPr id="9" name="university">
            <a:extLst xmlns:a="http://schemas.openxmlformats.org/drawingml/2006/main">
              <a:ext uri="{FF2B5EF4-FFF2-40B4-BE49-F238E27FC236}">
                <a16:creationId xmlns:a16="http://schemas.microsoft.com/office/drawing/2014/main" id="{1E145EEC-F5DF-4FF7-9082-F8E82222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673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675"/>
                </a:solidFill>
              </a:defRPr>
            </a:pPr>
            <a:r>
              <a:rPr sz="1350" b="0">
                <a:solidFill>
                  <a:srgbClr val="526675"/>
                </a:solidFill>
              </a:rPr>
              <a:t>Российский университет дружбы народов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675"/>
                </a:solidFill>
              </a:defRPr>
            </a:pPr>
            <a:r>
              <a:rPr sz="1350" b="0">
                <a:solidFill>
                  <a:srgbClr val="526675"/>
                </a:solidFill>
              </a:rPr>
              <a:t>имени Патриса Лумумбы · Москва · 2026</a:t>
            </a:r>
          </a:p>
        </p:txBody>
      </p:sp>
    </p:spTree>
    <p:extLst>
      <p:ext uri="{BB962C8B-B14F-4D97-AF65-F5344CB8AC3E}">
        <p14:creationId xmlns:p14="http://schemas.microsoft.com/office/powerpoint/2010/main" val="1891124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7EDC123F-A2A1-4A23-B400-58E76A7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e358b15594ac2"/>
          <a:stretch xmlns:a="http://schemas.openxmlformats.org/drawingml/2006/main"/>
        </p:blipFill>
        <p:spPr>
          <a:xfrm xmlns:a="http://schemas.openxmlformats.org/drawingml/2006/main">
            <a:off x="742950" y="716689"/>
            <a:ext cx="781050" cy="662123"/>
          </a:xfrm>
          <a:prstGeom xmlns:a="http://schemas.openxmlformats.org/drawingml/2006/main" prst="rect">
            <a:avLst/>
          </a:prstGeom>
        </p:spPr>
      </p:pic>
      <p:sp>
        <p:nvSpPr>
          <p:cNvPr id="3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05B54D60-5BA6-4B1C-AA38-11674D7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39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Вводная часть</a:t>
            </a:r>
          </a:p>
        </p:txBody>
      </p:sp>
      <p:sp>
        <p:nvSpPr>
          <p:cNvPr id="4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A6F50DB3-5845-402B-875A-F3D9719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3360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clusions">
            <a:extLst xmlns:a="http://schemas.openxmlformats.org/drawingml/2006/main">
              <a:ext uri="{FF2B5EF4-FFF2-40B4-BE49-F238E27FC236}">
                <a16:creationId xmlns:a16="http://schemas.microsoft.com/office/drawing/2014/main" id="{80C76B1D-E492-4AF8-A98B-ACC10B4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89535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Одна сеть — непрерывное и событийное исполнение.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Исследование заражения и выздоровления в замкнутой популяции.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Четыре основных сценария и их параметрические варианты.</a:t>
            </a:r>
          </a:p>
        </p:txBody>
      </p:sp>
      <p:sp>
        <p:nvSpPr>
          <p:cNvPr id="6" name="final">
            <a:extLst xmlns:a="http://schemas.openxmlformats.org/drawingml/2006/main">
              <a:ext uri="{FF2B5EF4-FFF2-40B4-BE49-F238E27FC236}">
                <a16:creationId xmlns:a16="http://schemas.microsoft.com/office/drawing/2014/main" id="{FCC7524D-04B4-4E2B-BB4A-218A72D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24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5A9D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5A9D3"/>
                </a:solidFill>
                <a:latin typeface="Calibri"/>
                <a:ea typeface="Calibri"/>
                <a:cs typeface="Calibri"/>
              </a:rPr>
              <a:t>Лабораторная работа № 6</a:t>
            </a:r>
          </a:p>
        </p:txBody>
      </p:sp>
    </p:spTree>
    <p:extLst>
      <p:ext uri="{BB962C8B-B14F-4D97-AF65-F5344CB8AC3E}">
        <p14:creationId xmlns:p14="http://schemas.microsoft.com/office/powerpoint/2010/main" val="509539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8421A46-F9BD-480F-B275-C23896D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0627352-F663-4A2E-9B7B-12B403F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DEB88-7101-47B0-B748-A400397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Цель и задачи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DEA9B6-8955-4F09-B9FA-546DA39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797247f634471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1B547B-6312-422F-97B9-B812308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6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D149F8-2B2A-45C2-ACB2-B531EF4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867F2279-946D-4402-B6C9-E80BAE1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Построить SIR как сеть Петри и сопоставить результаты ОДУ и SSA.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0B205D5C-F4E6-46EE-8BE3-E1E85CA2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s">
            <a:extLst xmlns:a="http://schemas.openxmlformats.org/drawingml/2006/main">
              <a:ext uri="{FF2B5EF4-FFF2-40B4-BE49-F238E27FC236}">
                <a16:creationId xmlns:a16="http://schemas.microsoft.com/office/drawing/2014/main" id="{D0B8600E-8057-4E67-AFD8-8FFEDC5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620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создать сеть с тремя позициями и двумя переходами;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выполнить базовый опыт, сканирование, анимацию и анализ CSV;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добавить параметры и стохастические повторы;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получить и выполнить все Julia-блокноты;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включить QMD-документацию в отчёт и проверить результаты.</a:t>
            </a:r>
          </a:p>
        </p:txBody>
      </p:sp>
    </p:spTree>
    <p:extLst>
      <p:ext uri="{BB962C8B-B14F-4D97-AF65-F5344CB8AC3E}">
        <p14:creationId xmlns:p14="http://schemas.microsoft.com/office/powerpoint/2010/main" val="18991728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band">
            <a:extLst xmlns:a="http://schemas.openxmlformats.org/drawingml/2006/main">
              <a:ext uri="{FF2B5EF4-FFF2-40B4-BE49-F238E27FC236}">
                <a16:creationId xmlns:a16="http://schemas.microsoft.com/office/drawing/2014/main" id="{3EEA6B23-AFB4-4427-A475-AEF5DDAE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30A9777-4FA0-429D-8228-411BC965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6A3BF7-966F-458F-B59D-CE4CCF98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Закон массового действия: без деления на N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1C91618-2B9A-40EC-9AA7-257BA9B7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4f1f8e9484861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EAE11C7-4C12-40DF-87E8-6272C63C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6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A091B3-20E5-4A17-8498-D902EADB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8" name="formula-bg">
            <a:extLst xmlns:a="http://schemas.openxmlformats.org/drawingml/2006/main">
              <a:ext uri="{FF2B5EF4-FFF2-40B4-BE49-F238E27FC236}">
                <a16:creationId xmlns:a16="http://schemas.microsoft.com/office/drawing/2014/main" id="{B1E9D04E-FA55-4CFF-8F43-F473404F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5048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9" name="sir-formulas">
            <a:extLst xmlns:a="http://schemas.openxmlformats.org/drawingml/2006/main">
              <a:ext uri="{FF2B5EF4-FFF2-40B4-BE49-F238E27FC236}">
                <a16:creationId xmlns:a16="http://schemas.microsoft.com/office/drawing/2014/main" id="{E62C42B5-3244-41DB-8CEC-D1C06B6D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433387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dS/dt = −βSI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dI/dt = βSI − γI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dR/dt = γI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S + I + R = 1000</a:t>
            </a:r>
          </a:p>
        </p:txBody>
      </p:sp>
      <p:sp>
        <p:nvSpPr>
          <p:cNvPr id="10" name="sir-meaning">
            <a:extLst xmlns:a="http://schemas.openxmlformats.org/drawingml/2006/main">
              <a:ext uri="{FF2B5EF4-FFF2-40B4-BE49-F238E27FC236}">
                <a16:creationId xmlns:a16="http://schemas.microsoft.com/office/drawing/2014/main" id="{41D19FF8-7068-4D04-B519-53E81611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81125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Заражение: S + I → 2I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Выздоровление: I → 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Начало: S = 990, I = 10, R = 0</a:t>
            </a:r>
          </a:p>
        </p:txBody>
      </p:sp>
      <p:sp>
        <p:nvSpPr>
          <p:cNvPr id="11" name="r0-bg">
            <a:extLst xmlns:a="http://schemas.openxmlformats.org/drawingml/2006/main">
              <a:ext uri="{FF2B5EF4-FFF2-40B4-BE49-F238E27FC236}">
                <a16:creationId xmlns:a16="http://schemas.microsoft.com/office/drawing/2014/main" id="{DDA48782-AECC-4910-B9D2-3F299558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2209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2" name="r0-value">
            <a:extLst xmlns:a="http://schemas.openxmlformats.org/drawingml/2006/main">
              <a:ext uri="{FF2B5EF4-FFF2-40B4-BE49-F238E27FC236}">
                <a16:creationId xmlns:a16="http://schemas.microsoft.com/office/drawing/2014/main" id="{B18707AA-ED3C-4619-A9B6-DFF0176B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95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0,3</a:t>
            </a:r>
          </a:p>
        </p:txBody>
      </p:sp>
      <p:sp>
        <p:nvSpPr>
          <p:cNvPr id="13" name="r0-caption">
            <a:extLst xmlns:a="http://schemas.openxmlformats.org/drawingml/2006/main">
              <a:ext uri="{FF2B5EF4-FFF2-40B4-BE49-F238E27FC236}">
                <a16:creationId xmlns:a16="http://schemas.microsoft.com/office/drawing/2014/main" id="{A58DA480-4E37-4926-931E-A697D701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339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базовый коэффициент β</a:t>
            </a:r>
          </a:p>
        </p:txBody>
      </p:sp>
      <p:sp>
        <p:nvSpPr>
          <p:cNvPr id="14" name="peak-bg">
            <a:extLst xmlns:a="http://schemas.openxmlformats.org/drawingml/2006/main">
              <a:ext uri="{FF2B5EF4-FFF2-40B4-BE49-F238E27FC236}">
                <a16:creationId xmlns:a16="http://schemas.microsoft.com/office/drawing/2014/main" id="{057DFCE5-9E6A-4EC5-AF80-3D23DC91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00550"/>
            <a:ext cx="2209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5" name="peak-value">
            <a:extLst xmlns:a="http://schemas.openxmlformats.org/drawingml/2006/main">
              <a:ext uri="{FF2B5EF4-FFF2-40B4-BE49-F238E27FC236}">
                <a16:creationId xmlns:a16="http://schemas.microsoft.com/office/drawing/2014/main" id="{25877720-9526-4D97-B9EA-1C32D0D9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3B4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83B45"/>
                </a:solidFill>
                <a:latin typeface="Calibri"/>
                <a:ea typeface="Calibri"/>
                <a:cs typeface="Calibri"/>
              </a:rPr>
              <a:t>0,1</a:t>
            </a:r>
          </a:p>
        </p:txBody>
      </p:sp>
      <p:sp>
        <p:nvSpPr>
          <p:cNvPr id="16" name="peak-caption">
            <a:extLst xmlns:a="http://schemas.openxmlformats.org/drawingml/2006/main">
              <a:ext uri="{FF2B5EF4-FFF2-40B4-BE49-F238E27FC236}">
                <a16:creationId xmlns:a16="http://schemas.microsoft.com/office/drawing/2014/main" id="{7005C71B-CBA1-467E-AD9C-32FB3711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339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коэффициент γ</a:t>
            </a:r>
          </a:p>
        </p:txBody>
      </p:sp>
    </p:spTree>
    <p:extLst>
      <p:ext uri="{BB962C8B-B14F-4D97-AF65-F5344CB8AC3E}">
        <p14:creationId xmlns:p14="http://schemas.microsoft.com/office/powerpoint/2010/main" val="15847899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band">
            <a:extLst xmlns:a="http://schemas.openxmlformats.org/drawingml/2006/main">
              <a:ext uri="{FF2B5EF4-FFF2-40B4-BE49-F238E27FC236}">
                <a16:creationId xmlns:a16="http://schemas.microsoft.com/office/drawing/2014/main" id="{F74FD5CC-8C38-411D-852B-0B386649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04E7823-61B5-47C3-B669-C35B8872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DD099D-979B-4597-9650-C67ED027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Структура сети определяет оба способа расчёта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DF46DE4-DC52-45DC-98B8-BF3E30BE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2832915f34406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CA48063-C26A-4267-AF5D-F662627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6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3554BD-DC5A-4F9E-A33E-16ACB139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ce444f97f45c7"/>
          <a:stretch xmlns:a="http://schemas.openxmlformats.org/drawingml/2006/main"/>
        </p:blipFill>
        <p:spPr>
          <a:xfrm xmlns:a="http://schemas.openxmlformats.org/drawingml/2006/main">
            <a:off x="629073" y="2749626"/>
            <a:ext cx="7257203" cy="1377800"/>
          </a:xfrm>
          <a:prstGeom xmlns:a="http://schemas.openxmlformats.org/drawingml/2006/main" prst="rect">
            <a:avLst/>
          </a:prstGeom>
        </p:spPr>
      </p:pic>
      <p:sp>
        <p:nvSpPr>
          <p:cNvPr id="9" name="imax-bg">
            <a:extLst xmlns:a="http://schemas.openxmlformats.org/drawingml/2006/main">
              <a:ext uri="{FF2B5EF4-FFF2-40B4-BE49-F238E27FC236}">
                <a16:creationId xmlns:a16="http://schemas.microsoft.com/office/drawing/2014/main" id="{23FB6D0B-5E2B-4B1C-B750-E19EAA83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049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0" name="imax-value">
            <a:extLst xmlns:a="http://schemas.openxmlformats.org/drawingml/2006/main">
              <a:ext uri="{FF2B5EF4-FFF2-40B4-BE49-F238E27FC236}">
                <a16:creationId xmlns:a16="http://schemas.microsoft.com/office/drawing/2014/main" id="{B29A502F-6BBC-4C15-80AF-7B56141F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3B4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83B45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1" name="imax-caption">
            <a:extLst xmlns:a="http://schemas.openxmlformats.org/drawingml/2006/main">
              <a:ext uri="{FF2B5EF4-FFF2-40B4-BE49-F238E27FC236}">
                <a16:creationId xmlns:a16="http://schemas.microsoft.com/office/drawing/2014/main" id="{EAFCEBFD-3EED-4A83-91F8-2D01A6C5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383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позиции: S, I, R</a:t>
            </a:r>
          </a:p>
        </p:txBody>
      </p:sp>
      <p:sp>
        <p:nvSpPr>
          <p:cNvPr id="12" name="tpeak-bg">
            <a:extLst xmlns:a="http://schemas.openxmlformats.org/drawingml/2006/main">
              <a:ext uri="{FF2B5EF4-FFF2-40B4-BE49-F238E27FC236}">
                <a16:creationId xmlns:a16="http://schemas.microsoft.com/office/drawing/2014/main" id="{CB68471B-DC2C-40D6-8738-71969ACC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3" name="tpeak-value">
            <a:extLst xmlns:a="http://schemas.openxmlformats.org/drawingml/2006/main">
              <a:ext uri="{FF2B5EF4-FFF2-40B4-BE49-F238E27FC236}">
                <a16:creationId xmlns:a16="http://schemas.microsoft.com/office/drawing/2014/main" id="{C9732CBD-5B35-4487-81E3-94F91DA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tpeak-caption">
            <a:extLst xmlns:a="http://schemas.openxmlformats.org/drawingml/2006/main">
              <a:ext uri="{FF2B5EF4-FFF2-40B4-BE49-F238E27FC236}">
                <a16:creationId xmlns:a16="http://schemas.microsoft.com/office/drawing/2014/main" id="{6422106B-D159-415D-9E44-6C792AC7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перехода: заражение, выздоровление</a:t>
            </a:r>
          </a:p>
        </p:txBody>
      </p:sp>
      <p:sp>
        <p:nvSpPr>
          <p:cNvPr id="15" name="rend-bg">
            <a:extLst xmlns:a="http://schemas.openxmlformats.org/drawingml/2006/main">
              <a:ext uri="{FF2B5EF4-FFF2-40B4-BE49-F238E27FC236}">
                <a16:creationId xmlns:a16="http://schemas.microsoft.com/office/drawing/2014/main" id="{04381D42-5BF5-4983-B4EB-47C62156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6" name="rend-value">
            <a:extLst xmlns:a="http://schemas.openxmlformats.org/drawingml/2006/main">
              <a:ext uri="{FF2B5EF4-FFF2-40B4-BE49-F238E27FC236}">
                <a16:creationId xmlns:a16="http://schemas.microsoft.com/office/drawing/2014/main" id="{EC23F540-774E-44A3-BED8-2FFF4B94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242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D8A5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D8A5B"/>
                </a:solidFill>
                <a:latin typeface="Calibri"/>
                <a:ea typeface="Calibri"/>
                <a:cs typeface="Calibri"/>
              </a:rPr>
              <a:t>1000</a:t>
            </a:r>
          </a:p>
        </p:txBody>
      </p:sp>
      <p:sp>
        <p:nvSpPr>
          <p:cNvPr id="17" name="rend-caption">
            <a:extLst xmlns:a="http://schemas.openxmlformats.org/drawingml/2006/main">
              <a:ext uri="{FF2B5EF4-FFF2-40B4-BE49-F238E27FC236}">
                <a16:creationId xmlns:a16="http://schemas.microsoft.com/office/drawing/2014/main" id="{BA2CD5D3-B265-4D73-B512-FE1B1471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инвариантная численность</a:t>
            </a:r>
          </a:p>
        </p:txBody>
      </p:sp>
      <p:sp>
        <p:nvSpPr>
          <p:cNvPr id="18" name="drift">
            <a:extLst xmlns:a="http://schemas.openxmlformats.org/drawingml/2006/main">
              <a:ext uri="{FF2B5EF4-FFF2-40B4-BE49-F238E27FC236}">
                <a16:creationId xmlns:a16="http://schemas.microsoft.com/office/drawing/2014/main" id="{5C0C9BC5-8FBE-41DE-AA12-9933C1D6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Сеть → ОДУ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Дуги → SSA</a:t>
            </a:r>
          </a:p>
        </p:txBody>
      </p:sp>
    </p:spTree>
    <p:extLst>
      <p:ext uri="{BB962C8B-B14F-4D97-AF65-F5344CB8AC3E}">
        <p14:creationId xmlns:p14="http://schemas.microsoft.com/office/powerpoint/2010/main" val="15480199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7EDC123F-A2A1-4A23-B400-58E76A7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eac6db2ed467f"/>
          <a:stretch xmlns:a="http://schemas.openxmlformats.org/drawingml/2006/main"/>
        </p:blipFill>
        <p:spPr>
          <a:xfrm xmlns:a="http://schemas.openxmlformats.org/drawingml/2006/main">
            <a:off x="742950" y="716689"/>
            <a:ext cx="781050" cy="662123"/>
          </a:xfrm>
          <a:prstGeom xmlns:a="http://schemas.openxmlformats.org/drawingml/2006/main" prst="rect">
            <a:avLst/>
          </a:prstGeom>
        </p:spPr>
      </p:pic>
      <p:sp>
        <p:nvSpPr>
          <p:cNvPr id="3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05B54D60-5BA6-4B1C-AA38-11674D7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39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Выполнение работы</a:t>
            </a:r>
          </a:p>
        </p:txBody>
      </p:sp>
      <p:sp>
        <p:nvSpPr>
          <p:cNvPr id="4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A6F50DB3-5845-402B-875A-F3D9719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3360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clusions">
            <a:extLst xmlns:a="http://schemas.openxmlformats.org/drawingml/2006/main">
              <a:ext uri="{FF2B5EF4-FFF2-40B4-BE49-F238E27FC236}">
                <a16:creationId xmlns:a16="http://schemas.microsoft.com/office/drawing/2014/main" id="{80C76B1D-E492-4AF8-A98B-ACC10B4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89535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Исходные параметры и сетки сохранены по методичке.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ОДУ решается Tsit5; события — прямым методом Гиллеспи.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Анализ CSV отделён от повторного моделирования.</a:t>
            </a:r>
          </a:p>
        </p:txBody>
      </p:sp>
      <p:sp>
        <p:nvSpPr>
          <p:cNvPr id="6" name="final">
            <a:extLst xmlns:a="http://schemas.openxmlformats.org/drawingml/2006/main">
              <a:ext uri="{FF2B5EF4-FFF2-40B4-BE49-F238E27FC236}">
                <a16:creationId xmlns:a16="http://schemas.microsoft.com/office/drawing/2014/main" id="{FCC7524D-04B4-4E2B-BB4A-218A72D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24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5A9D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5A9D3"/>
                </a:solidFill>
                <a:latin typeface="Calibri"/>
                <a:ea typeface="Calibri"/>
                <a:cs typeface="Calibri"/>
              </a:rPr>
              <a:t>Лабораторная работа № 6</a:t>
            </a:r>
          </a:p>
        </p:txBody>
      </p:sp>
    </p:spTree>
    <p:extLst>
      <p:ext uri="{BB962C8B-B14F-4D97-AF65-F5344CB8AC3E}">
        <p14:creationId xmlns:p14="http://schemas.microsoft.com/office/powerpoint/2010/main" val="5095397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8421A46-F9BD-480F-B275-C23896D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0627352-F663-4A2E-9B7B-12B403F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DEB88-7101-47B0-B748-A400397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Последовательность выполнения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DEA9B6-8955-4F09-B9FA-546DA39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7f53f91a54d80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1B547B-6312-422F-97B9-B812308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6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D149F8-2B2A-45C2-ACB2-B531EF4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867F2279-946D-4402-B6C9-E80BAE1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Julia-проект разделяет модель, сценарии, данные и документацию.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0B205D5C-F4E6-46EE-8BE3-E1E85CA2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s">
            <a:extLst xmlns:a="http://schemas.openxmlformats.org/drawingml/2006/main">
              <a:ext uri="{FF2B5EF4-FFF2-40B4-BE49-F238E27FC236}">
                <a16:creationId xmlns:a16="http://schemas.microsoft.com/office/drawing/2014/main" id="{D0B8600E-8057-4E67-AFD8-8FFEDC5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620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make tangle — восемь комплектов JL, QMD и IPYNB;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make run — четыре сценария и четыре варианта;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make notebooks — реальные вычисления в Julia;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make docs — HTML-документация сценариев;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make test — структурные и численные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8991728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8421A46-F9BD-480F-B275-C23896D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0627352-F663-4A2E-9B7B-12B403F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DEB88-7101-47B0-B748-A400397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Вычислительная среда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DEA9B6-8955-4F09-B9FA-546DA39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a8c6e83c014905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1B547B-6312-422F-97B9-B812308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6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D149F8-2B2A-45C2-ACB2-B531EF4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867F2279-946D-4402-B6C9-E80BAE1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Julia 1.11.9; точные зависимости закреплены в Manifest.toml.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0B205D5C-F4E6-46EE-8BE3-E1E85CA2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s">
            <a:extLst xmlns:a="http://schemas.openxmlformats.org/drawingml/2006/main">
              <a:ext uri="{FF2B5EF4-FFF2-40B4-BE49-F238E27FC236}">
                <a16:creationId xmlns:a16="http://schemas.microsoft.com/office/drawing/2014/main" id="{D0B8600E-8057-4E67-AFD8-8FFEDC5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620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AlgebraicPetri 0.8.11 и Catlab 0.14.17 — сеть и Graphviz;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OrdinaryDiffEq 7.8.1 — адаптивный метод Tsit5;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DataFrames 1.8.2 и CSV 0.10.17 — сохранение результатов;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Plots 1.41.7 — графики и анимации;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DrWatson, Literate и IJulia — организация и блокноты.</a:t>
            </a:r>
          </a:p>
        </p:txBody>
      </p:sp>
    </p:spTree>
    <p:extLst>
      <p:ext uri="{BB962C8B-B14F-4D97-AF65-F5344CB8AC3E}">
        <p14:creationId xmlns:p14="http://schemas.microsoft.com/office/powerpoint/2010/main" val="18991728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band">
            <a:extLst xmlns:a="http://schemas.openxmlformats.org/drawingml/2006/main">
              <a:ext uri="{FF2B5EF4-FFF2-40B4-BE49-F238E27FC236}">
                <a16:creationId xmlns:a16="http://schemas.microsoft.com/office/drawing/2014/main" id="{AF2585DF-AC5B-4323-9E8D-F5DD6ADE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961FBD9-A3D3-4B4D-8148-6A8EA058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1B50FA-2F33-49D5-92A3-2006E35C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Базовый опыт: β = 0,3; γ = 0,1; T = 100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624C76B-A866-4FC3-BD4F-676A5F42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cd20729bf47e8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F359995-F295-4F48-BFC9-5FDCEDF7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6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18B0D7C-16CB-40EC-970C-B3565A5F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26a4b00214b36"/>
          <a:stretch xmlns:a="http://schemas.openxmlformats.org/drawingml/2006/main"/>
        </p:blipFill>
        <p:spPr>
          <a:xfrm xmlns:a="http://schemas.openxmlformats.org/drawingml/2006/main">
            <a:off x="664964" y="1663222"/>
            <a:ext cx="5089922" cy="3007681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a9c96f5de4b2d"/>
          <a:stretch xmlns:a="http://schemas.openxmlformats.org/drawingml/2006/main"/>
        </p:blipFill>
        <p:spPr>
          <a:xfrm xmlns:a="http://schemas.openxmlformats.org/drawingml/2006/main">
            <a:off x="6437114" y="1663222"/>
            <a:ext cx="5089922" cy="3007681"/>
          </a:xfrm>
          <a:prstGeom xmlns:a="http://schemas.openxmlformats.org/drawingml/2006/main" prst="rect">
            <a:avLst/>
          </a:prstGeom>
        </p:spPr>
      </p:pic>
      <p:sp>
        <p:nvSpPr>
          <p:cNvPr id="10" name="sir-label">
            <a:extLst xmlns:a="http://schemas.openxmlformats.org/drawingml/2006/main">
              <a:ext uri="{FF2B5EF4-FFF2-40B4-BE49-F238E27FC236}">
                <a16:creationId xmlns:a16="http://schemas.microsoft.com/office/drawing/2014/main" id="{2E8BCE43-1A01-4261-B5EA-2E52C715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ОДУ · шаг 0,5</a:t>
            </a:r>
          </a:p>
        </p:txBody>
      </p:sp>
      <p:sp>
        <p:nvSpPr>
          <p:cNvPr id="11" name="lv-label">
            <a:extLst xmlns:a="http://schemas.openxmlformats.org/drawingml/2006/main">
              <a:ext uri="{FF2B5EF4-FFF2-40B4-BE49-F238E27FC236}">
                <a16:creationId xmlns:a16="http://schemas.microsoft.com/office/drawing/2014/main" id="{9A8A30A9-3164-4FDB-BCBF-1144A379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410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SSA · seed = 123</a:t>
            </a:r>
          </a:p>
        </p:txBody>
      </p:sp>
    </p:spTree>
    <p:extLst>
      <p:ext uri="{BB962C8B-B14F-4D97-AF65-F5344CB8AC3E}">
        <p14:creationId xmlns:p14="http://schemas.microsoft.com/office/powerpoint/2010/main" val="4138984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band">
            <a:extLst xmlns:a="http://schemas.openxmlformats.org/drawingml/2006/main">
              <a:ext uri="{FF2B5EF4-FFF2-40B4-BE49-F238E27FC236}">
                <a16:creationId xmlns:a16="http://schemas.microsoft.com/office/drawing/2014/main" id="{F74FD5CC-8C38-411D-852B-0B386649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04E7823-61B5-47C3-B669-C35B8872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DD099D-979B-4597-9650-C67ED027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Редкая сетка наблюдений пропускает ранний пик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DF46DE4-DC52-45DC-98B8-BF3E30BE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263a8a7ad43a7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CA48063-C26A-4267-AF5D-F662627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6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3554BD-DC5A-4F9E-A33E-16ACB139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9fbeaaef14429"/>
          <a:stretch xmlns:a="http://schemas.openxmlformats.org/drawingml/2006/main"/>
        </p:blipFill>
        <p:spPr>
          <a:xfrm xmlns:a="http://schemas.openxmlformats.org/drawingml/2006/main">
            <a:off x="629073" y="1294352"/>
            <a:ext cx="7257203" cy="4288347"/>
          </a:xfrm>
          <a:prstGeom xmlns:a="http://schemas.openxmlformats.org/drawingml/2006/main" prst="rect">
            <a:avLst/>
          </a:prstGeom>
        </p:spPr>
      </p:pic>
      <p:sp>
        <p:nvSpPr>
          <p:cNvPr id="9" name="imax-bg">
            <a:extLst xmlns:a="http://schemas.openxmlformats.org/drawingml/2006/main">
              <a:ext uri="{FF2B5EF4-FFF2-40B4-BE49-F238E27FC236}">
                <a16:creationId xmlns:a16="http://schemas.microsoft.com/office/drawing/2014/main" id="{23FB6D0B-5E2B-4B1C-B750-E19EAA83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049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0" name="imax-value">
            <a:extLst xmlns:a="http://schemas.openxmlformats.org/drawingml/2006/main">
              <a:ext uri="{FF2B5EF4-FFF2-40B4-BE49-F238E27FC236}">
                <a16:creationId xmlns:a16="http://schemas.microsoft.com/office/drawing/2014/main" id="{B29A502F-6BBC-4C15-80AF-7B56141F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3B4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83B45"/>
                </a:solidFill>
                <a:latin typeface="Calibri"/>
                <a:ea typeface="Calibri"/>
                <a:cs typeface="Calibri"/>
              </a:rPr>
              <a:t>997,0012</a:t>
            </a:r>
          </a:p>
        </p:txBody>
      </p:sp>
      <p:sp>
        <p:nvSpPr>
          <p:cNvPr id="11" name="imax-caption">
            <a:extLst xmlns:a="http://schemas.openxmlformats.org/drawingml/2006/main">
              <a:ext uri="{FF2B5EF4-FFF2-40B4-BE49-F238E27FC236}">
                <a16:creationId xmlns:a16="http://schemas.microsoft.com/office/drawing/2014/main" id="{EAFCEBFD-3EED-4A83-91F8-2D01A6C5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383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уточнённый максимум I</a:t>
            </a:r>
          </a:p>
        </p:txBody>
      </p:sp>
      <p:sp>
        <p:nvSpPr>
          <p:cNvPr id="12" name="tpeak-bg">
            <a:extLst xmlns:a="http://schemas.openxmlformats.org/drawingml/2006/main">
              <a:ext uri="{FF2B5EF4-FFF2-40B4-BE49-F238E27FC236}">
                <a16:creationId xmlns:a16="http://schemas.microsoft.com/office/drawing/2014/main" id="{CB68471B-DC2C-40D6-8738-71969ACC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3" name="tpeak-value">
            <a:extLst xmlns:a="http://schemas.openxmlformats.org/drawingml/2006/main">
              <a:ext uri="{FF2B5EF4-FFF2-40B4-BE49-F238E27FC236}">
                <a16:creationId xmlns:a16="http://schemas.microsoft.com/office/drawing/2014/main" id="{C9732CBD-5B35-4487-81E3-94F91DA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0,042046</a:t>
            </a:r>
          </a:p>
        </p:txBody>
      </p:sp>
      <p:sp>
        <p:nvSpPr>
          <p:cNvPr id="14" name="tpeak-caption">
            <a:extLst xmlns:a="http://schemas.openxmlformats.org/drawingml/2006/main">
              <a:ext uri="{FF2B5EF4-FFF2-40B4-BE49-F238E27FC236}">
                <a16:creationId xmlns:a16="http://schemas.microsoft.com/office/drawing/2014/main" id="{6422106B-D159-415D-9E44-6C792AC7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время непрерывного пика</a:t>
            </a:r>
          </a:p>
        </p:txBody>
      </p:sp>
      <p:sp>
        <p:nvSpPr>
          <p:cNvPr id="15" name="rend-bg">
            <a:extLst xmlns:a="http://schemas.openxmlformats.org/drawingml/2006/main">
              <a:ext uri="{FF2B5EF4-FFF2-40B4-BE49-F238E27FC236}">
                <a16:creationId xmlns:a16="http://schemas.microsoft.com/office/drawing/2014/main" id="{04381D42-5BF5-4983-B4EB-47C62156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6" name="rend-value">
            <a:extLst xmlns:a="http://schemas.openxmlformats.org/drawingml/2006/main">
              <a:ext uri="{FF2B5EF4-FFF2-40B4-BE49-F238E27FC236}">
                <a16:creationId xmlns:a16="http://schemas.microsoft.com/office/drawing/2014/main" id="{EC23F540-774E-44A3-BED8-2FFF4B94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242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D8A5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D8A5B"/>
                </a:solidFill>
                <a:latin typeface="Calibri"/>
                <a:ea typeface="Calibri"/>
                <a:cs typeface="Calibri"/>
              </a:rPr>
              <a:t>952,6914</a:t>
            </a:r>
          </a:p>
        </p:txBody>
      </p:sp>
      <p:sp>
        <p:nvSpPr>
          <p:cNvPr id="17" name="rend-caption">
            <a:extLst xmlns:a="http://schemas.openxmlformats.org/drawingml/2006/main">
              <a:ext uri="{FF2B5EF4-FFF2-40B4-BE49-F238E27FC236}">
                <a16:creationId xmlns:a16="http://schemas.microsoft.com/office/drawing/2014/main" id="{BA2CD5D3-B265-4D73-B512-FE1B1471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максимум на сетке 0,5</a:t>
            </a:r>
          </a:p>
        </p:txBody>
      </p:sp>
      <p:sp>
        <p:nvSpPr>
          <p:cNvPr id="18" name="drift">
            <a:extLst xmlns:a="http://schemas.openxmlformats.org/drawingml/2006/main">
              <a:ext uri="{FF2B5EF4-FFF2-40B4-BE49-F238E27FC236}">
                <a16:creationId xmlns:a16="http://schemas.microsoft.com/office/drawing/2014/main" id="{5C0C9BC5-8FBE-41DE-AA12-9933C1D6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Аналитический контроль: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ошибка &lt; 10⁻⁸.</a:t>
            </a:r>
          </a:p>
        </p:txBody>
      </p:sp>
    </p:spTree>
    <p:extLst>
      <p:ext uri="{BB962C8B-B14F-4D97-AF65-F5344CB8AC3E}">
        <p14:creationId xmlns:p14="http://schemas.microsoft.com/office/powerpoint/2010/main" val="15480199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band">
            <a:extLst xmlns:a="http://schemas.openxmlformats.org/drawingml/2006/main">
              <a:ext uri="{FF2B5EF4-FFF2-40B4-BE49-F238E27FC236}">
                <a16:creationId xmlns:a16="http://schemas.microsoft.com/office/drawing/2014/main" id="{AF2585DF-AC5B-4323-9E8D-F5DD6ADE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961FBD9-A3D3-4B4D-8148-6A8EA058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1B50FA-2F33-49D5-92A3-2006E35C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Пятнадцать β: отличаем динамику от сетки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624C76B-A866-4FC3-BD4F-676A5F42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5bddd0f0a48ee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F359995-F295-4F48-BFC9-5FDCEDF7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6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18B0D7C-16CB-40EC-970C-B3565A5F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edd62e4344e8f"/>
          <a:stretch xmlns:a="http://schemas.openxmlformats.org/drawingml/2006/main"/>
        </p:blipFill>
        <p:spPr>
          <a:xfrm xmlns:a="http://schemas.openxmlformats.org/drawingml/2006/main">
            <a:off x="664964" y="1663222"/>
            <a:ext cx="5089922" cy="3007681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530d6924c4300"/>
          <a:stretch xmlns:a="http://schemas.openxmlformats.org/drawingml/2006/main"/>
        </p:blipFill>
        <p:spPr>
          <a:xfrm xmlns:a="http://schemas.openxmlformats.org/drawingml/2006/main">
            <a:off x="6437114" y="1663222"/>
            <a:ext cx="5089922" cy="3007681"/>
          </a:xfrm>
          <a:prstGeom xmlns:a="http://schemas.openxmlformats.org/drawingml/2006/main" prst="rect">
            <a:avLst/>
          </a:prstGeom>
        </p:spPr>
      </p:pic>
      <p:sp>
        <p:nvSpPr>
          <p:cNvPr id="10" name="sir-label">
            <a:extLst xmlns:a="http://schemas.openxmlformats.org/drawingml/2006/main">
              <a:ext uri="{FF2B5EF4-FFF2-40B4-BE49-F238E27FC236}">
                <a16:creationId xmlns:a16="http://schemas.microsoft.com/office/drawing/2014/main" id="{2E8BCE43-1A01-4261-B5EA-2E52C715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Дискретный максимум</a:t>
            </a:r>
          </a:p>
        </p:txBody>
      </p:sp>
      <p:sp>
        <p:nvSpPr>
          <p:cNvPr id="11" name="lv-label">
            <a:extLst xmlns:a="http://schemas.openxmlformats.org/drawingml/2006/main">
              <a:ext uri="{FF2B5EF4-FFF2-40B4-BE49-F238E27FC236}">
                <a16:creationId xmlns:a16="http://schemas.microsoft.com/office/drawing/2014/main" id="{9A8A30A9-3164-4FDB-BCBF-1144A379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410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Уточнённый пик</a:t>
            </a:r>
          </a:p>
        </p:txBody>
      </p:sp>
    </p:spTree>
    <p:extLst>
      <p:ext uri="{BB962C8B-B14F-4D97-AF65-F5344CB8AC3E}">
        <p14:creationId xmlns:p14="http://schemas.microsoft.com/office/powerpoint/2010/main" val="4138984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B71F5F6-248A-493A-BFF4-DB5B4A22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BB5CB7FF-FF77-40E6-A4F7-D6586C90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042EA1-0509-47F7-86ED-55527639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Анимация показывает переход S → I → R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0DFCD4F-FB53-4C73-8295-9DB007AE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72b44d2344668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7E8B0EB-4DA1-4111-8E40-6CB1D9B0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6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622E43-05B3-40DE-ABF3-C0322559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8fb4f7d1d4621"/>
          <a:stretch xmlns:a="http://schemas.openxmlformats.org/drawingml/2006/main"/>
        </p:blipFill>
        <p:spPr>
          <a:xfrm xmlns:a="http://schemas.openxmlformats.org/drawingml/2006/main">
            <a:off x="924878" y="1181101"/>
            <a:ext cx="6579870" cy="4486275"/>
          </a:xfrm>
          <a:prstGeom xmlns:a="http://schemas.openxmlformats.org/drawingml/2006/main" prst="rect">
            <a:avLst/>
          </a:prstGeom>
        </p:spPr>
      </p:pic>
      <p:sp>
        <p:nvSpPr>
          <p:cNvPr id="9" name="scan-table">
            <a:extLst xmlns:a="http://schemas.openxmlformats.org/drawingml/2006/main">
              <a:ext uri="{FF2B5EF4-FFF2-40B4-BE49-F238E27FC236}">
                <a16:creationId xmlns:a16="http://schemas.microsoft.com/office/drawing/2014/main" id="{B690B6A6-A35B-4EFA-A6BD-EF554132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57300"/>
            <a:ext cx="26860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β = 0,3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γ = 0,1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T = 100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Шаг = 0,2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501 кадр</a:t>
            </a:r>
          </a:p>
        </p:txBody>
      </p:sp>
      <p:sp>
        <p:nvSpPr>
          <p:cNvPr id="10" name="scan-takeaway">
            <a:extLst xmlns:a="http://schemas.openxmlformats.org/drawingml/2006/main">
              <a:ext uri="{FF2B5EF4-FFF2-40B4-BE49-F238E27FC236}">
                <a16:creationId xmlns:a16="http://schemas.microsoft.com/office/drawing/2014/main" id="{8005A1C6-3D7F-4B44-8EF5-7DFA0DF1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00500"/>
            <a:ext cx="3124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Три столбца S/I/R.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Один масштаб оси.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GIF: 25 кадров/с.</a:t>
            </a:r>
          </a:p>
        </p:txBody>
      </p:sp>
    </p:spTree>
    <p:extLst>
      <p:ext uri="{BB962C8B-B14F-4D97-AF65-F5344CB8AC3E}">
        <p14:creationId xmlns:p14="http://schemas.microsoft.com/office/powerpoint/2010/main" val="15753328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band">
            <a:extLst xmlns:a="http://schemas.openxmlformats.org/drawingml/2006/main">
              <a:ext uri="{FF2B5EF4-FFF2-40B4-BE49-F238E27FC236}">
                <a16:creationId xmlns:a16="http://schemas.microsoft.com/office/drawing/2014/main" id="{AF2585DF-AC5B-4323-9E8D-F5DD6ADE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961FBD9-A3D3-4B4D-8148-6A8EA058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1B50FA-2F33-49D5-92A3-2006E35C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Анализ читает CSV, не запускает модель повторно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624C76B-A866-4FC3-BD4F-676A5F42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ccfc63eb64059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F359995-F295-4F48-BFC9-5FDCEDF7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6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18B0D7C-16CB-40EC-970C-B3565A5F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17675eb3a4028"/>
          <a:stretch xmlns:a="http://schemas.openxmlformats.org/drawingml/2006/main"/>
        </p:blipFill>
        <p:spPr>
          <a:xfrm xmlns:a="http://schemas.openxmlformats.org/drawingml/2006/main">
            <a:off x="664964" y="1663222"/>
            <a:ext cx="5089922" cy="3007681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4d406841f46be"/>
          <a:stretch xmlns:a="http://schemas.openxmlformats.org/drawingml/2006/main"/>
        </p:blipFill>
        <p:spPr>
          <a:xfrm xmlns:a="http://schemas.openxmlformats.org/drawingml/2006/main">
            <a:off x="6437114" y="1663222"/>
            <a:ext cx="5089922" cy="3007681"/>
          </a:xfrm>
          <a:prstGeom xmlns:a="http://schemas.openxmlformats.org/drawingml/2006/main" prst="rect">
            <a:avLst/>
          </a:prstGeom>
        </p:spPr>
      </p:pic>
      <p:sp>
        <p:nvSpPr>
          <p:cNvPr id="10" name="sir-label">
            <a:extLst xmlns:a="http://schemas.openxmlformats.org/drawingml/2006/main">
              <a:ext uri="{FF2B5EF4-FFF2-40B4-BE49-F238E27FC236}">
                <a16:creationId xmlns:a16="http://schemas.microsoft.com/office/drawing/2014/main" id="{2E8BCE43-1A01-4261-B5EA-2E52C715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RMSE I = 3,5954</a:t>
            </a:r>
          </a:p>
        </p:txBody>
      </p:sp>
      <p:sp>
        <p:nvSpPr>
          <p:cNvPr id="11" name="lv-label">
            <a:extLst xmlns:a="http://schemas.openxmlformats.org/drawingml/2006/main">
              <a:ext uri="{FF2B5EF4-FFF2-40B4-BE49-F238E27FC236}">
                <a16:creationId xmlns:a16="http://schemas.microsoft.com/office/drawing/2014/main" id="{9A8A30A9-3164-4FDB-BCBF-1144A379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410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Пик из sir_scan.csv</a:t>
            </a:r>
          </a:p>
        </p:txBody>
      </p:sp>
    </p:spTree>
    <p:extLst>
      <p:ext uri="{BB962C8B-B14F-4D97-AF65-F5344CB8AC3E}">
        <p14:creationId xmlns:p14="http://schemas.microsoft.com/office/powerpoint/2010/main" val="4138984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7EDC123F-A2A1-4A23-B400-58E76A7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15e3f35184295"/>
          <a:stretch xmlns:a="http://schemas.openxmlformats.org/drawingml/2006/main"/>
        </p:blipFill>
        <p:spPr>
          <a:xfrm xmlns:a="http://schemas.openxmlformats.org/drawingml/2006/main">
            <a:off x="742950" y="716689"/>
            <a:ext cx="781050" cy="662123"/>
          </a:xfrm>
          <a:prstGeom xmlns:a="http://schemas.openxmlformats.org/drawingml/2006/main" prst="rect">
            <a:avLst/>
          </a:prstGeom>
        </p:spPr>
      </p:pic>
      <p:sp>
        <p:nvSpPr>
          <p:cNvPr id="3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05B54D60-5BA6-4B1C-AA38-11674D7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39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Параметрические варианты</a:t>
            </a:r>
          </a:p>
        </p:txBody>
      </p:sp>
      <p:sp>
        <p:nvSpPr>
          <p:cNvPr id="4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A6F50DB3-5845-402B-875A-F3D9719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3360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clusions">
            <a:extLst xmlns:a="http://schemas.openxmlformats.org/drawingml/2006/main">
              <a:ext uri="{FF2B5EF4-FFF2-40B4-BE49-F238E27FC236}">
                <a16:creationId xmlns:a16="http://schemas.microsoft.com/office/drawing/2014/main" id="{80C76B1D-E492-4AF8-A98B-ACC10B4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89535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Девять сочетаний β и γ, по 20 повторов SSA.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45 точек сканирования и три дополнительные анимации.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Отдельный анализ сохранённых результатов.</a:t>
            </a:r>
          </a:p>
        </p:txBody>
      </p:sp>
      <p:sp>
        <p:nvSpPr>
          <p:cNvPr id="6" name="final">
            <a:extLst xmlns:a="http://schemas.openxmlformats.org/drawingml/2006/main">
              <a:ext uri="{FF2B5EF4-FFF2-40B4-BE49-F238E27FC236}">
                <a16:creationId xmlns:a16="http://schemas.microsoft.com/office/drawing/2014/main" id="{FCC7524D-04B4-4E2B-BB4A-218A72D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24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5A9D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5A9D3"/>
                </a:solidFill>
                <a:latin typeface="Calibri"/>
                <a:ea typeface="Calibri"/>
                <a:cs typeface="Calibri"/>
              </a:rPr>
              <a:t>Лабораторная работа № 6</a:t>
            </a:r>
          </a:p>
        </p:txBody>
      </p:sp>
    </p:spTree>
    <p:extLst>
      <p:ext uri="{BB962C8B-B14F-4D97-AF65-F5344CB8AC3E}">
        <p14:creationId xmlns:p14="http://schemas.microsoft.com/office/powerpoint/2010/main" val="5095397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band">
            <a:extLst xmlns:a="http://schemas.openxmlformats.org/drawingml/2006/main">
              <a:ext uri="{FF2B5EF4-FFF2-40B4-BE49-F238E27FC236}">
                <a16:creationId xmlns:a16="http://schemas.microsoft.com/office/drawing/2014/main" id="{F74FD5CC-8C38-411D-852B-0B386649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04E7823-61B5-47C3-B669-C35B8872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DD099D-979B-4597-9650-C67ED027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180 SSA показывают средние пики и их разброс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DF46DE4-DC52-45DC-98B8-BF3E30BE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764c4df634db9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CA48063-C26A-4267-AF5D-F662627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6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3554BD-DC5A-4F9E-A33E-16ACB139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5c58af2124add"/>
          <a:stretch xmlns:a="http://schemas.openxmlformats.org/drawingml/2006/main"/>
        </p:blipFill>
        <p:spPr>
          <a:xfrm xmlns:a="http://schemas.openxmlformats.org/drawingml/2006/main">
            <a:off x="629073" y="1294352"/>
            <a:ext cx="7257203" cy="4288347"/>
          </a:xfrm>
          <a:prstGeom xmlns:a="http://schemas.openxmlformats.org/drawingml/2006/main" prst="rect">
            <a:avLst/>
          </a:prstGeom>
        </p:spPr>
      </p:pic>
      <p:sp>
        <p:nvSpPr>
          <p:cNvPr id="9" name="imax-bg">
            <a:extLst xmlns:a="http://schemas.openxmlformats.org/drawingml/2006/main">
              <a:ext uri="{FF2B5EF4-FFF2-40B4-BE49-F238E27FC236}">
                <a16:creationId xmlns:a16="http://schemas.microsoft.com/office/drawing/2014/main" id="{23FB6D0B-5E2B-4B1C-B750-E19EAA83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049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0" name="imax-value">
            <a:extLst xmlns:a="http://schemas.openxmlformats.org/drawingml/2006/main">
              <a:ext uri="{FF2B5EF4-FFF2-40B4-BE49-F238E27FC236}">
                <a16:creationId xmlns:a16="http://schemas.microsoft.com/office/drawing/2014/main" id="{B29A502F-6BBC-4C15-80AF-7B56141F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3B4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83B45"/>
                </a:solidFill>
                <a:latin typeface="Calibri"/>
                <a:ea typeface="Calibri"/>
                <a:cs typeface="Calibri"/>
              </a:rPr>
              <a:t>9 × 20</a:t>
            </a:r>
          </a:p>
        </p:txBody>
      </p:sp>
      <p:sp>
        <p:nvSpPr>
          <p:cNvPr id="11" name="imax-caption">
            <a:extLst xmlns:a="http://schemas.openxmlformats.org/drawingml/2006/main">
              <a:ext uri="{FF2B5EF4-FFF2-40B4-BE49-F238E27FC236}">
                <a16:creationId xmlns:a16="http://schemas.microsoft.com/office/drawing/2014/main" id="{EAFCEBFD-3EED-4A83-91F8-2D01A6C5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383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сочетания × повторы</a:t>
            </a:r>
          </a:p>
        </p:txBody>
      </p:sp>
      <p:sp>
        <p:nvSpPr>
          <p:cNvPr id="12" name="tpeak-bg">
            <a:extLst xmlns:a="http://schemas.openxmlformats.org/drawingml/2006/main">
              <a:ext uri="{FF2B5EF4-FFF2-40B4-BE49-F238E27FC236}">
                <a16:creationId xmlns:a16="http://schemas.microsoft.com/office/drawing/2014/main" id="{CB68471B-DC2C-40D6-8738-71969ACC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3" name="tpeak-value">
            <a:extLst xmlns:a="http://schemas.openxmlformats.org/drawingml/2006/main">
              <a:ext uri="{FF2B5EF4-FFF2-40B4-BE49-F238E27FC236}">
                <a16:creationId xmlns:a16="http://schemas.microsoft.com/office/drawing/2014/main" id="{C9732CBD-5B35-4487-81E3-94F91DA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180</a:t>
            </a:r>
          </a:p>
        </p:txBody>
      </p:sp>
      <p:sp>
        <p:nvSpPr>
          <p:cNvPr id="14" name="tpeak-caption">
            <a:extLst xmlns:a="http://schemas.openxmlformats.org/drawingml/2006/main">
              <a:ext uri="{FF2B5EF4-FFF2-40B4-BE49-F238E27FC236}">
                <a16:creationId xmlns:a16="http://schemas.microsoft.com/office/drawing/2014/main" id="{6422106B-D159-415D-9E44-6C792AC7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разных seed</a:t>
            </a:r>
          </a:p>
        </p:txBody>
      </p:sp>
      <p:sp>
        <p:nvSpPr>
          <p:cNvPr id="15" name="rend-bg">
            <a:extLst xmlns:a="http://schemas.openxmlformats.org/drawingml/2006/main">
              <a:ext uri="{FF2B5EF4-FFF2-40B4-BE49-F238E27FC236}">
                <a16:creationId xmlns:a16="http://schemas.microsoft.com/office/drawing/2014/main" id="{04381D42-5BF5-4983-B4EB-47C62156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6" name="rend-value">
            <a:extLst xmlns:a="http://schemas.openxmlformats.org/drawingml/2006/main">
              <a:ext uri="{FF2B5EF4-FFF2-40B4-BE49-F238E27FC236}">
                <a16:creationId xmlns:a16="http://schemas.microsoft.com/office/drawing/2014/main" id="{EC23F540-774E-44A3-BED8-2FFF4B94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242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D8A5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D8A5B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7" name="rend-caption">
            <a:extLst xmlns:a="http://schemas.openxmlformats.org/drawingml/2006/main">
              <a:ext uri="{FF2B5EF4-FFF2-40B4-BE49-F238E27FC236}">
                <a16:creationId xmlns:a16="http://schemas.microsoft.com/office/drawing/2014/main" id="{BA2CD5D3-B265-4D73-B512-FE1B1471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ошибка сохранения численности</a:t>
            </a:r>
          </a:p>
        </p:txBody>
      </p:sp>
      <p:sp>
        <p:nvSpPr>
          <p:cNvPr id="18" name="drift">
            <a:extLst xmlns:a="http://schemas.openxmlformats.org/drawingml/2006/main">
              <a:ext uri="{FF2B5EF4-FFF2-40B4-BE49-F238E27FC236}">
                <a16:creationId xmlns:a16="http://schemas.microsoft.com/office/drawing/2014/main" id="{5C0C9BC5-8FBE-41DE-AA12-9933C1D6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Отрезки: ±σ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(стандартное отклонение)</a:t>
            </a:r>
          </a:p>
        </p:txBody>
      </p:sp>
    </p:spTree>
    <p:extLst>
      <p:ext uri="{BB962C8B-B14F-4D97-AF65-F5344CB8AC3E}">
        <p14:creationId xmlns:p14="http://schemas.microsoft.com/office/powerpoint/2010/main" val="15480199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B71F5F6-248A-493A-BFF4-DB5B4A22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BB5CB7FF-FF77-40E6-A4F7-D6586C90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042EA1-0509-47F7-86ED-55527639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Две оценки пика на сетке из 45 опытов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0DFCD4F-FB53-4C73-8295-9DB007AE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67e2e93d64bb3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7E8B0EB-4DA1-4111-8E40-6CB1D9B0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6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622E43-05B3-40DE-ABF3-C0322559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3e523b12c4c76"/>
          <a:stretch xmlns:a="http://schemas.openxmlformats.org/drawingml/2006/main"/>
        </p:blipFill>
        <p:spPr>
          <a:xfrm xmlns:a="http://schemas.openxmlformats.org/drawingml/2006/main">
            <a:off x="476250" y="1741885"/>
            <a:ext cx="7477125" cy="3364706"/>
          </a:xfrm>
          <a:prstGeom xmlns:a="http://schemas.openxmlformats.org/drawingml/2006/main" prst="rect">
            <a:avLst/>
          </a:prstGeom>
        </p:spPr>
      </p:pic>
      <p:sp>
        <p:nvSpPr>
          <p:cNvPr id="9" name="scan-table">
            <a:extLst xmlns:a="http://schemas.openxmlformats.org/drawingml/2006/main">
              <a:ext uri="{FF2B5EF4-FFF2-40B4-BE49-F238E27FC236}">
                <a16:creationId xmlns:a16="http://schemas.microsoft.com/office/drawing/2014/main" id="{B690B6A6-A35B-4EFA-A6BD-EF554132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57300"/>
            <a:ext cx="26860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β = 0,1 … 0,8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Шаг β = 0,05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γ = 0,05;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0,1; 0,2</a:t>
            </a:r>
          </a:p>
        </p:txBody>
      </p:sp>
      <p:sp>
        <p:nvSpPr>
          <p:cNvPr id="10" name="scan-takeaway">
            <a:extLst xmlns:a="http://schemas.openxmlformats.org/drawingml/2006/main">
              <a:ext uri="{FF2B5EF4-FFF2-40B4-BE49-F238E27FC236}">
                <a16:creationId xmlns:a16="http://schemas.microsoft.com/office/drawing/2014/main" id="{8005A1C6-3D7F-4B44-8EF5-7DFA0DF1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00500"/>
            <a:ext cx="3124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Исходная сетка 0,5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и уточнение экстремума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сохранены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5753328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8421A46-F9BD-480F-B275-C23896D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0627352-F663-4A2E-9B7B-12B403F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DEB88-7101-47B0-B748-A400397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Три параметрические анимации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DEA9B6-8955-4F09-B9FA-546DA39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ddd6e26ad4246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1B547B-6312-422F-97B9-B812308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6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D149F8-2B2A-45C2-ACB2-B531EF4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867F2279-946D-4402-B6C9-E80BAE1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Сравниваются β = 0,1; 0,3; 0,8 при одинаковом γ = 0,1.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0B205D5C-F4E6-46EE-8BE3-E1E85CA2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s">
            <a:extLst xmlns:a="http://schemas.openxmlformats.org/drawingml/2006/main">
              <a:ext uri="{FF2B5EF4-FFF2-40B4-BE49-F238E27FC236}">
                <a16:creationId xmlns:a16="http://schemas.microsoft.com/office/drawing/2014/main" id="{D0B8600E-8057-4E67-AFD8-8FFEDC5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620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T = 100 и шаг 0,2 сохранены во всех вариантах;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каждая GIF содержит 501 кадр — всего 1503;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три состояния и диапазон оси не меняются;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маркировки сохранены в CSV вместе со сводкой;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раннюю вспышку дополняет отдельный подробный график.</a:t>
            </a:r>
          </a:p>
        </p:txBody>
      </p:sp>
    </p:spTree>
    <p:extLst>
      <p:ext uri="{BB962C8B-B14F-4D97-AF65-F5344CB8AC3E}">
        <p14:creationId xmlns:p14="http://schemas.microsoft.com/office/powerpoint/2010/main" val="18991728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B71F5F6-248A-493A-BFF4-DB5B4A22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BB5CB7FF-FF77-40E6-A4F7-D6586C90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042EA1-0509-47F7-86ED-55527639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Сравнение статистики SSA и уточнённых пиков ОДУ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0DFCD4F-FB53-4C73-8295-9DB007AE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19e06051247a4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7E8B0EB-4DA1-4111-8E40-6CB1D9B0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6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622E43-05B3-40DE-ABF3-C0322559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f107db9d548b9"/>
          <a:stretch xmlns:a="http://schemas.openxmlformats.org/drawingml/2006/main"/>
        </p:blipFill>
        <p:spPr>
          <a:xfrm xmlns:a="http://schemas.openxmlformats.org/drawingml/2006/main">
            <a:off x="476250" y="1710731"/>
            <a:ext cx="7477125" cy="3427016"/>
          </a:xfrm>
          <a:prstGeom xmlns:a="http://schemas.openxmlformats.org/drawingml/2006/main" prst="rect">
            <a:avLst/>
          </a:prstGeom>
        </p:spPr>
      </p:pic>
      <p:sp>
        <p:nvSpPr>
          <p:cNvPr id="9" name="scan-table">
            <a:extLst xmlns:a="http://schemas.openxmlformats.org/drawingml/2006/main">
              <a:ext uri="{FF2B5EF4-FFF2-40B4-BE49-F238E27FC236}">
                <a16:creationId xmlns:a16="http://schemas.microsoft.com/office/drawing/2014/main" id="{B690B6A6-A35B-4EFA-A6BD-EF554132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57300"/>
            <a:ext cx="26860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Пять входных CSV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9 сочетаний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180 повторов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45 точек сетки</a:t>
            </a:r>
          </a:p>
        </p:txBody>
      </p:sp>
      <p:sp>
        <p:nvSpPr>
          <p:cNvPr id="10" name="scan-takeaway">
            <a:extLst xmlns:a="http://schemas.openxmlformats.org/drawingml/2006/main">
              <a:ext uri="{FF2B5EF4-FFF2-40B4-BE49-F238E27FC236}">
                <a16:creationId xmlns:a16="http://schemas.microsoft.com/office/drawing/2014/main" id="{8005A1C6-3D7F-4B44-8EF5-7DFA0DF1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00500"/>
            <a:ext cx="3124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При γ = 0,05 к T = 100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ещё остаются заражённые.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N при этом сохраняется.</a:t>
            </a:r>
          </a:p>
        </p:txBody>
      </p:sp>
    </p:spTree>
    <p:extLst>
      <p:ext uri="{BB962C8B-B14F-4D97-AF65-F5344CB8AC3E}">
        <p14:creationId xmlns:p14="http://schemas.microsoft.com/office/powerpoint/2010/main" val="15753328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F6DA7DFC-D303-45C7-932C-2B94A3AE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E13BE153-F224-4FFB-A6F8-60B72D8F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8A92CE-6E00-4040-9EA3-57F7709C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Восемь блокнотов содержат реальные результаты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FAC0AB2-F232-4224-990D-03B69F9F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b4f317a9e4ac2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F67D68B-5FBC-4A0B-927B-439ED043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6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6334E4-9415-4008-9646-364F276B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14217f7774ba1"/>
          <a:stretch xmlns:a="http://schemas.openxmlformats.org/drawingml/2006/main"/>
        </p:blipFill>
        <p:spPr>
          <a:xfrm xmlns:a="http://schemas.openxmlformats.org/drawingml/2006/main">
            <a:off x="552450" y="1267420"/>
            <a:ext cx="7143749" cy="4018359"/>
          </a:xfrm>
          <a:prstGeom xmlns:a="http://schemas.openxmlformats.org/drawingml/2006/main" prst="rect">
            <a:avLst/>
          </a:prstGeom>
        </p:spPr>
      </p:pic>
      <p:sp>
        <p:nvSpPr>
          <p:cNvPr id="9" name="pipeline">
            <a:extLst xmlns:a="http://schemas.openxmlformats.org/drawingml/2006/main">
              <a:ext uri="{FF2B5EF4-FFF2-40B4-BE49-F238E27FC236}">
                <a16:creationId xmlns:a16="http://schemas.microsoft.com/office/drawing/2014/main" id="{A132DAB6-9E24-4B67-8EEE-3D0F2420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6680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Julia → Literate →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QMD и IPYNB</a:t>
            </a:r>
          </a:p>
        </p:txBody>
      </p:sp>
      <p:sp>
        <p:nvSpPr>
          <p:cNvPr id="10" name="versions">
            <a:extLst xmlns:a="http://schemas.openxmlformats.org/drawingml/2006/main">
              <a:ext uri="{FF2B5EF4-FFF2-40B4-BE49-F238E27FC236}">
                <a16:creationId xmlns:a16="http://schemas.microsoft.com/office/drawing/2014/main" id="{A0225854-4DE9-4CAF-B50B-6816A356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31051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Все ячейки выполнены.</a:t>
            </a:r>
          </a:p>
          <a:p xmlns:a="http://schemas.openxmlformats.org/drawingml/2006/main">
            <a:pPr algn="l">
              <a:buNone/>
              <a:defRPr sz="165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Таблицы, графики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и GIF сохранены.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Восемь QMD-фрагментов</a:t>
            </a:r>
          </a:p>
          <a:p xmlns:a="http://schemas.openxmlformats.org/drawingml/2006/main">
            <a:pPr algn="l">
              <a:buNone/>
              <a:defRPr sz="165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включены по ходу отчёта.</a:t>
            </a:r>
          </a:p>
        </p:txBody>
      </p:sp>
    </p:spTree>
    <p:extLst>
      <p:ext uri="{BB962C8B-B14F-4D97-AF65-F5344CB8AC3E}">
        <p14:creationId xmlns:p14="http://schemas.microsoft.com/office/powerpoint/2010/main" val="12214848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8421A46-F9BD-480F-B275-C23896D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0627352-F663-4A2E-9B7B-12B403F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DEB88-7101-47B0-B748-A400397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Проверки и исправления примера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DEA9B6-8955-4F09-B9FA-546DA39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1affe1804495c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1B547B-6312-422F-97B9-B812308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6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D149F8-2B2A-45C2-ACB2-B531EF4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867F2279-946D-4402-B6C9-E80BAE1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42 теста пройдены; содержание сверено с главой 6, стр. 191–207.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0B205D5C-F4E6-46EE-8BE3-E1E85CA2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s">
            <a:extLst xmlns:a="http://schemas.openxmlformats.org/drawingml/2006/main">
              <a:ext uri="{FF2B5EF4-FFF2-40B4-BE49-F238E27FC236}">
                <a16:creationId xmlns:a16="http://schemas.microsoft.com/office/drawing/2014/main" id="{D0B8600E-8057-4E67-AFD8-8FFEDC5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620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сохранение N, целочисленность SSA, допустимые переходы;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пик ОДУ проверен аналитическим соотношением;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времена событий SSA не подменены сеткой ОДУ;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βSI сохранён: при β = 0,1 эпидемия всё ещё развивается;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ошибочный повтор сканирования заменён требуемой анимацией.</a:t>
            </a:r>
          </a:p>
        </p:txBody>
      </p:sp>
    </p:spTree>
    <p:extLst>
      <p:ext uri="{BB962C8B-B14F-4D97-AF65-F5344CB8AC3E}">
        <p14:creationId xmlns:p14="http://schemas.microsoft.com/office/powerpoint/2010/main" val="18991728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7EDC123F-A2A1-4A23-B400-58E76A7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8b6d88ca64d06"/>
          <a:stretch xmlns:a="http://schemas.openxmlformats.org/drawingml/2006/main"/>
        </p:blipFill>
        <p:spPr>
          <a:xfrm xmlns:a="http://schemas.openxmlformats.org/drawingml/2006/main">
            <a:off x="742950" y="716689"/>
            <a:ext cx="781050" cy="662123"/>
          </a:xfrm>
          <a:prstGeom xmlns:a="http://schemas.openxmlformats.org/drawingml/2006/main" prst="rect">
            <a:avLst/>
          </a:prstGeom>
        </p:spPr>
      </p:pic>
      <p:sp>
        <p:nvSpPr>
          <p:cNvPr id="3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05B54D60-5BA6-4B1C-AA38-11674D7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39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Выводы</a:t>
            </a:r>
          </a:p>
        </p:txBody>
      </p:sp>
      <p:sp>
        <p:nvSpPr>
          <p:cNvPr id="4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A6F50DB3-5845-402B-875A-F3D9719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3360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clusions">
            <a:extLst xmlns:a="http://schemas.openxmlformats.org/drawingml/2006/main">
              <a:ext uri="{FF2B5EF4-FFF2-40B4-BE49-F238E27FC236}">
                <a16:creationId xmlns:a16="http://schemas.microsoft.com/office/drawing/2014/main" id="{80C76B1D-E492-4AF8-A98B-ACC10B4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89535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Одна сеть задаёт ОДУ и дискретные события SSA.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Выполнены четыре основных и четыре параметрических сценария.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N = 1000 сохраняется; результаты и исходники согласованы.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Шаг наблюдений 0,5 скрывает истинный ранний максимум.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Условия модели и исправления примера описаны явно.</a:t>
            </a:r>
          </a:p>
        </p:txBody>
      </p:sp>
      <p:sp>
        <p:nvSpPr>
          <p:cNvPr id="6" name="final">
            <a:extLst xmlns:a="http://schemas.openxmlformats.org/drawingml/2006/main">
              <a:ext uri="{FF2B5EF4-FFF2-40B4-BE49-F238E27FC236}">
                <a16:creationId xmlns:a16="http://schemas.microsoft.com/office/drawing/2014/main" id="{FCC7524D-04B4-4E2B-BB4A-218A72D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24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5A9D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5A9D3"/>
                </a:solidFill>
                <a:latin typeface="Calibri"/>
                <a:ea typeface="Calibri"/>
                <a:cs typeface="Calibri"/>
              </a:rPr>
              <a:t>Лабораторная работа № 6</a:t>
            </a:r>
          </a:p>
        </p:txBody>
      </p:sp>
    </p:spTree>
    <p:extLst>
      <p:ext uri="{BB962C8B-B14F-4D97-AF65-F5344CB8AC3E}">
        <p14:creationId xmlns:p14="http://schemas.microsoft.com/office/powerpoint/2010/main" val="509539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2026-08-31T17:45:45.5140000Z</dcterms:created>
  <dcterms:modified xsi:type="dcterms:W3CDTF">2026-08-31T17:45:45.5140000Z</dcterms:modified>
</coreProperties>
</file>