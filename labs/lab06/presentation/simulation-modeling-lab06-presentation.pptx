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d3f9fa0f24452b" /><Relationship Type="http://schemas.openxmlformats.org/officeDocument/2006/relationships/extended-properties" Target="/docProps/app.xml" Id="R512124030bb849d9" /><Relationship Type="http://schemas.openxmlformats.org/officeDocument/2006/relationships/officeDocument" Target="/ppt/presentation.xml" Id="Rc5e3b6f90eb74d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320a86a7d941cc"/>
  </p:sldMasterIdLst>
  <p:notesMasterIdLst>
    <p:notesMasterId xmlns:r="http://schemas.openxmlformats.org/officeDocument/2006/relationships" r:id="R396e57d2986f47cd"/>
  </p:notesMasterIdLst>
  <p:sldIdLst>
    <p:sldId xmlns:r="http://schemas.openxmlformats.org/officeDocument/2006/relationships" id="256" r:id="R9ac858bc0f2c4515"/>
    <p:sldId xmlns:r="http://schemas.openxmlformats.org/officeDocument/2006/relationships" id="257" r:id="R689ea2dc67154141"/>
    <p:sldId xmlns:r="http://schemas.openxmlformats.org/officeDocument/2006/relationships" id="258" r:id="Rbf38b5e2079047c3"/>
    <p:sldId xmlns:r="http://schemas.openxmlformats.org/officeDocument/2006/relationships" id="259" r:id="R1bb7c24bad1e4408"/>
    <p:sldId xmlns:r="http://schemas.openxmlformats.org/officeDocument/2006/relationships" id="260" r:id="R6e51f8fa87d24e37"/>
    <p:sldId xmlns:r="http://schemas.openxmlformats.org/officeDocument/2006/relationships" id="261" r:id="R02815a83a0bc4b13"/>
    <p:sldId xmlns:r="http://schemas.openxmlformats.org/officeDocument/2006/relationships" id="262" r:id="R58fc1e92f9014d31"/>
    <p:sldId xmlns:r="http://schemas.openxmlformats.org/officeDocument/2006/relationships" id="263" r:id="Rba56fbd4def94f32"/>
    <p:sldId xmlns:r="http://schemas.openxmlformats.org/officeDocument/2006/relationships" id="264" r:id="R98ffebafeb6248dc"/>
    <p:sldId xmlns:r="http://schemas.openxmlformats.org/officeDocument/2006/relationships" id="265" r:id="R5d388dc96b8649f3"/>
    <p:sldId xmlns:r="http://schemas.openxmlformats.org/officeDocument/2006/relationships" id="266" r:id="R7d53d2690e0d4a64"/>
    <p:sldId xmlns:r="http://schemas.openxmlformats.org/officeDocument/2006/relationships" id="267" r:id="R101092521cb14a9e"/>
    <p:sldId xmlns:r="http://schemas.openxmlformats.org/officeDocument/2006/relationships" id="268" r:id="R0c8f2691db6e4c56"/>
    <p:sldId xmlns:r="http://schemas.openxmlformats.org/officeDocument/2006/relationships" id="269" r:id="R3d6856dc8bbc4ca0"/>
    <p:sldId xmlns:r="http://schemas.openxmlformats.org/officeDocument/2006/relationships" id="270" r:id="Ra13314fcb3d948c0"/>
    <p:sldId xmlns:r="http://schemas.openxmlformats.org/officeDocument/2006/relationships" id="271" r:id="Rdeafa39184b44817"/>
    <p:sldId xmlns:r="http://schemas.openxmlformats.org/officeDocument/2006/relationships" id="272" r:id="Rc88c6170773b4445"/>
    <p:sldId xmlns:r="http://schemas.openxmlformats.org/officeDocument/2006/relationships" id="273" r:id="R91c4e74996684001"/>
    <p:sldId xmlns:r="http://schemas.openxmlformats.org/officeDocument/2006/relationships" id="274" r:id="Rba75cd7ca8d644bb"/>
    <p:sldId xmlns:r="http://schemas.openxmlformats.org/officeDocument/2006/relationships" id="275" r:id="R822e02206aac4db0"/>
    <p:sldId xmlns:r="http://schemas.openxmlformats.org/officeDocument/2006/relationships" id="276" r:id="R267b679d8f0d4a7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8941c35d134e25" /><Relationship Type="http://schemas.openxmlformats.org/officeDocument/2006/relationships/slideMaster" Target="/ppt/slideMasters/slideMaster1.xml" Id="Rd5320a86a7d941cc" /><Relationship Type="http://schemas.openxmlformats.org/officeDocument/2006/relationships/notesMaster" Target="/ppt/notesMasters/notesMaster1.xml" Id="R396e57d2986f47cd" /><Relationship Type="http://schemas.openxmlformats.org/officeDocument/2006/relationships/presProps" Target="/ppt/presProps.xml" Id="Rd88d0146938546e5" /><Relationship Type="http://schemas.openxmlformats.org/officeDocument/2006/relationships/tableStyles" Target="/ppt/tableStyles.xml" Id="Rc2d0f0c29c4544f0" /><Relationship Type="http://schemas.openxmlformats.org/officeDocument/2006/relationships/slide" Target="/ppt/slides/slide1.xml" Id="R9ac858bc0f2c4515" /><Relationship Type="http://schemas.openxmlformats.org/officeDocument/2006/relationships/slide" Target="/ppt/slides/slide2.xml" Id="R689ea2dc67154141" /><Relationship Type="http://schemas.openxmlformats.org/officeDocument/2006/relationships/slide" Target="/ppt/slides/slide3.xml" Id="Rbf38b5e2079047c3" /><Relationship Type="http://schemas.openxmlformats.org/officeDocument/2006/relationships/slide" Target="/ppt/slides/slide4.xml" Id="R1bb7c24bad1e4408" /><Relationship Type="http://schemas.openxmlformats.org/officeDocument/2006/relationships/slide" Target="/ppt/slides/slide5.xml" Id="R6e51f8fa87d24e37" /><Relationship Type="http://schemas.openxmlformats.org/officeDocument/2006/relationships/slide" Target="/ppt/slides/slide6.xml" Id="R02815a83a0bc4b13" /><Relationship Type="http://schemas.openxmlformats.org/officeDocument/2006/relationships/slide" Target="/ppt/slides/slide7.xml" Id="R58fc1e92f9014d31" /><Relationship Type="http://schemas.openxmlformats.org/officeDocument/2006/relationships/slide" Target="/ppt/slides/slide8.xml" Id="Rba56fbd4def94f32" /><Relationship Type="http://schemas.openxmlformats.org/officeDocument/2006/relationships/slide" Target="/ppt/slides/slide9.xml" Id="R98ffebafeb6248dc" /><Relationship Type="http://schemas.openxmlformats.org/officeDocument/2006/relationships/slide" Target="/ppt/slides/slide10.xml" Id="R5d388dc96b8649f3" /><Relationship Type="http://schemas.openxmlformats.org/officeDocument/2006/relationships/slide" Target="/ppt/slides/slide11.xml" Id="R7d53d2690e0d4a64" /><Relationship Type="http://schemas.openxmlformats.org/officeDocument/2006/relationships/slide" Target="/ppt/slides/slide12.xml" Id="R101092521cb14a9e" /><Relationship Type="http://schemas.openxmlformats.org/officeDocument/2006/relationships/slide" Target="/ppt/slides/slide13.xml" Id="R0c8f2691db6e4c56" /><Relationship Type="http://schemas.openxmlformats.org/officeDocument/2006/relationships/slide" Target="/ppt/slides/slide14.xml" Id="R3d6856dc8bbc4ca0" /><Relationship Type="http://schemas.openxmlformats.org/officeDocument/2006/relationships/slide" Target="/ppt/slides/slide15.xml" Id="Ra13314fcb3d948c0" /><Relationship Type="http://schemas.openxmlformats.org/officeDocument/2006/relationships/slide" Target="/ppt/slides/slide16.xml" Id="Rdeafa39184b44817" /><Relationship Type="http://schemas.openxmlformats.org/officeDocument/2006/relationships/slide" Target="/ppt/slides/slide17.xml" Id="Rc88c6170773b4445" /><Relationship Type="http://schemas.openxmlformats.org/officeDocument/2006/relationships/slide" Target="/ppt/slides/slide18.xml" Id="R91c4e74996684001" /><Relationship Type="http://schemas.openxmlformats.org/officeDocument/2006/relationships/slide" Target="/ppt/slides/slide19.xml" Id="Rba75cd7ca8d644bb" /><Relationship Type="http://schemas.openxmlformats.org/officeDocument/2006/relationships/slide" Target="/ppt/slides/slide20.xml" Id="R822e02206aac4db0" /><Relationship Type="http://schemas.openxmlformats.org/officeDocument/2006/relationships/slide" Target="/ppt/slides/slide21.xml" Id="R267b679d8f0d4a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44249e0b9440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6f0ca251784df6" /><Relationship Type="http://schemas.openxmlformats.org/officeDocument/2006/relationships/notesMaster" Target="/ppt/notesMasters/notesMaster1.xml" Id="R717f09efb4434e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5b99302a2f4fb4" /><Relationship Type="http://schemas.openxmlformats.org/officeDocument/2006/relationships/notesMaster" Target="/ppt/notesMasters/notesMaster1.xml" Id="R459993f2e7654b8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94454f4cc747e1" /><Relationship Type="http://schemas.openxmlformats.org/officeDocument/2006/relationships/notesMaster" Target="/ppt/notesMasters/notesMaster1.xml" Id="Rb950955af9834a5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6c7fa2d0d4b441e" /><Relationship Type="http://schemas.openxmlformats.org/officeDocument/2006/relationships/notesMaster" Target="/ppt/notesMasters/notesMaster1.xml" Id="R10f20a2ec7f64b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497346043042e9" /><Relationship Type="http://schemas.openxmlformats.org/officeDocument/2006/relationships/notesMaster" Target="/ppt/notesMasters/notesMaster1.xml" Id="R3a24c286ebea4f0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ab97ae187c4882" /><Relationship Type="http://schemas.openxmlformats.org/officeDocument/2006/relationships/notesMaster" Target="/ppt/notesMasters/notesMaster1.xml" Id="R0e5f2d690a9d45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6acc0f82094226" /><Relationship Type="http://schemas.openxmlformats.org/officeDocument/2006/relationships/notesMaster" Target="/ppt/notesMasters/notesMaster1.xml" Id="R7b5d61ca9bef48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7ba6a24213143fd" /><Relationship Type="http://schemas.openxmlformats.org/officeDocument/2006/relationships/notesMaster" Target="/ppt/notesMasters/notesMaster1.xml" Id="Rfe21c581e94244d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b1584c97b04471" /><Relationship Type="http://schemas.openxmlformats.org/officeDocument/2006/relationships/notesMaster" Target="/ppt/notesMasters/notesMaster1.xml" Id="R1e2fd95ebf5b403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29acb1cdeb8475e" /><Relationship Type="http://schemas.openxmlformats.org/officeDocument/2006/relationships/notesMaster" Target="/ppt/notesMasters/notesMaster1.xml" Id="R2d8bcf48021f4b4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bac6ab74a1405c" /><Relationship Type="http://schemas.openxmlformats.org/officeDocument/2006/relationships/notesMaster" Target="/ppt/notesMasters/notesMaster1.xml" Id="Rd30edad912934dd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0d39b82f34147b1" /><Relationship Type="http://schemas.openxmlformats.org/officeDocument/2006/relationships/notesMaster" Target="/ppt/notesMasters/notesMaster1.xml" Id="R11cbbff614f94df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44e8652dabc487d" /><Relationship Type="http://schemas.openxmlformats.org/officeDocument/2006/relationships/notesMaster" Target="/ppt/notesMasters/notesMaster1.xml" Id="R9dd94e14cd184c7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c3a2a7678d841e0" /><Relationship Type="http://schemas.openxmlformats.org/officeDocument/2006/relationships/notesMaster" Target="/ppt/notesMasters/notesMaster1.xml" Id="Rb18d12472993423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cd73924774c415e" /><Relationship Type="http://schemas.openxmlformats.org/officeDocument/2006/relationships/notesMaster" Target="/ppt/notesMasters/notesMaster1.xml" Id="R54ba17cb228e4e9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7f0533adbff41c6" /><Relationship Type="http://schemas.openxmlformats.org/officeDocument/2006/relationships/notesMaster" Target="/ppt/notesMasters/notesMaster1.xml" Id="R27db2116ebb2482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9985f2128c845b4" /><Relationship Type="http://schemas.openxmlformats.org/officeDocument/2006/relationships/notesMaster" Target="/ppt/notesMasters/notesMaster1.xml" Id="Red3fb964be7140d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d8335c6f4cf4025" /><Relationship Type="http://schemas.openxmlformats.org/officeDocument/2006/relationships/notesMaster" Target="/ppt/notesMasters/notesMaster1.xml" Id="R2083d3dc8230495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986a8945ed442bc" /><Relationship Type="http://schemas.openxmlformats.org/officeDocument/2006/relationships/notesMaster" Target="/ppt/notesMasters/notesMaster1.xml" Id="Rc815eb8913a6491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7110980d17b4ea0" /><Relationship Type="http://schemas.openxmlformats.org/officeDocument/2006/relationships/notesMaster" Target="/ppt/notesMasters/notesMaster1.xml" Id="R2d43a5a0fc4e49d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7d856f4c5734477" /><Relationship Type="http://schemas.openxmlformats.org/officeDocument/2006/relationships/notesMaster" Target="/ppt/notesMasters/notesMaster1.xml" Id="R2cd47c7a64cc4d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- labs/lab06/image/01-plot.png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- labs/lab06/image/02-plot.png</a:t>
            </a:r>
          </a:p>
          <a:p xmlns:a="http://schemas.openxmlformats.org/drawingml/2006/main">
            <a:r>
              <a:t>- labs/lab06/image/03-plot.png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- labs/lab06/image/04-plot.png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- labs/lab06/image/05-plot.png</a:t>
            </a:r>
          </a:p>
          <a:p xmlns:a="http://schemas.openxmlformats.org/drawingml/2006/main">
            <a:r>
              <a:t>- labs/lab06/image/06-plot.png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- labs/lab06/image/07-plot.png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- labs/lab06/image/08-plot.png</a:t>
            </a:r>
          </a:p>
          <a:p xmlns:a="http://schemas.openxmlformats.org/drawingml/2006/main">
            <a:r>
              <a:t>- labs/lab06/image/09-plot.png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- labs/lab06/image/10-plot.png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- labs/lab06/image/11-plot.png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- labs/lab06/image/12-plot.png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- labs/lab06/image/01-jupyter.png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Глава 6 практикума А. В. Корольковой и Д. С. Кулябова, стр. 191–207. Закон βSI без деления на N. Базовые условия: 990/10/0, β=.3, γ=.1, T=100. Пик на сетке .5 не равен непрерывному максимуму. Все числа взяты из выполненных опытов.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labs/lab06/report/simulation-modeling-lab06-report.qmd</a:t>
            </a:r>
          </a:p>
          <a:p xmlns:a="http://schemas.openxmlformats.org/drawingml/2006/main">
            <a:r>
              <a:t>- labs/lab06/project/src/SIRPetri.jl</a:t>
            </a:r>
          </a:p>
          <a:p xmlns:a="http://schemas.openxmlformats.org/drawingml/2006/main">
            <a:r>
              <a:t>- labs/lab06/project/scripts</a:t>
            </a:r>
          </a:p>
          <a:p xmlns:a="http://schemas.openxmlformats.org/drawingml/2006/main">
            <a:r>
              <a:t>- labs/lab06/project/data</a:t>
            </a:r>
          </a:p>
          <a:p xmlns:a="http://schemas.openxmlformats.org/drawingml/2006/main">
            <a:r>
              <a:t>- labs/lab06/project/notebooks</a:t>
            </a:r>
          </a:p>
          <a:p xmlns:a="http://schemas.openxmlformats.org/drawingml/2006/main">
            <a:r>
              <a:t>- labs/lab06/project/test/runtests.jl</a:t>
            </a:r>
          </a:p>
          <a:p xmlns:a="http://schemas.openxmlformats.org/drawingml/2006/main">
            <a:r>
              <a:t>- labs/lab06/image/logo-rudn.png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4b5cb1036840b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0e83e35c87c4e2b" /><Relationship Type="http://schemas.openxmlformats.org/officeDocument/2006/relationships/slideLayout" Target="/ppt/slideLayouts/slideLayout1.xml" Id="R87e539e86b07420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e539e86b0742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1b342f6f2f4524" /><Relationship Type="http://schemas.openxmlformats.org/officeDocument/2006/relationships/image" Target="/ppt/media/image.png" Id="Rbffc2ce2be9f4870" /><Relationship Type="http://schemas.openxmlformats.org/officeDocument/2006/relationships/notesSlide" Target="/ppt/notesSlides/notesSlide1.xml" Id="R41a0fbe8b4e244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df492d0d14808" /><Relationship Type="http://schemas.openxmlformats.org/officeDocument/2006/relationships/image" Target="/ppt/media/image2.png" Id="R3fa5144979464514" /><Relationship Type="http://schemas.openxmlformats.org/officeDocument/2006/relationships/notesSlide" Target="/ppt/notesSlides/notesSlide2.xml" Id="R5459e134c4a747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e46a5e5eea4437" /><Relationship Type="http://schemas.openxmlformats.org/officeDocument/2006/relationships/image" Target="/ppt/media/image3.png" Id="R02a14726fc304937" /><Relationship Type="http://schemas.openxmlformats.org/officeDocument/2006/relationships/notesSlide" Target="/ppt/notesSlides/notesSlide3.xml" Id="R68226f15071846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4b610a58c149b6" /><Relationship Type="http://schemas.openxmlformats.org/officeDocument/2006/relationships/image" Target="/ppt/media/image4.png" Id="Rc6d797dff14b4925" /><Relationship Type="http://schemas.openxmlformats.org/officeDocument/2006/relationships/notesSlide" Target="/ppt/notesSlides/notesSlide4.xml" Id="R7c0253fb624d4b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c9c2518da14b16" /><Relationship Type="http://schemas.openxmlformats.org/officeDocument/2006/relationships/image" Target="/ppt/media/image5.png" Id="R8cb84e8a3ef141e7" /><Relationship Type="http://schemas.openxmlformats.org/officeDocument/2006/relationships/image" Target="/ppt/media/image6.png" Id="R08cb0faa292c433f" /><Relationship Type="http://schemas.openxmlformats.org/officeDocument/2006/relationships/notesSlide" Target="/ppt/notesSlides/notesSlide5.xml" Id="Rf25b990d2e314a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45995558744de" /><Relationship Type="http://schemas.openxmlformats.org/officeDocument/2006/relationships/image" Target="/ppt/media/image2.png" Id="R76209b852afe4d59" /><Relationship Type="http://schemas.openxmlformats.org/officeDocument/2006/relationships/notesSlide" Target="/ppt/notesSlides/notesSlide6.xml" Id="R15e2f9f6c00749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ddc52cece467c" /><Relationship Type="http://schemas.openxmlformats.org/officeDocument/2006/relationships/image" Target="/ppt/media/image3.png" Id="Re4f7ee9634544c3b" /><Relationship Type="http://schemas.openxmlformats.org/officeDocument/2006/relationships/notesSlide" Target="/ppt/notesSlides/notesSlide7.xml" Id="Ra08cd80f5d6246e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3dad9bdbef4f41" /><Relationship Type="http://schemas.openxmlformats.org/officeDocument/2006/relationships/image" Target="/ppt/media/image3.png" Id="R583b4e3c54444c0d" /><Relationship Type="http://schemas.openxmlformats.org/officeDocument/2006/relationships/notesSlide" Target="/ppt/notesSlides/notesSlide8.xml" Id="Rb6460f64e2c540c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8d01b1b8004685" /><Relationship Type="http://schemas.openxmlformats.org/officeDocument/2006/relationships/image" Target="/ppt/media/image7.png" Id="Rddfa4c31f71a464d" /><Relationship Type="http://schemas.openxmlformats.org/officeDocument/2006/relationships/image" Target="/ppt/media/image8.png" Id="R0396f5d228a749a8" /><Relationship Type="http://schemas.openxmlformats.org/officeDocument/2006/relationships/image" Target="/ppt/media/image9.png" Id="Rf6220c8d3a2a4bce" /><Relationship Type="http://schemas.openxmlformats.org/officeDocument/2006/relationships/notesSlide" Target="/ppt/notesSlides/notesSlide9.xml" Id="R2862633b659e47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61e8d51dd4d32" /><Relationship Type="http://schemas.openxmlformats.org/officeDocument/2006/relationships/image" Target="/ppt/media/image5.png" Id="Rb81092f53c32426d" /><Relationship Type="http://schemas.openxmlformats.org/officeDocument/2006/relationships/image" Target="/ppt/media/image10.png" Id="Rd0d0d26fbea74281" /><Relationship Type="http://schemas.openxmlformats.org/officeDocument/2006/relationships/notesSlide" Target="/ppt/notesSlides/notesSlide10.xml" Id="R41fed5ddd9574ea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81a6a1cd9a4396" /><Relationship Type="http://schemas.openxmlformats.org/officeDocument/2006/relationships/image" Target="/ppt/media/image7.png" Id="R452349cdfe6c4d10" /><Relationship Type="http://schemas.openxmlformats.org/officeDocument/2006/relationships/image" Target="/ppt/media/image11.png" Id="Rd5444ac386fe43c1" /><Relationship Type="http://schemas.openxmlformats.org/officeDocument/2006/relationships/image" Target="/ppt/media/image12.png" Id="R9e4a9dff9a334dcf" /><Relationship Type="http://schemas.openxmlformats.org/officeDocument/2006/relationships/notesSlide" Target="/ppt/notesSlides/notesSlide11.xml" Id="Raaa950401b47417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12e8840d71468b" /><Relationship Type="http://schemas.openxmlformats.org/officeDocument/2006/relationships/image" Target="/ppt/media/image13.png" Id="Ra7a31429ef47400b" /><Relationship Type="http://schemas.openxmlformats.org/officeDocument/2006/relationships/image" Target="/ppt/media/image14.png" Id="R24eac0a69b6b4eb7" /><Relationship Type="http://schemas.openxmlformats.org/officeDocument/2006/relationships/notesSlide" Target="/ppt/notesSlides/notesSlide12.xml" Id="Reb68a05620a14fe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909a0575984610" /><Relationship Type="http://schemas.openxmlformats.org/officeDocument/2006/relationships/image" Target="/ppt/media/image7.png" Id="Rdebaf8e7d56042e9" /><Relationship Type="http://schemas.openxmlformats.org/officeDocument/2006/relationships/image" Target="/ppt/media/image15.png" Id="R5f37df514649453e" /><Relationship Type="http://schemas.openxmlformats.org/officeDocument/2006/relationships/image" Target="/ppt/media/image16.png" Id="Re277463e30af48e8" /><Relationship Type="http://schemas.openxmlformats.org/officeDocument/2006/relationships/notesSlide" Target="/ppt/notesSlides/notesSlide13.xml" Id="R75507160160a4d2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446a4dc4a44414" /><Relationship Type="http://schemas.openxmlformats.org/officeDocument/2006/relationships/image" Target="/ppt/media/image2.png" Id="Rf887aa037ac24028" /><Relationship Type="http://schemas.openxmlformats.org/officeDocument/2006/relationships/notesSlide" Target="/ppt/notesSlides/notesSlide14.xml" Id="Re650102e1381402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cdd808ce7b4c88" /><Relationship Type="http://schemas.openxmlformats.org/officeDocument/2006/relationships/image" Target="/ppt/media/image5.png" Id="Rd9f487c661cd46bc" /><Relationship Type="http://schemas.openxmlformats.org/officeDocument/2006/relationships/image" Target="/ppt/media/image17.png" Id="Re7a89f5246dc4146" /><Relationship Type="http://schemas.openxmlformats.org/officeDocument/2006/relationships/notesSlide" Target="/ppt/notesSlides/notesSlide15.xml" Id="Rc2fbffcb20c7406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9ac3054c04b93" /><Relationship Type="http://schemas.openxmlformats.org/officeDocument/2006/relationships/image" Target="/ppt/media/image13.png" Id="Reecc31f539364eca" /><Relationship Type="http://schemas.openxmlformats.org/officeDocument/2006/relationships/image" Target="/ppt/media/image18.png" Id="Re8c9ba092e5e4a25" /><Relationship Type="http://schemas.openxmlformats.org/officeDocument/2006/relationships/notesSlide" Target="/ppt/notesSlides/notesSlide16.xml" Id="R15a83a956cd9453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0577f81f32414d" /><Relationship Type="http://schemas.openxmlformats.org/officeDocument/2006/relationships/image" Target="/ppt/media/image3.png" Id="Rc235da63e1f34c7e" /><Relationship Type="http://schemas.openxmlformats.org/officeDocument/2006/relationships/notesSlide" Target="/ppt/notesSlides/notesSlide17.xml" Id="Re0dff83c49a84a3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29b74caafd46b6" /><Relationship Type="http://schemas.openxmlformats.org/officeDocument/2006/relationships/image" Target="/ppt/media/image13.png" Id="R560e95f2e08f4971" /><Relationship Type="http://schemas.openxmlformats.org/officeDocument/2006/relationships/image" Target="/ppt/media/image19.png" Id="Rd08165804d03443b" /><Relationship Type="http://schemas.openxmlformats.org/officeDocument/2006/relationships/notesSlide" Target="/ppt/notesSlides/notesSlide18.xml" Id="Rf873875bae86492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046fe3cfa9405c" /><Relationship Type="http://schemas.openxmlformats.org/officeDocument/2006/relationships/image" Target="/ppt/media/image20.png" Id="R1c89cf64faa04674" /><Relationship Type="http://schemas.openxmlformats.org/officeDocument/2006/relationships/image" Target="/ppt/media/image.jpeg" Id="R66a302b102fe4adc" /><Relationship Type="http://schemas.openxmlformats.org/officeDocument/2006/relationships/notesSlide" Target="/ppt/notesSlides/notesSlide19.xml" Id="R3c3e6e80870a433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359ebae1ea4718" /><Relationship Type="http://schemas.openxmlformats.org/officeDocument/2006/relationships/image" Target="/ppt/media/image3.png" Id="Rc3650bff5c9a429b" /><Relationship Type="http://schemas.openxmlformats.org/officeDocument/2006/relationships/notesSlide" Target="/ppt/notesSlides/notesSlide20.xml" Id="Ra540e35db0134a5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db10249caa494c" /><Relationship Type="http://schemas.openxmlformats.org/officeDocument/2006/relationships/image" Target="/ppt/media/image2.png" Id="R380b401a78904c0c" /><Relationship Type="http://schemas.openxmlformats.org/officeDocument/2006/relationships/notesSlide" Target="/ppt/notesSlides/notesSlide21.xml" Id="R0f35a220fce848d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ft-band">
            <a:extLst xmlns:a="http://schemas.openxmlformats.org/drawingml/2006/main">
              <a:ext uri="{FF2B5EF4-FFF2-40B4-BE49-F238E27FC236}">
                <a16:creationId xmlns:a16="http://schemas.microsoft.com/office/drawing/2014/main" id="{3396A765-E720-4140-8F2A-9B2252C7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00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accent-band">
            <a:extLst xmlns:a="http://schemas.openxmlformats.org/drawingml/2006/main">
              <a:ext uri="{FF2B5EF4-FFF2-40B4-BE49-F238E27FC236}">
                <a16:creationId xmlns:a16="http://schemas.microsoft.com/office/drawing/2014/main" id="{F0AA6C92-D1C5-4BD3-9709-9C06392C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fc2ce2be9f4870"/>
          <a:stretch xmlns:a="http://schemas.openxmlformats.org/drawingml/2006/main"/>
        </p:blipFill>
        <p:spPr>
          <a:xfrm xmlns:a="http://schemas.openxmlformats.org/drawingml/2006/main">
            <a:off x="457200" y="560369"/>
            <a:ext cx="1104900" cy="936661"/>
          </a:xfrm>
          <a:prstGeom xmlns:a="http://schemas.openxmlformats.org/drawingml/2006/main" prst="rect">
            <a:avLst/>
          </a:prstGeom>
        </p:spPr>
      </p:pic>
      <p:sp>
        <p:nvSpPr>
          <p:cNvPr id="4" name="course">
            <a:extLst xmlns:a="http://schemas.openxmlformats.org/drawingml/2006/main">
              <a:ext uri="{FF2B5EF4-FFF2-40B4-BE49-F238E27FC236}">
                <a16:creationId xmlns:a16="http://schemas.microsoft.com/office/drawing/2014/main" id="{5F81805C-F6B2-4923-AA28-EDF4ED91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914400"/>
            <a:ext cx="847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EA5"/>
                </a:solidFill>
              </a:defRPr>
            </a:pPr>
            <a:r>
              <a:rPr sz="1350" b="1">
                <a:solidFill>
                  <a:srgbClr val="176EA5"/>
                </a:solidFill>
              </a:rPr>
              <a:t>ИМИТАЦИОННОЕ МОДЕЛИРОВАНИЕ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1045F79F-CBEE-46C7-8579-E321FAC8C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562100"/>
            <a:ext cx="857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36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36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Лабораторная работа № 6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35432B33-C963-45BE-9D52-7A35D6A1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4003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Реализация SIR в подходе сетей Петри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DDF11CD1-D867-493C-A776-41C0A6BC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9565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uthor">
            <a:extLst xmlns:a="http://schemas.openxmlformats.org/drawingml/2006/main">
              <a:ext uri="{FF2B5EF4-FFF2-40B4-BE49-F238E27FC236}">
                <a16:creationId xmlns:a16="http://schemas.microsoft.com/office/drawing/2014/main" id="{C9EE01F2-1E06-4D5F-B59A-782D6429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19500"/>
            <a:ext cx="609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</a:defRPr>
            </a:pPr>
            <a:r>
              <a:rPr sz="1725" b="0">
                <a:solidFill>
                  <a:srgbClr val="17232D"/>
                </a:solidFill>
              </a:rPr>
              <a:t>Куокконен Дарина Андреевна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</a:defRPr>
            </a:pPr>
            <a:r>
              <a:rPr sz="1725" b="0">
                <a:solidFill>
                  <a:srgbClr val="17232D"/>
                </a:solidFill>
              </a:rPr>
              <a:t>НФИбд-01-23</a:t>
            </a:r>
          </a:p>
        </p:txBody>
      </p:sp>
      <p:sp>
        <p:nvSpPr>
          <p:cNvPr id="9" name="university">
            <a:extLst xmlns:a="http://schemas.openxmlformats.org/drawingml/2006/main">
              <a:ext uri="{FF2B5EF4-FFF2-40B4-BE49-F238E27FC236}">
                <a16:creationId xmlns:a16="http://schemas.microsoft.com/office/drawing/2014/main" id="{1E145EEC-F5DF-4FF7-9082-F8E82222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067300"/>
            <a:ext cx="781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26675"/>
                </a:solidFill>
              </a:defRPr>
            </a:pPr>
            <a:r>
              <a:rPr sz="1350" b="0">
                <a:solidFill>
                  <a:srgbClr val="526675"/>
                </a:solidFill>
              </a:rPr>
              <a:t>Российский университет дружбы народов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26675"/>
                </a:solidFill>
              </a:defRPr>
            </a:pPr>
            <a:r>
              <a:rPr sz="1350" b="0">
                <a:solidFill>
                  <a:srgbClr val="526675"/>
                </a:solidFill>
              </a:rPr>
              <a:t>имени Патриса Лумумбы · Москва · 2026</a:t>
            </a:r>
          </a:p>
        </p:txBody>
      </p:sp>
    </p:spTree>
    <p:extLst>
      <p:ext uri="{BB962C8B-B14F-4D97-AF65-F5344CB8AC3E}">
        <p14:creationId xmlns:p14="http://schemas.microsoft.com/office/powerpoint/2010/main" val="18911247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477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ccent">
            <a:extLst xmlns:a="http://schemas.openxmlformats.org/drawingml/2006/main">
              <a:ext uri="{FF2B5EF4-FFF2-40B4-BE49-F238E27FC236}">
                <a16:creationId xmlns:a16="http://schemas.microsoft.com/office/drawing/2014/main" id="{7EDC123F-A2A1-4A23-B400-58E76A7A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144979464514"/>
          <a:stretch xmlns:a="http://schemas.openxmlformats.org/drawingml/2006/main"/>
        </p:blipFill>
        <p:spPr>
          <a:xfrm xmlns:a="http://schemas.openxmlformats.org/drawingml/2006/main">
            <a:off x="742950" y="716689"/>
            <a:ext cx="781050" cy="662123"/>
          </a:xfrm>
          <a:prstGeom xmlns:a="http://schemas.openxmlformats.org/drawingml/2006/main" prst="rect">
            <a:avLst/>
          </a:prstGeom>
        </p:spPr>
      </p:pic>
      <p:sp>
        <p:nvSpPr>
          <p:cNvPr id="3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05B54D60-5BA6-4B1C-AA38-11674D7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723900"/>
            <a:ext cx="885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Вводная часть</a:t>
            </a:r>
          </a:p>
        </p:txBody>
      </p:sp>
      <p:sp>
        <p:nvSpPr>
          <p:cNvPr id="4" name="conclusion-rule">
            <a:extLst xmlns:a="http://schemas.openxmlformats.org/drawingml/2006/main">
              <a:ext uri="{FF2B5EF4-FFF2-40B4-BE49-F238E27FC236}">
                <a16:creationId xmlns:a16="http://schemas.microsoft.com/office/drawing/2014/main" id="{A6F50DB3-5845-402B-875A-F3D97196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33600"/>
            <a:ext cx="628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nclusions">
            <a:extLst xmlns:a="http://schemas.openxmlformats.org/drawingml/2006/main">
              <a:ext uri="{FF2B5EF4-FFF2-40B4-BE49-F238E27FC236}">
                <a16:creationId xmlns:a16="http://schemas.microsoft.com/office/drawing/2014/main" id="{80C76B1D-E492-4AF8-A98B-ACC10B47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9535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Одна сеть — непрерывное и событийное исполнение.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Исследование заражения и выздоровления в замкнутой популяции.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Четыре основных сценария и их параметрические варианты.</a:t>
            </a:r>
          </a:p>
        </p:txBody>
      </p:sp>
      <p:sp>
        <p:nvSpPr>
          <p:cNvPr id="6" name="final">
            <a:extLst xmlns:a="http://schemas.openxmlformats.org/drawingml/2006/main">
              <a:ext uri="{FF2B5EF4-FFF2-40B4-BE49-F238E27FC236}">
                <a16:creationId xmlns:a16="http://schemas.microsoft.com/office/drawing/2014/main" id="{FCC7524D-04B4-4E2B-BB4A-218A72DF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24550"/>
            <a:ext cx="571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5A9D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35A9D3"/>
                </a:solidFill>
                <a:latin typeface="Calibri"/>
                <a:ea typeface="Calibri"/>
                <a:cs typeface="Calibri"/>
              </a:rPr>
              <a:t>Лабораторная работа № 6</a:t>
            </a:r>
          </a:p>
        </p:txBody>
      </p:sp>
    </p:spTree>
    <p:extLst>
      <p:ext uri="{BB962C8B-B14F-4D97-AF65-F5344CB8AC3E}">
        <p14:creationId xmlns:p14="http://schemas.microsoft.com/office/powerpoint/2010/main" val="5095397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8421A46-F9BD-480F-B275-C23896D5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90627352-F663-4A2E-9B7B-12B403F6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8DEB88-7101-47B0-B748-A400397B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Цель и задачи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CDEA9B6-8955-4F09-B9FA-546DA393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a14726fc304937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41B547B-6312-422F-97B9-B812308F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D149F8-2B2A-45C2-ACB2-B531EF4A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8" name="goal">
            <a:extLst xmlns:a="http://schemas.openxmlformats.org/drawingml/2006/main">
              <a:ext uri="{FF2B5EF4-FFF2-40B4-BE49-F238E27FC236}">
                <a16:creationId xmlns:a16="http://schemas.microsoft.com/office/drawing/2014/main" id="{867F2279-946D-4402-B6C9-E80BAE1B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334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Построить SIR как сеть Петри и сопоставить результаты ОДУ и SSA.</a:t>
            </a:r>
          </a:p>
        </p:txBody>
      </p:sp>
      <p:sp>
        <p:nvSpPr>
          <p:cNvPr id="9" name="left-rule">
            <a:extLst xmlns:a="http://schemas.openxmlformats.org/drawingml/2006/main">
              <a:ext uri="{FF2B5EF4-FFF2-40B4-BE49-F238E27FC236}">
                <a16:creationId xmlns:a16="http://schemas.microsoft.com/office/drawing/2014/main" id="{0B205D5C-F4E6-46EE-8BE3-E1E85CA2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571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asks">
            <a:extLst xmlns:a="http://schemas.openxmlformats.org/drawingml/2006/main">
              <a:ext uri="{FF2B5EF4-FFF2-40B4-BE49-F238E27FC236}">
                <a16:creationId xmlns:a16="http://schemas.microsoft.com/office/drawing/2014/main" id="{D0B8600E-8057-4E67-AFD8-8FFEDC55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9620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создать сеть с тремя позициями и двумя переходами;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выполнить базовый опыт, сканирование, анимацию и анализ CSV;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добавить параметры и стохастические повторы;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получить и выполнить все Julia-блокноты;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включить QMD-документацию в отчёт и проверить результаты.</a:t>
            </a:r>
          </a:p>
        </p:txBody>
      </p:sp>
    </p:spTree>
    <p:extLst>
      <p:ext uri="{BB962C8B-B14F-4D97-AF65-F5344CB8AC3E}">
        <p14:creationId xmlns:p14="http://schemas.microsoft.com/office/powerpoint/2010/main" val="18991728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op-band">
            <a:extLst xmlns:a="http://schemas.openxmlformats.org/drawingml/2006/main">
              <a:ext uri="{FF2B5EF4-FFF2-40B4-BE49-F238E27FC236}">
                <a16:creationId xmlns:a16="http://schemas.microsoft.com/office/drawing/2014/main" id="{3EEA6B23-AFB4-4427-A475-AEF5DDAE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730A9777-4FA0-429D-8228-411BC965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6A3BF7-966F-458F-B59D-CE4CCF98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Закон массового действия: без деления на N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1C91618-2B9A-40EC-9AA7-257BA9B7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d797dff14b4925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EAE11C7-4C12-40DF-87E8-6272C63C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DA091B3-20E5-4A17-8498-D902EADB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8" name="formula-bg">
            <a:extLst xmlns:a="http://schemas.openxmlformats.org/drawingml/2006/main">
              <a:ext uri="{FF2B5EF4-FFF2-40B4-BE49-F238E27FC236}">
                <a16:creationId xmlns:a16="http://schemas.microsoft.com/office/drawing/2014/main" id="{B1E9D04E-FA55-4CFF-8F43-F473404F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9650"/>
            <a:ext cx="5048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9" name="sir-formulas">
            <a:extLst xmlns:a="http://schemas.openxmlformats.org/drawingml/2006/main">
              <a:ext uri="{FF2B5EF4-FFF2-40B4-BE49-F238E27FC236}">
                <a16:creationId xmlns:a16="http://schemas.microsoft.com/office/drawing/2014/main" id="{E62C42B5-3244-41DB-8CEC-D1C06B6D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257300"/>
            <a:ext cx="433387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dS/dt = −βSI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dI/dt = βSI − γI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dR/dt = γI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S + I + R = 1000</a:t>
            </a:r>
          </a:p>
        </p:txBody>
      </p:sp>
      <p:sp>
        <p:nvSpPr>
          <p:cNvPr id="10" name="sir-meaning">
            <a:extLst xmlns:a="http://schemas.openxmlformats.org/drawingml/2006/main">
              <a:ext uri="{FF2B5EF4-FFF2-40B4-BE49-F238E27FC236}">
                <a16:creationId xmlns:a16="http://schemas.microsoft.com/office/drawing/2014/main" id="{41D19FF8-7068-4D04-B519-53E81611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81125"/>
            <a:ext cx="4762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Заражение: S + I → 2I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Выздоровление: I → 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Начало: S = 990, I = 10, R = 0</a:t>
            </a:r>
          </a:p>
        </p:txBody>
      </p:sp>
      <p:sp>
        <p:nvSpPr>
          <p:cNvPr id="11" name="r0-bg">
            <a:extLst xmlns:a="http://schemas.openxmlformats.org/drawingml/2006/main">
              <a:ext uri="{FF2B5EF4-FFF2-40B4-BE49-F238E27FC236}">
                <a16:creationId xmlns:a16="http://schemas.microsoft.com/office/drawing/2014/main" id="{DDA48782-AECC-4910-B9D2-3F299558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22098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2" name="r0-value">
            <a:extLst xmlns:a="http://schemas.openxmlformats.org/drawingml/2006/main">
              <a:ext uri="{FF2B5EF4-FFF2-40B4-BE49-F238E27FC236}">
                <a16:creationId xmlns:a16="http://schemas.microsoft.com/office/drawing/2014/main" id="{B18707AA-ED3C-4619-A9B6-DFF0176B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9580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0,3</a:t>
            </a:r>
          </a:p>
        </p:txBody>
      </p:sp>
      <p:sp>
        <p:nvSpPr>
          <p:cNvPr id="13" name="r0-caption">
            <a:extLst xmlns:a="http://schemas.openxmlformats.org/drawingml/2006/main">
              <a:ext uri="{FF2B5EF4-FFF2-40B4-BE49-F238E27FC236}">
                <a16:creationId xmlns:a16="http://schemas.microsoft.com/office/drawing/2014/main" id="{A58DA480-4E37-4926-931E-A697D701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339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базовый коэффициент β</a:t>
            </a:r>
          </a:p>
        </p:txBody>
      </p:sp>
      <p:sp>
        <p:nvSpPr>
          <p:cNvPr id="14" name="peak-bg">
            <a:extLst xmlns:a="http://schemas.openxmlformats.org/drawingml/2006/main">
              <a:ext uri="{FF2B5EF4-FFF2-40B4-BE49-F238E27FC236}">
                <a16:creationId xmlns:a16="http://schemas.microsoft.com/office/drawing/2014/main" id="{057DFCE5-9E6A-4EC5-AF80-3D23DC91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400550"/>
            <a:ext cx="22098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5" name="peak-value">
            <a:extLst xmlns:a="http://schemas.openxmlformats.org/drawingml/2006/main">
              <a:ext uri="{FF2B5EF4-FFF2-40B4-BE49-F238E27FC236}">
                <a16:creationId xmlns:a16="http://schemas.microsoft.com/office/drawing/2014/main" id="{25877720-9526-4D97-B9EA-1C32D0D9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9580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83B45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C83B45"/>
                </a:solidFill>
                <a:latin typeface="Calibri"/>
                <a:ea typeface="Calibri"/>
                <a:cs typeface="Calibri"/>
              </a:rPr>
              <a:t>0,1</a:t>
            </a:r>
          </a:p>
        </p:txBody>
      </p:sp>
      <p:sp>
        <p:nvSpPr>
          <p:cNvPr id="16" name="peak-caption">
            <a:extLst xmlns:a="http://schemas.openxmlformats.org/drawingml/2006/main">
              <a:ext uri="{FF2B5EF4-FFF2-40B4-BE49-F238E27FC236}">
                <a16:creationId xmlns:a16="http://schemas.microsoft.com/office/drawing/2014/main" id="{7005C71B-CBA1-467E-AD9C-32FB3711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339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коэффициент γ</a:t>
            </a:r>
          </a:p>
        </p:txBody>
      </p:sp>
    </p:spTree>
    <p:extLst>
      <p:ext uri="{BB962C8B-B14F-4D97-AF65-F5344CB8AC3E}">
        <p14:creationId xmlns:p14="http://schemas.microsoft.com/office/powerpoint/2010/main" val="15847899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op-band">
            <a:extLst xmlns:a="http://schemas.openxmlformats.org/drawingml/2006/main">
              <a:ext uri="{FF2B5EF4-FFF2-40B4-BE49-F238E27FC236}">
                <a16:creationId xmlns:a16="http://schemas.microsoft.com/office/drawing/2014/main" id="{F74FD5CC-8C38-411D-852B-0B386649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F04E7823-61B5-47C3-B669-C35B8872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DD099D-979B-4597-9650-C67ED027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Структура сети определяет оба способа расчёта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DF46DE4-DC52-45DC-98B8-BF3E30BE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b84e8a3ef141e7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CA48063-C26A-4267-AF5D-F662627D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3554BD-DC5A-4F9E-A33E-16ACB139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b0faa292c433f"/>
          <a:stretch xmlns:a="http://schemas.openxmlformats.org/drawingml/2006/main"/>
        </p:blipFill>
        <p:spPr>
          <a:xfrm xmlns:a="http://schemas.openxmlformats.org/drawingml/2006/main">
            <a:off x="629073" y="2749626"/>
            <a:ext cx="7257203" cy="1377800"/>
          </a:xfrm>
          <a:prstGeom xmlns:a="http://schemas.openxmlformats.org/drawingml/2006/main" prst="rect">
            <a:avLst/>
          </a:prstGeom>
        </p:spPr>
      </p:pic>
      <p:sp>
        <p:nvSpPr>
          <p:cNvPr id="9" name="imax-bg">
            <a:extLst xmlns:a="http://schemas.openxmlformats.org/drawingml/2006/main">
              <a:ext uri="{FF2B5EF4-FFF2-40B4-BE49-F238E27FC236}">
                <a16:creationId xmlns:a16="http://schemas.microsoft.com/office/drawing/2014/main" id="{23FB6D0B-5E2B-4B1C-B750-E19EAA83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10490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0" name="imax-value">
            <a:extLst xmlns:a="http://schemas.openxmlformats.org/drawingml/2006/main">
              <a:ext uri="{FF2B5EF4-FFF2-40B4-BE49-F238E27FC236}">
                <a16:creationId xmlns:a16="http://schemas.microsoft.com/office/drawing/2014/main" id="{B29A502F-6BBC-4C15-80AF-7B56141F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2001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83B45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C83B45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1" name="imax-caption">
            <a:extLst xmlns:a="http://schemas.openxmlformats.org/drawingml/2006/main">
              <a:ext uri="{FF2B5EF4-FFF2-40B4-BE49-F238E27FC236}">
                <a16:creationId xmlns:a16="http://schemas.microsoft.com/office/drawing/2014/main" id="{EAFCEBFD-3EED-4A83-91F8-2D01A6C5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383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позиции: S, I, R</a:t>
            </a:r>
          </a:p>
        </p:txBody>
      </p:sp>
      <p:sp>
        <p:nvSpPr>
          <p:cNvPr id="12" name="tpeak-bg">
            <a:extLst xmlns:a="http://schemas.openxmlformats.org/drawingml/2006/main">
              <a:ext uri="{FF2B5EF4-FFF2-40B4-BE49-F238E27FC236}">
                <a16:creationId xmlns:a16="http://schemas.microsoft.com/office/drawing/2014/main" id="{CB68471B-DC2C-40D6-8738-71969ACC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3" name="tpeak-value">
            <a:extLst xmlns:a="http://schemas.openxmlformats.org/drawingml/2006/main">
              <a:ext uri="{FF2B5EF4-FFF2-40B4-BE49-F238E27FC236}">
                <a16:creationId xmlns:a16="http://schemas.microsoft.com/office/drawing/2014/main" id="{C9732CBD-5B35-4487-81E3-94F91DA2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tpeak-caption">
            <a:extLst xmlns:a="http://schemas.openxmlformats.org/drawingml/2006/main">
              <a:ext uri="{FF2B5EF4-FFF2-40B4-BE49-F238E27FC236}">
                <a16:creationId xmlns:a16="http://schemas.microsoft.com/office/drawing/2014/main" id="{6422106B-D159-415D-9E44-6C792AC7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03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перехода: заражение, выздоровление</a:t>
            </a:r>
          </a:p>
        </p:txBody>
      </p:sp>
      <p:sp>
        <p:nvSpPr>
          <p:cNvPr id="15" name="rend-bg">
            <a:extLst xmlns:a="http://schemas.openxmlformats.org/drawingml/2006/main">
              <a:ext uri="{FF2B5EF4-FFF2-40B4-BE49-F238E27FC236}">
                <a16:creationId xmlns:a16="http://schemas.microsoft.com/office/drawing/2014/main" id="{04381D42-5BF5-4983-B4EB-47C62156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2900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6" name="rend-value">
            <a:extLst xmlns:a="http://schemas.openxmlformats.org/drawingml/2006/main">
              <a:ext uri="{FF2B5EF4-FFF2-40B4-BE49-F238E27FC236}">
                <a16:creationId xmlns:a16="http://schemas.microsoft.com/office/drawing/2014/main" id="{EC23F540-774E-44A3-BED8-2FFF4B94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5242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D8A5B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1D8A5B"/>
                </a:solidFill>
                <a:latin typeface="Calibri"/>
                <a:ea typeface="Calibri"/>
                <a:cs typeface="Calibri"/>
              </a:rPr>
              <a:t>1000</a:t>
            </a:r>
          </a:p>
        </p:txBody>
      </p:sp>
      <p:sp>
        <p:nvSpPr>
          <p:cNvPr id="17" name="rend-caption">
            <a:extLst xmlns:a="http://schemas.openxmlformats.org/drawingml/2006/main">
              <a:ext uri="{FF2B5EF4-FFF2-40B4-BE49-F238E27FC236}">
                <a16:creationId xmlns:a16="http://schemas.microsoft.com/office/drawing/2014/main" id="{BA2CD5D3-B265-4D73-B512-FE1B1471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9624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инвариантная численность</a:t>
            </a:r>
          </a:p>
        </p:txBody>
      </p:sp>
      <p:sp>
        <p:nvSpPr>
          <p:cNvPr id="18" name="drift">
            <a:extLst xmlns:a="http://schemas.openxmlformats.org/drawingml/2006/main">
              <a:ext uri="{FF2B5EF4-FFF2-40B4-BE49-F238E27FC236}">
                <a16:creationId xmlns:a16="http://schemas.microsoft.com/office/drawing/2014/main" id="{5C0C9BC5-8FBE-41DE-AA12-9933C1D6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006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AlgebraicPetri → vectorfield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Дуги сети → изменения SSA</a:t>
            </a:r>
          </a:p>
        </p:txBody>
      </p:sp>
    </p:spTree>
    <p:extLst>
      <p:ext uri="{BB962C8B-B14F-4D97-AF65-F5344CB8AC3E}">
        <p14:creationId xmlns:p14="http://schemas.microsoft.com/office/powerpoint/2010/main" val="15480199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477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ccent">
            <a:extLst xmlns:a="http://schemas.openxmlformats.org/drawingml/2006/main">
              <a:ext uri="{FF2B5EF4-FFF2-40B4-BE49-F238E27FC236}">
                <a16:creationId xmlns:a16="http://schemas.microsoft.com/office/drawing/2014/main" id="{7EDC123F-A2A1-4A23-B400-58E76A7A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209b852afe4d59"/>
          <a:stretch xmlns:a="http://schemas.openxmlformats.org/drawingml/2006/main"/>
        </p:blipFill>
        <p:spPr>
          <a:xfrm xmlns:a="http://schemas.openxmlformats.org/drawingml/2006/main">
            <a:off x="742950" y="716689"/>
            <a:ext cx="781050" cy="662123"/>
          </a:xfrm>
          <a:prstGeom xmlns:a="http://schemas.openxmlformats.org/drawingml/2006/main" prst="rect">
            <a:avLst/>
          </a:prstGeom>
        </p:spPr>
      </p:pic>
      <p:sp>
        <p:nvSpPr>
          <p:cNvPr id="3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05B54D60-5BA6-4B1C-AA38-11674D7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723900"/>
            <a:ext cx="885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Выполнение работы</a:t>
            </a:r>
          </a:p>
        </p:txBody>
      </p:sp>
      <p:sp>
        <p:nvSpPr>
          <p:cNvPr id="4" name="conclusion-rule">
            <a:extLst xmlns:a="http://schemas.openxmlformats.org/drawingml/2006/main">
              <a:ext uri="{FF2B5EF4-FFF2-40B4-BE49-F238E27FC236}">
                <a16:creationId xmlns:a16="http://schemas.microsoft.com/office/drawing/2014/main" id="{A6F50DB3-5845-402B-875A-F3D97196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33600"/>
            <a:ext cx="628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nclusions">
            <a:extLst xmlns:a="http://schemas.openxmlformats.org/drawingml/2006/main">
              <a:ext uri="{FF2B5EF4-FFF2-40B4-BE49-F238E27FC236}">
                <a16:creationId xmlns:a16="http://schemas.microsoft.com/office/drawing/2014/main" id="{80C76B1D-E492-4AF8-A98B-ACC10B47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9535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Исходные параметры и сетки сохранены по методичке.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ОДУ решается Tsit5; события — прямым методом Гиллеспи.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Анализ CSV отделён от повторного моделирования.</a:t>
            </a:r>
          </a:p>
        </p:txBody>
      </p:sp>
      <p:sp>
        <p:nvSpPr>
          <p:cNvPr id="6" name="final">
            <a:extLst xmlns:a="http://schemas.openxmlformats.org/drawingml/2006/main">
              <a:ext uri="{FF2B5EF4-FFF2-40B4-BE49-F238E27FC236}">
                <a16:creationId xmlns:a16="http://schemas.microsoft.com/office/drawing/2014/main" id="{FCC7524D-04B4-4E2B-BB4A-218A72DF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24550"/>
            <a:ext cx="571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5A9D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35A9D3"/>
                </a:solidFill>
                <a:latin typeface="Calibri"/>
                <a:ea typeface="Calibri"/>
                <a:cs typeface="Calibri"/>
              </a:rPr>
              <a:t>Лабораторная работа № 6</a:t>
            </a:r>
          </a:p>
        </p:txBody>
      </p:sp>
    </p:spTree>
    <p:extLst>
      <p:ext uri="{BB962C8B-B14F-4D97-AF65-F5344CB8AC3E}">
        <p14:creationId xmlns:p14="http://schemas.microsoft.com/office/powerpoint/2010/main" val="5095397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8421A46-F9BD-480F-B275-C23896D5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90627352-F663-4A2E-9B7B-12B403F6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8DEB88-7101-47B0-B748-A400397B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Последовательность выполнения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CDEA9B6-8955-4F09-B9FA-546DA393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f7ee9634544c3b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41B547B-6312-422F-97B9-B812308F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D149F8-2B2A-45C2-ACB2-B531EF4A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8" name="goal">
            <a:extLst xmlns:a="http://schemas.openxmlformats.org/drawingml/2006/main">
              <a:ext uri="{FF2B5EF4-FFF2-40B4-BE49-F238E27FC236}">
                <a16:creationId xmlns:a16="http://schemas.microsoft.com/office/drawing/2014/main" id="{867F2279-946D-4402-B6C9-E80BAE1B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334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Julia-проект разделяет модель, сценарии, данные и документацию.</a:t>
            </a:r>
          </a:p>
        </p:txBody>
      </p:sp>
      <p:sp>
        <p:nvSpPr>
          <p:cNvPr id="9" name="left-rule">
            <a:extLst xmlns:a="http://schemas.openxmlformats.org/drawingml/2006/main">
              <a:ext uri="{FF2B5EF4-FFF2-40B4-BE49-F238E27FC236}">
                <a16:creationId xmlns:a16="http://schemas.microsoft.com/office/drawing/2014/main" id="{0B205D5C-F4E6-46EE-8BE3-E1E85CA2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571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asks">
            <a:extLst xmlns:a="http://schemas.openxmlformats.org/drawingml/2006/main">
              <a:ext uri="{FF2B5EF4-FFF2-40B4-BE49-F238E27FC236}">
                <a16:creationId xmlns:a16="http://schemas.microsoft.com/office/drawing/2014/main" id="{D0B8600E-8057-4E67-AFD8-8FFEDC55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9620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make tangle — восемь комплектов JL, QMD и IPYNB;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make run — четыре сценария и четыре варианта;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make notebooks — реальные вычисления в Julia;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make docs — HTML-документация сценариев;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make test — структурные и численные проверки.</a:t>
            </a:r>
          </a:p>
        </p:txBody>
      </p:sp>
    </p:spTree>
    <p:extLst>
      <p:ext uri="{BB962C8B-B14F-4D97-AF65-F5344CB8AC3E}">
        <p14:creationId xmlns:p14="http://schemas.microsoft.com/office/powerpoint/2010/main" val="18991728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8421A46-F9BD-480F-B275-C23896D5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90627352-F663-4A2E-9B7B-12B403F6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8DEB88-7101-47B0-B748-A400397B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Вычислительная среда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CDEA9B6-8955-4F09-B9FA-546DA393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b4e3c54444c0d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41B547B-6312-422F-97B9-B812308F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D149F8-2B2A-45C2-ACB2-B531EF4A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8" name="goal">
            <a:extLst xmlns:a="http://schemas.openxmlformats.org/drawingml/2006/main">
              <a:ext uri="{FF2B5EF4-FFF2-40B4-BE49-F238E27FC236}">
                <a16:creationId xmlns:a16="http://schemas.microsoft.com/office/drawing/2014/main" id="{867F2279-946D-4402-B6C9-E80BAE1B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334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Julia 1.11.9; точные зависимости закреплены в Manifest.toml.</a:t>
            </a:r>
          </a:p>
        </p:txBody>
      </p:sp>
      <p:sp>
        <p:nvSpPr>
          <p:cNvPr id="9" name="left-rule">
            <a:extLst xmlns:a="http://schemas.openxmlformats.org/drawingml/2006/main">
              <a:ext uri="{FF2B5EF4-FFF2-40B4-BE49-F238E27FC236}">
                <a16:creationId xmlns:a16="http://schemas.microsoft.com/office/drawing/2014/main" id="{0B205D5C-F4E6-46EE-8BE3-E1E85CA2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571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asks">
            <a:extLst xmlns:a="http://schemas.openxmlformats.org/drawingml/2006/main">
              <a:ext uri="{FF2B5EF4-FFF2-40B4-BE49-F238E27FC236}">
                <a16:creationId xmlns:a16="http://schemas.microsoft.com/office/drawing/2014/main" id="{D0B8600E-8057-4E67-AFD8-8FFEDC55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9620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AlgebraicPetri 0.8.11 и Catlab 0.14.17 — сеть и Graphviz;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OrdinaryDiffEq 7.8.1 — адаптивный метод Tsit5;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DataFrames 1.8.2 и CSV 0.10.17 — сохранение результатов;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Plots 1.41.7 — графики и анимации;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DrWatson, Literate и IJulia — организация и блокноты.</a:t>
            </a:r>
          </a:p>
        </p:txBody>
      </p:sp>
    </p:spTree>
    <p:extLst>
      <p:ext uri="{BB962C8B-B14F-4D97-AF65-F5344CB8AC3E}">
        <p14:creationId xmlns:p14="http://schemas.microsoft.com/office/powerpoint/2010/main" val="18991728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band">
            <a:extLst xmlns:a="http://schemas.openxmlformats.org/drawingml/2006/main">
              <a:ext uri="{FF2B5EF4-FFF2-40B4-BE49-F238E27FC236}">
                <a16:creationId xmlns:a16="http://schemas.microsoft.com/office/drawing/2014/main" id="{AF2585DF-AC5B-4323-9E8D-F5DD6ADE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F961FBD9-A3D3-4B4D-8148-6A8EA058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1B50FA-2F33-49D5-92A3-2006E35C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Базовый опыт: β = 0,3; γ = 0,1; T = 100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624C76B-A866-4FC3-BD4F-676A5F42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fa4c31f71a464d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8F359995-F295-4F48-BFC9-5FDCEDF7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18B0D7C-16CB-40EC-970C-B3565A5F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96f5d228a749a8"/>
          <a:stretch xmlns:a="http://schemas.openxmlformats.org/drawingml/2006/main"/>
        </p:blipFill>
        <p:spPr>
          <a:xfrm xmlns:a="http://schemas.openxmlformats.org/drawingml/2006/main">
            <a:off x="664964" y="1663222"/>
            <a:ext cx="5089922" cy="3007681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0c8d3a2a4bce"/>
          <a:stretch xmlns:a="http://schemas.openxmlformats.org/drawingml/2006/main"/>
        </p:blipFill>
        <p:spPr>
          <a:xfrm xmlns:a="http://schemas.openxmlformats.org/drawingml/2006/main">
            <a:off x="6437114" y="1663222"/>
            <a:ext cx="5089922" cy="3007681"/>
          </a:xfrm>
          <a:prstGeom xmlns:a="http://schemas.openxmlformats.org/drawingml/2006/main" prst="rect">
            <a:avLst/>
          </a:prstGeom>
        </p:spPr>
      </p:pic>
      <p:sp>
        <p:nvSpPr>
          <p:cNvPr id="10" name="sir-label">
            <a:extLst xmlns:a="http://schemas.openxmlformats.org/drawingml/2006/main">
              <a:ext uri="{FF2B5EF4-FFF2-40B4-BE49-F238E27FC236}">
                <a16:creationId xmlns:a16="http://schemas.microsoft.com/office/drawing/2014/main" id="{2E8BCE43-1A01-4261-B5EA-2E52C715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02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ОДУ · шаг 0,5</a:t>
            </a:r>
          </a:p>
        </p:txBody>
      </p:sp>
      <p:sp>
        <p:nvSpPr>
          <p:cNvPr id="11" name="lv-label">
            <a:extLst xmlns:a="http://schemas.openxmlformats.org/drawingml/2006/main">
              <a:ext uri="{FF2B5EF4-FFF2-40B4-BE49-F238E27FC236}">
                <a16:creationId xmlns:a16="http://schemas.microsoft.com/office/drawing/2014/main" id="{9A8A30A9-3164-4FDB-BCBF-1144A379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54102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SSA · seed = 123</a:t>
            </a:r>
          </a:p>
        </p:txBody>
      </p:sp>
    </p:spTree>
    <p:extLst>
      <p:ext uri="{BB962C8B-B14F-4D97-AF65-F5344CB8AC3E}">
        <p14:creationId xmlns:p14="http://schemas.microsoft.com/office/powerpoint/2010/main" val="4138984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op-band">
            <a:extLst xmlns:a="http://schemas.openxmlformats.org/drawingml/2006/main">
              <a:ext uri="{FF2B5EF4-FFF2-40B4-BE49-F238E27FC236}">
                <a16:creationId xmlns:a16="http://schemas.microsoft.com/office/drawing/2014/main" id="{F74FD5CC-8C38-411D-852B-0B386649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F04E7823-61B5-47C3-B669-C35B8872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DD099D-979B-4597-9650-C67ED027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Редкая сетка наблюдений пропускает ранний пик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DF46DE4-DC52-45DC-98B8-BF3E30BE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1092f53c32426d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CA48063-C26A-4267-AF5D-F662627D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3554BD-DC5A-4F9E-A33E-16ACB139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d0d26fbea74281"/>
          <a:stretch xmlns:a="http://schemas.openxmlformats.org/drawingml/2006/main"/>
        </p:blipFill>
        <p:spPr>
          <a:xfrm xmlns:a="http://schemas.openxmlformats.org/drawingml/2006/main">
            <a:off x="629073" y="1294352"/>
            <a:ext cx="7257203" cy="4288347"/>
          </a:xfrm>
          <a:prstGeom xmlns:a="http://schemas.openxmlformats.org/drawingml/2006/main" prst="rect">
            <a:avLst/>
          </a:prstGeom>
        </p:spPr>
      </p:pic>
      <p:sp>
        <p:nvSpPr>
          <p:cNvPr id="9" name="imax-bg">
            <a:extLst xmlns:a="http://schemas.openxmlformats.org/drawingml/2006/main">
              <a:ext uri="{FF2B5EF4-FFF2-40B4-BE49-F238E27FC236}">
                <a16:creationId xmlns:a16="http://schemas.microsoft.com/office/drawing/2014/main" id="{23FB6D0B-5E2B-4B1C-B750-E19EAA83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10490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0" name="imax-value">
            <a:extLst xmlns:a="http://schemas.openxmlformats.org/drawingml/2006/main">
              <a:ext uri="{FF2B5EF4-FFF2-40B4-BE49-F238E27FC236}">
                <a16:creationId xmlns:a16="http://schemas.microsoft.com/office/drawing/2014/main" id="{B29A502F-6BBC-4C15-80AF-7B56141F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2001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83B45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C83B45"/>
                </a:solidFill>
                <a:latin typeface="Calibri"/>
                <a:ea typeface="Calibri"/>
                <a:cs typeface="Calibri"/>
              </a:rPr>
              <a:t>997,0012</a:t>
            </a:r>
          </a:p>
        </p:txBody>
      </p:sp>
      <p:sp>
        <p:nvSpPr>
          <p:cNvPr id="11" name="imax-caption">
            <a:extLst xmlns:a="http://schemas.openxmlformats.org/drawingml/2006/main">
              <a:ext uri="{FF2B5EF4-FFF2-40B4-BE49-F238E27FC236}">
                <a16:creationId xmlns:a16="http://schemas.microsoft.com/office/drawing/2014/main" id="{EAFCEBFD-3EED-4A83-91F8-2D01A6C5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383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уточнённый максимум I</a:t>
            </a:r>
          </a:p>
        </p:txBody>
      </p:sp>
      <p:sp>
        <p:nvSpPr>
          <p:cNvPr id="12" name="tpeak-bg">
            <a:extLst xmlns:a="http://schemas.openxmlformats.org/drawingml/2006/main">
              <a:ext uri="{FF2B5EF4-FFF2-40B4-BE49-F238E27FC236}">
                <a16:creationId xmlns:a16="http://schemas.microsoft.com/office/drawing/2014/main" id="{CB68471B-DC2C-40D6-8738-71969ACC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3" name="tpeak-value">
            <a:extLst xmlns:a="http://schemas.openxmlformats.org/drawingml/2006/main">
              <a:ext uri="{FF2B5EF4-FFF2-40B4-BE49-F238E27FC236}">
                <a16:creationId xmlns:a16="http://schemas.microsoft.com/office/drawing/2014/main" id="{C9732CBD-5B35-4487-81E3-94F91DA2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0,042046</a:t>
            </a:r>
          </a:p>
        </p:txBody>
      </p:sp>
      <p:sp>
        <p:nvSpPr>
          <p:cNvPr id="14" name="tpeak-caption">
            <a:extLst xmlns:a="http://schemas.openxmlformats.org/drawingml/2006/main">
              <a:ext uri="{FF2B5EF4-FFF2-40B4-BE49-F238E27FC236}">
                <a16:creationId xmlns:a16="http://schemas.microsoft.com/office/drawing/2014/main" id="{6422106B-D159-415D-9E44-6C792AC7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03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время непрерывного пика</a:t>
            </a:r>
          </a:p>
        </p:txBody>
      </p:sp>
      <p:sp>
        <p:nvSpPr>
          <p:cNvPr id="15" name="rend-bg">
            <a:extLst xmlns:a="http://schemas.openxmlformats.org/drawingml/2006/main">
              <a:ext uri="{FF2B5EF4-FFF2-40B4-BE49-F238E27FC236}">
                <a16:creationId xmlns:a16="http://schemas.microsoft.com/office/drawing/2014/main" id="{04381D42-5BF5-4983-B4EB-47C62156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2900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6" name="rend-value">
            <a:extLst xmlns:a="http://schemas.openxmlformats.org/drawingml/2006/main">
              <a:ext uri="{FF2B5EF4-FFF2-40B4-BE49-F238E27FC236}">
                <a16:creationId xmlns:a16="http://schemas.microsoft.com/office/drawing/2014/main" id="{EC23F540-774E-44A3-BED8-2FFF4B94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5242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D8A5B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1D8A5B"/>
                </a:solidFill>
                <a:latin typeface="Calibri"/>
                <a:ea typeface="Calibri"/>
                <a:cs typeface="Calibri"/>
              </a:rPr>
              <a:t>952,6914</a:t>
            </a:r>
          </a:p>
        </p:txBody>
      </p:sp>
      <p:sp>
        <p:nvSpPr>
          <p:cNvPr id="17" name="rend-caption">
            <a:extLst xmlns:a="http://schemas.openxmlformats.org/drawingml/2006/main">
              <a:ext uri="{FF2B5EF4-FFF2-40B4-BE49-F238E27FC236}">
                <a16:creationId xmlns:a16="http://schemas.microsoft.com/office/drawing/2014/main" id="{BA2CD5D3-B265-4D73-B512-FE1B1471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9624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максимум на сетке 0,5</a:t>
            </a:r>
          </a:p>
        </p:txBody>
      </p:sp>
      <p:sp>
        <p:nvSpPr>
          <p:cNvPr id="18" name="drift">
            <a:extLst xmlns:a="http://schemas.openxmlformats.org/drawingml/2006/main">
              <a:ext uri="{FF2B5EF4-FFF2-40B4-BE49-F238E27FC236}">
                <a16:creationId xmlns:a16="http://schemas.microsoft.com/office/drawing/2014/main" id="{5C0C9BC5-8FBE-41DE-AA12-9933C1D6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006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Проверка аналитической формулой: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расхождение менее 10⁻⁸.</a:t>
            </a:r>
          </a:p>
        </p:txBody>
      </p:sp>
    </p:spTree>
    <p:extLst>
      <p:ext uri="{BB962C8B-B14F-4D97-AF65-F5344CB8AC3E}">
        <p14:creationId xmlns:p14="http://schemas.microsoft.com/office/powerpoint/2010/main" val="154801997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band">
            <a:extLst xmlns:a="http://schemas.openxmlformats.org/drawingml/2006/main">
              <a:ext uri="{FF2B5EF4-FFF2-40B4-BE49-F238E27FC236}">
                <a16:creationId xmlns:a16="http://schemas.microsoft.com/office/drawing/2014/main" id="{AF2585DF-AC5B-4323-9E8D-F5DD6ADE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F961FBD9-A3D3-4B4D-8148-6A8EA058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1B50FA-2F33-49D5-92A3-2006E35C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Пятнадцать β: отличаем динамику от сетки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624C76B-A866-4FC3-BD4F-676A5F42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2349cdfe6c4d10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8F359995-F295-4F48-BFC9-5FDCEDF7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18B0D7C-16CB-40EC-970C-B3565A5F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444ac386fe43c1"/>
          <a:stretch xmlns:a="http://schemas.openxmlformats.org/drawingml/2006/main"/>
        </p:blipFill>
        <p:spPr>
          <a:xfrm xmlns:a="http://schemas.openxmlformats.org/drawingml/2006/main">
            <a:off x="664964" y="1663222"/>
            <a:ext cx="5089922" cy="3007681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4a9dff9a334dcf"/>
          <a:stretch xmlns:a="http://schemas.openxmlformats.org/drawingml/2006/main"/>
        </p:blipFill>
        <p:spPr>
          <a:xfrm xmlns:a="http://schemas.openxmlformats.org/drawingml/2006/main">
            <a:off x="6437114" y="1663222"/>
            <a:ext cx="5089922" cy="3007681"/>
          </a:xfrm>
          <a:prstGeom xmlns:a="http://schemas.openxmlformats.org/drawingml/2006/main" prst="rect">
            <a:avLst/>
          </a:prstGeom>
        </p:spPr>
      </p:pic>
      <p:sp>
        <p:nvSpPr>
          <p:cNvPr id="10" name="sir-label">
            <a:extLst xmlns:a="http://schemas.openxmlformats.org/drawingml/2006/main">
              <a:ext uri="{FF2B5EF4-FFF2-40B4-BE49-F238E27FC236}">
                <a16:creationId xmlns:a16="http://schemas.microsoft.com/office/drawing/2014/main" id="{2E8BCE43-1A01-4261-B5EA-2E52C715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02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Дискретный максимум</a:t>
            </a:r>
          </a:p>
        </p:txBody>
      </p:sp>
      <p:sp>
        <p:nvSpPr>
          <p:cNvPr id="11" name="lv-label">
            <a:extLst xmlns:a="http://schemas.openxmlformats.org/drawingml/2006/main">
              <a:ext uri="{FF2B5EF4-FFF2-40B4-BE49-F238E27FC236}">
                <a16:creationId xmlns:a16="http://schemas.microsoft.com/office/drawing/2014/main" id="{9A8A30A9-3164-4FDB-BCBF-1144A379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54102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Уточнённый пик</a:t>
            </a:r>
          </a:p>
        </p:txBody>
      </p:sp>
    </p:spTree>
    <p:extLst>
      <p:ext uri="{BB962C8B-B14F-4D97-AF65-F5344CB8AC3E}">
        <p14:creationId xmlns:p14="http://schemas.microsoft.com/office/powerpoint/2010/main" val="4138984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B71F5F6-248A-493A-BFF4-DB5B4A22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BB5CB7FF-FF77-40E6-A4F7-D6586C90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2042EA1-0509-47F7-86ED-55527639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Анимация показывает переход S → I → R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0DFCD4F-FB53-4C73-8295-9DB007AE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a31429ef47400b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8B0EB-4DA1-4111-8E40-6CB1D9B0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622E43-05B3-40DE-ABF3-C0322559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eac0a69b6b4eb7"/>
          <a:stretch xmlns:a="http://schemas.openxmlformats.org/drawingml/2006/main"/>
        </p:blipFill>
        <p:spPr>
          <a:xfrm xmlns:a="http://schemas.openxmlformats.org/drawingml/2006/main">
            <a:off x="924878" y="1181101"/>
            <a:ext cx="6579870" cy="4486275"/>
          </a:xfrm>
          <a:prstGeom xmlns:a="http://schemas.openxmlformats.org/drawingml/2006/main" prst="rect">
            <a:avLst/>
          </a:prstGeom>
        </p:spPr>
      </p:pic>
      <p:sp>
        <p:nvSpPr>
          <p:cNvPr id="9" name="scan-table">
            <a:extLst xmlns:a="http://schemas.openxmlformats.org/drawingml/2006/main">
              <a:ext uri="{FF2B5EF4-FFF2-40B4-BE49-F238E27FC236}">
                <a16:creationId xmlns:a16="http://schemas.microsoft.com/office/drawing/2014/main" id="{B690B6A6-A35B-4EFA-A6BD-EF554132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257300"/>
            <a:ext cx="26860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β = 0,3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γ = 0,1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T = 100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Шаг = 0,2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501 кадр</a:t>
            </a:r>
          </a:p>
        </p:txBody>
      </p:sp>
      <p:sp>
        <p:nvSpPr>
          <p:cNvPr id="10" name="scan-takeaway">
            <a:extLst xmlns:a="http://schemas.openxmlformats.org/drawingml/2006/main">
              <a:ext uri="{FF2B5EF4-FFF2-40B4-BE49-F238E27FC236}">
                <a16:creationId xmlns:a16="http://schemas.microsoft.com/office/drawing/2014/main" id="{8005A1C6-3D7F-4B44-8EF5-7DFA0DF1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00050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Три столбца S/I/R.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Один масштаб оси.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GIF: 25 кадров/с.</a:t>
            </a:r>
          </a:p>
        </p:txBody>
      </p:sp>
    </p:spTree>
    <p:extLst>
      <p:ext uri="{BB962C8B-B14F-4D97-AF65-F5344CB8AC3E}">
        <p14:creationId xmlns:p14="http://schemas.microsoft.com/office/powerpoint/2010/main" val="157533289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band">
            <a:extLst xmlns:a="http://schemas.openxmlformats.org/drawingml/2006/main">
              <a:ext uri="{FF2B5EF4-FFF2-40B4-BE49-F238E27FC236}">
                <a16:creationId xmlns:a16="http://schemas.microsoft.com/office/drawing/2014/main" id="{AF2585DF-AC5B-4323-9E8D-F5DD6ADE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F961FBD9-A3D3-4B4D-8148-6A8EA058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1B50FA-2F33-49D5-92A3-2006E35C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Анализ читает CSV, не запускает модель повторно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624C76B-A866-4FC3-BD4F-676A5F42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baf8e7d56042e9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8F359995-F295-4F48-BFC9-5FDCEDF7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18B0D7C-16CB-40EC-970C-B3565A5F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37df514649453e"/>
          <a:stretch xmlns:a="http://schemas.openxmlformats.org/drawingml/2006/main"/>
        </p:blipFill>
        <p:spPr>
          <a:xfrm xmlns:a="http://schemas.openxmlformats.org/drawingml/2006/main">
            <a:off x="664964" y="1663222"/>
            <a:ext cx="5089922" cy="3007681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77463e30af48e8"/>
          <a:stretch xmlns:a="http://schemas.openxmlformats.org/drawingml/2006/main"/>
        </p:blipFill>
        <p:spPr>
          <a:xfrm xmlns:a="http://schemas.openxmlformats.org/drawingml/2006/main">
            <a:off x="6437114" y="1663222"/>
            <a:ext cx="5089922" cy="3007681"/>
          </a:xfrm>
          <a:prstGeom xmlns:a="http://schemas.openxmlformats.org/drawingml/2006/main" prst="rect">
            <a:avLst/>
          </a:prstGeom>
        </p:spPr>
      </p:pic>
      <p:sp>
        <p:nvSpPr>
          <p:cNvPr id="10" name="sir-label">
            <a:extLst xmlns:a="http://schemas.openxmlformats.org/drawingml/2006/main">
              <a:ext uri="{FF2B5EF4-FFF2-40B4-BE49-F238E27FC236}">
                <a16:creationId xmlns:a16="http://schemas.microsoft.com/office/drawing/2014/main" id="{2E8BCE43-1A01-4261-B5EA-2E52C715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02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RMSE I = 3,5954</a:t>
            </a:r>
          </a:p>
        </p:txBody>
      </p:sp>
      <p:sp>
        <p:nvSpPr>
          <p:cNvPr id="11" name="lv-label">
            <a:extLst xmlns:a="http://schemas.openxmlformats.org/drawingml/2006/main">
              <a:ext uri="{FF2B5EF4-FFF2-40B4-BE49-F238E27FC236}">
                <a16:creationId xmlns:a16="http://schemas.microsoft.com/office/drawing/2014/main" id="{9A8A30A9-3164-4FDB-BCBF-1144A379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54102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Пик из sir_scan.csv</a:t>
            </a:r>
          </a:p>
        </p:txBody>
      </p:sp>
    </p:spTree>
    <p:extLst>
      <p:ext uri="{BB962C8B-B14F-4D97-AF65-F5344CB8AC3E}">
        <p14:creationId xmlns:p14="http://schemas.microsoft.com/office/powerpoint/2010/main" val="4138984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477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ccent">
            <a:extLst xmlns:a="http://schemas.openxmlformats.org/drawingml/2006/main">
              <a:ext uri="{FF2B5EF4-FFF2-40B4-BE49-F238E27FC236}">
                <a16:creationId xmlns:a16="http://schemas.microsoft.com/office/drawing/2014/main" id="{7EDC123F-A2A1-4A23-B400-58E76A7A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87aa037ac24028"/>
          <a:stretch xmlns:a="http://schemas.openxmlformats.org/drawingml/2006/main"/>
        </p:blipFill>
        <p:spPr>
          <a:xfrm xmlns:a="http://schemas.openxmlformats.org/drawingml/2006/main">
            <a:off x="742950" y="716689"/>
            <a:ext cx="781050" cy="662123"/>
          </a:xfrm>
          <a:prstGeom xmlns:a="http://schemas.openxmlformats.org/drawingml/2006/main" prst="rect">
            <a:avLst/>
          </a:prstGeom>
        </p:spPr>
      </p:pic>
      <p:sp>
        <p:nvSpPr>
          <p:cNvPr id="3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05B54D60-5BA6-4B1C-AA38-11674D7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723900"/>
            <a:ext cx="885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Параметрические варианты</a:t>
            </a:r>
          </a:p>
        </p:txBody>
      </p:sp>
      <p:sp>
        <p:nvSpPr>
          <p:cNvPr id="4" name="conclusion-rule">
            <a:extLst xmlns:a="http://schemas.openxmlformats.org/drawingml/2006/main">
              <a:ext uri="{FF2B5EF4-FFF2-40B4-BE49-F238E27FC236}">
                <a16:creationId xmlns:a16="http://schemas.microsoft.com/office/drawing/2014/main" id="{A6F50DB3-5845-402B-875A-F3D97196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33600"/>
            <a:ext cx="628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nclusions">
            <a:extLst xmlns:a="http://schemas.openxmlformats.org/drawingml/2006/main">
              <a:ext uri="{FF2B5EF4-FFF2-40B4-BE49-F238E27FC236}">
                <a16:creationId xmlns:a16="http://schemas.microsoft.com/office/drawing/2014/main" id="{80C76B1D-E492-4AF8-A98B-ACC10B47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9535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Девять сочетаний β и γ, по 20 повторов SSA.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45 точек сканирования и три дополнительные анимации.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Отдельный анализ сохранённых результатов.</a:t>
            </a:r>
          </a:p>
        </p:txBody>
      </p:sp>
      <p:sp>
        <p:nvSpPr>
          <p:cNvPr id="6" name="final">
            <a:extLst xmlns:a="http://schemas.openxmlformats.org/drawingml/2006/main">
              <a:ext uri="{FF2B5EF4-FFF2-40B4-BE49-F238E27FC236}">
                <a16:creationId xmlns:a16="http://schemas.microsoft.com/office/drawing/2014/main" id="{FCC7524D-04B4-4E2B-BB4A-218A72DF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24550"/>
            <a:ext cx="571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5A9D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35A9D3"/>
                </a:solidFill>
                <a:latin typeface="Calibri"/>
                <a:ea typeface="Calibri"/>
                <a:cs typeface="Calibri"/>
              </a:rPr>
              <a:t>Лабораторная работа № 6</a:t>
            </a:r>
          </a:p>
        </p:txBody>
      </p:sp>
    </p:spTree>
    <p:extLst>
      <p:ext uri="{BB962C8B-B14F-4D97-AF65-F5344CB8AC3E}">
        <p14:creationId xmlns:p14="http://schemas.microsoft.com/office/powerpoint/2010/main" val="50953971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op-band">
            <a:extLst xmlns:a="http://schemas.openxmlformats.org/drawingml/2006/main">
              <a:ext uri="{FF2B5EF4-FFF2-40B4-BE49-F238E27FC236}">
                <a16:creationId xmlns:a16="http://schemas.microsoft.com/office/drawing/2014/main" id="{F74FD5CC-8C38-411D-852B-0B386649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F04E7823-61B5-47C3-B669-C35B8872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DD099D-979B-4597-9650-C67ED027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180 SSA показывают средние пики и их разброс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DF46DE4-DC52-45DC-98B8-BF3E30BE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f487c661cd46bc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CA48063-C26A-4267-AF5D-F662627D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3554BD-DC5A-4F9E-A33E-16ACB139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a89f5246dc4146"/>
          <a:stretch xmlns:a="http://schemas.openxmlformats.org/drawingml/2006/main"/>
        </p:blipFill>
        <p:spPr>
          <a:xfrm xmlns:a="http://schemas.openxmlformats.org/drawingml/2006/main">
            <a:off x="629073" y="1294352"/>
            <a:ext cx="7257203" cy="4288347"/>
          </a:xfrm>
          <a:prstGeom xmlns:a="http://schemas.openxmlformats.org/drawingml/2006/main" prst="rect">
            <a:avLst/>
          </a:prstGeom>
        </p:spPr>
      </p:pic>
      <p:sp>
        <p:nvSpPr>
          <p:cNvPr id="9" name="imax-bg">
            <a:extLst xmlns:a="http://schemas.openxmlformats.org/drawingml/2006/main">
              <a:ext uri="{FF2B5EF4-FFF2-40B4-BE49-F238E27FC236}">
                <a16:creationId xmlns:a16="http://schemas.microsoft.com/office/drawing/2014/main" id="{23FB6D0B-5E2B-4B1C-B750-E19EAA83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10490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0" name="imax-value">
            <a:extLst xmlns:a="http://schemas.openxmlformats.org/drawingml/2006/main">
              <a:ext uri="{FF2B5EF4-FFF2-40B4-BE49-F238E27FC236}">
                <a16:creationId xmlns:a16="http://schemas.microsoft.com/office/drawing/2014/main" id="{B29A502F-6BBC-4C15-80AF-7B56141F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2001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83B45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C83B45"/>
                </a:solidFill>
                <a:latin typeface="Calibri"/>
                <a:ea typeface="Calibri"/>
                <a:cs typeface="Calibri"/>
              </a:rPr>
              <a:t>9 × 20</a:t>
            </a:r>
          </a:p>
        </p:txBody>
      </p:sp>
      <p:sp>
        <p:nvSpPr>
          <p:cNvPr id="11" name="imax-caption">
            <a:extLst xmlns:a="http://schemas.openxmlformats.org/drawingml/2006/main">
              <a:ext uri="{FF2B5EF4-FFF2-40B4-BE49-F238E27FC236}">
                <a16:creationId xmlns:a16="http://schemas.microsoft.com/office/drawing/2014/main" id="{EAFCEBFD-3EED-4A83-91F8-2D01A6C5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383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сочетания × повторы</a:t>
            </a:r>
          </a:p>
        </p:txBody>
      </p:sp>
      <p:sp>
        <p:nvSpPr>
          <p:cNvPr id="12" name="tpeak-bg">
            <a:extLst xmlns:a="http://schemas.openxmlformats.org/drawingml/2006/main">
              <a:ext uri="{FF2B5EF4-FFF2-40B4-BE49-F238E27FC236}">
                <a16:creationId xmlns:a16="http://schemas.microsoft.com/office/drawing/2014/main" id="{CB68471B-DC2C-40D6-8738-71969ACC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3" name="tpeak-value">
            <a:extLst xmlns:a="http://schemas.openxmlformats.org/drawingml/2006/main">
              <a:ext uri="{FF2B5EF4-FFF2-40B4-BE49-F238E27FC236}">
                <a16:creationId xmlns:a16="http://schemas.microsoft.com/office/drawing/2014/main" id="{C9732CBD-5B35-4487-81E3-94F91DA2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180</a:t>
            </a:r>
          </a:p>
        </p:txBody>
      </p:sp>
      <p:sp>
        <p:nvSpPr>
          <p:cNvPr id="14" name="tpeak-caption">
            <a:extLst xmlns:a="http://schemas.openxmlformats.org/drawingml/2006/main">
              <a:ext uri="{FF2B5EF4-FFF2-40B4-BE49-F238E27FC236}">
                <a16:creationId xmlns:a16="http://schemas.microsoft.com/office/drawing/2014/main" id="{6422106B-D159-415D-9E44-6C792AC7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03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разных seed</a:t>
            </a:r>
          </a:p>
        </p:txBody>
      </p:sp>
      <p:sp>
        <p:nvSpPr>
          <p:cNvPr id="15" name="rend-bg">
            <a:extLst xmlns:a="http://schemas.openxmlformats.org/drawingml/2006/main">
              <a:ext uri="{FF2B5EF4-FFF2-40B4-BE49-F238E27FC236}">
                <a16:creationId xmlns:a16="http://schemas.microsoft.com/office/drawing/2014/main" id="{04381D42-5BF5-4983-B4EB-47C62156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29000"/>
            <a:ext cx="2952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A"/>
          </a:solidFill>
          <a:ln xmlns:a="http://schemas.openxmlformats.org/drawingml/2006/main" w="9525">
            <a:solidFill>
              <a:srgbClr val="B9D9E8"/>
            </a:solidFill>
            <a:prstDash val="solid"/>
          </a:ln>
        </p:spPr>
      </p:sp>
      <p:sp>
        <p:nvSpPr>
          <p:cNvPr id="16" name="rend-value">
            <a:extLst xmlns:a="http://schemas.openxmlformats.org/drawingml/2006/main">
              <a:ext uri="{FF2B5EF4-FFF2-40B4-BE49-F238E27FC236}">
                <a16:creationId xmlns:a16="http://schemas.microsoft.com/office/drawing/2014/main" id="{EC23F540-774E-44A3-BED8-2FFF4B94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5242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D8A5B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1D8A5B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" name="rend-caption">
            <a:extLst xmlns:a="http://schemas.openxmlformats.org/drawingml/2006/main">
              <a:ext uri="{FF2B5EF4-FFF2-40B4-BE49-F238E27FC236}">
                <a16:creationId xmlns:a16="http://schemas.microsoft.com/office/drawing/2014/main" id="{BA2CD5D3-B265-4D73-B512-FE1B1471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9624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ошибка сохранения численности</a:t>
            </a:r>
          </a:p>
        </p:txBody>
      </p:sp>
      <p:sp>
        <p:nvSpPr>
          <p:cNvPr id="18" name="drift">
            <a:extLst xmlns:a="http://schemas.openxmlformats.org/drawingml/2006/main">
              <a:ext uri="{FF2B5EF4-FFF2-40B4-BE49-F238E27FC236}">
                <a16:creationId xmlns:a16="http://schemas.microsoft.com/office/drawing/2014/main" id="{5C0C9BC5-8FBE-41DE-AA12-9933C1D6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006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Отрезки — стандартные отклонения,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а не доверительные интервалы.</a:t>
            </a:r>
          </a:p>
        </p:txBody>
      </p:sp>
    </p:spTree>
    <p:extLst>
      <p:ext uri="{BB962C8B-B14F-4D97-AF65-F5344CB8AC3E}">
        <p14:creationId xmlns:p14="http://schemas.microsoft.com/office/powerpoint/2010/main" val="154801997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B71F5F6-248A-493A-BFF4-DB5B4A22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BB5CB7FF-FF77-40E6-A4F7-D6586C90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2042EA1-0509-47F7-86ED-55527639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Две оценки пика на сетке из 45 опытов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0DFCD4F-FB53-4C73-8295-9DB007AE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cc31f539364eca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8B0EB-4DA1-4111-8E40-6CB1D9B0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622E43-05B3-40DE-ABF3-C0322559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c9ba092e5e4a25"/>
          <a:stretch xmlns:a="http://schemas.openxmlformats.org/drawingml/2006/main"/>
        </p:blipFill>
        <p:spPr>
          <a:xfrm xmlns:a="http://schemas.openxmlformats.org/drawingml/2006/main">
            <a:off x="476250" y="1741885"/>
            <a:ext cx="7477125" cy="3364706"/>
          </a:xfrm>
          <a:prstGeom xmlns:a="http://schemas.openxmlformats.org/drawingml/2006/main" prst="rect">
            <a:avLst/>
          </a:prstGeom>
        </p:spPr>
      </p:pic>
      <p:sp>
        <p:nvSpPr>
          <p:cNvPr id="9" name="scan-table">
            <a:extLst xmlns:a="http://schemas.openxmlformats.org/drawingml/2006/main">
              <a:ext uri="{FF2B5EF4-FFF2-40B4-BE49-F238E27FC236}">
                <a16:creationId xmlns:a16="http://schemas.microsoft.com/office/drawing/2014/main" id="{B690B6A6-A35B-4EFA-A6BD-EF554132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257300"/>
            <a:ext cx="26860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β = 0,1 … 0,8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Шаг β = 0,05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γ = 0,05;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0,1; 0,2</a:t>
            </a:r>
          </a:p>
        </p:txBody>
      </p:sp>
      <p:sp>
        <p:nvSpPr>
          <p:cNvPr id="10" name="scan-takeaway">
            <a:extLst xmlns:a="http://schemas.openxmlformats.org/drawingml/2006/main">
              <a:ext uri="{FF2B5EF4-FFF2-40B4-BE49-F238E27FC236}">
                <a16:creationId xmlns:a16="http://schemas.microsoft.com/office/drawing/2014/main" id="{8005A1C6-3D7F-4B44-8EF5-7DFA0DF1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00050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Исходная сетка 0,5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и уточнение экстремума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сохранены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157533289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8421A46-F9BD-480F-B275-C23896D5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90627352-F663-4A2E-9B7B-12B403F6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8DEB88-7101-47B0-B748-A400397B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Три параметрические анимации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CDEA9B6-8955-4F09-B9FA-546DA393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35da63e1f34c7e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41B547B-6312-422F-97B9-B812308F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D149F8-2B2A-45C2-ACB2-B531EF4A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sp>
        <p:nvSpPr>
          <p:cNvPr id="8" name="goal">
            <a:extLst xmlns:a="http://schemas.openxmlformats.org/drawingml/2006/main">
              <a:ext uri="{FF2B5EF4-FFF2-40B4-BE49-F238E27FC236}">
                <a16:creationId xmlns:a16="http://schemas.microsoft.com/office/drawing/2014/main" id="{867F2279-946D-4402-B6C9-E80BAE1B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334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Сравниваются β = 0,1; 0,3; 0,8 при одинаковом γ = 0,1.</a:t>
            </a:r>
          </a:p>
        </p:txBody>
      </p:sp>
      <p:sp>
        <p:nvSpPr>
          <p:cNvPr id="9" name="left-rule">
            <a:extLst xmlns:a="http://schemas.openxmlformats.org/drawingml/2006/main">
              <a:ext uri="{FF2B5EF4-FFF2-40B4-BE49-F238E27FC236}">
                <a16:creationId xmlns:a16="http://schemas.microsoft.com/office/drawing/2014/main" id="{0B205D5C-F4E6-46EE-8BE3-E1E85CA2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571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asks">
            <a:extLst xmlns:a="http://schemas.openxmlformats.org/drawingml/2006/main">
              <a:ext uri="{FF2B5EF4-FFF2-40B4-BE49-F238E27FC236}">
                <a16:creationId xmlns:a16="http://schemas.microsoft.com/office/drawing/2014/main" id="{D0B8600E-8057-4E67-AFD8-8FFEDC55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9620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T = 100 и шаг 0,2 сохранены во всех вариантах;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каждая GIF содержит 501 кадр — всего 1503;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три состояния и диапазон оси не меняются;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маркировки сохранены в CSV вместе со сводкой;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раннюю вспышку дополняет отдельный подробный график.</a:t>
            </a:r>
          </a:p>
        </p:txBody>
      </p:sp>
    </p:spTree>
    <p:extLst>
      <p:ext uri="{BB962C8B-B14F-4D97-AF65-F5344CB8AC3E}">
        <p14:creationId xmlns:p14="http://schemas.microsoft.com/office/powerpoint/2010/main" val="189917288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B71F5F6-248A-493A-BFF4-DB5B4A22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BB5CB7FF-FF77-40E6-A4F7-D6586C90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2042EA1-0509-47F7-86ED-55527639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Сравнение статистики SSA и уточнённых пиков ОДУ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0DFCD4F-FB53-4C73-8295-9DB007AE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0e95f2e08f4971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8B0EB-4DA1-4111-8E40-6CB1D9B0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622E43-05B3-40DE-ABF3-C0322559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8165804d03443b"/>
          <a:stretch xmlns:a="http://schemas.openxmlformats.org/drawingml/2006/main"/>
        </p:blipFill>
        <p:spPr>
          <a:xfrm xmlns:a="http://schemas.openxmlformats.org/drawingml/2006/main">
            <a:off x="476250" y="1710731"/>
            <a:ext cx="7477125" cy="3427016"/>
          </a:xfrm>
          <a:prstGeom xmlns:a="http://schemas.openxmlformats.org/drawingml/2006/main" prst="rect">
            <a:avLst/>
          </a:prstGeom>
        </p:spPr>
      </p:pic>
      <p:sp>
        <p:nvSpPr>
          <p:cNvPr id="9" name="scan-table">
            <a:extLst xmlns:a="http://schemas.openxmlformats.org/drawingml/2006/main">
              <a:ext uri="{FF2B5EF4-FFF2-40B4-BE49-F238E27FC236}">
                <a16:creationId xmlns:a16="http://schemas.microsoft.com/office/drawing/2014/main" id="{B690B6A6-A35B-4EFA-A6BD-EF554132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257300"/>
            <a:ext cx="26860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Пять входных CSV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</a:defRPr>
            </a:pPr>
            <a:r>
              <a:rPr sz="1725" b="0">
                <a:solidFill>
                  <a:srgbClr val="17232D"/>
                </a:solidFill>
              </a:rP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9 сочетаний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180 повторов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45 точек сетки</a:t>
            </a:r>
          </a:p>
        </p:txBody>
      </p:sp>
      <p:sp>
        <p:nvSpPr>
          <p:cNvPr id="10" name="scan-takeaway">
            <a:extLst xmlns:a="http://schemas.openxmlformats.org/drawingml/2006/main">
              <a:ext uri="{FF2B5EF4-FFF2-40B4-BE49-F238E27FC236}">
                <a16:creationId xmlns:a16="http://schemas.microsoft.com/office/drawing/2014/main" id="{8005A1C6-3D7F-4B44-8EF5-7DFA0DF1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00050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При γ = 0,05 к T = 100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ещё остаются заражённые.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N при этом сохраняется.</a:t>
            </a:r>
          </a:p>
        </p:txBody>
      </p:sp>
    </p:spTree>
    <p:extLst>
      <p:ext uri="{BB962C8B-B14F-4D97-AF65-F5344CB8AC3E}">
        <p14:creationId xmlns:p14="http://schemas.microsoft.com/office/powerpoint/2010/main" val="157533289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F6DA7DFC-D303-45C7-932C-2B94A3AE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E13BE153-F224-4FFB-A6F8-60B72D8F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8A92CE-6E00-4040-9EA3-57F7709C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Восемь блокнотов содержат реальные результаты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FAC0AB2-F232-4224-990D-03B69F9F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89cf64faa04674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8F67D68B-5FBC-4A0B-927B-439ED043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6334E4-9415-4008-9646-364F276B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302b102fe4adc"/>
          <a:stretch xmlns:a="http://schemas.openxmlformats.org/drawingml/2006/main"/>
        </p:blipFill>
        <p:spPr>
          <a:xfrm xmlns:a="http://schemas.openxmlformats.org/drawingml/2006/main">
            <a:off x="552450" y="1267420"/>
            <a:ext cx="7143749" cy="4018359"/>
          </a:xfrm>
          <a:prstGeom xmlns:a="http://schemas.openxmlformats.org/drawingml/2006/main" prst="rect">
            <a:avLst/>
          </a:prstGeom>
        </p:spPr>
      </p:pic>
      <p:sp>
        <p:nvSpPr>
          <p:cNvPr id="9" name="pipeline">
            <a:extLst xmlns:a="http://schemas.openxmlformats.org/drawingml/2006/main">
              <a:ext uri="{FF2B5EF4-FFF2-40B4-BE49-F238E27FC236}">
                <a16:creationId xmlns:a16="http://schemas.microsoft.com/office/drawing/2014/main" id="{A132DAB6-9E24-4B67-8EEE-3D0F2420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066800"/>
            <a:ext cx="3524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Julia → Literate →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QMD и IPYNB</a:t>
            </a:r>
          </a:p>
        </p:txBody>
      </p:sp>
      <p:sp>
        <p:nvSpPr>
          <p:cNvPr id="10" name="versions">
            <a:extLst xmlns:a="http://schemas.openxmlformats.org/drawingml/2006/main">
              <a:ext uri="{FF2B5EF4-FFF2-40B4-BE49-F238E27FC236}">
                <a16:creationId xmlns:a16="http://schemas.microsoft.com/office/drawing/2014/main" id="{A0225854-4DE9-4CAF-B50B-6816A356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95500"/>
            <a:ext cx="31051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Все ячейки выполнены.</a:t>
            </a:r>
          </a:p>
          <a:p xmlns:a="http://schemas.openxmlformats.org/drawingml/2006/main">
            <a:pPr algn="l">
              <a:buNone/>
              <a:defRPr sz="165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Таблицы, графики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и GIF сохранены.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Восемь QMD-фрагментов</a:t>
            </a:r>
          </a:p>
          <a:p xmlns:a="http://schemas.openxmlformats.org/drawingml/2006/main">
            <a:pPr algn="l">
              <a:buNone/>
              <a:defRPr sz="165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включены по ходу отчёта.</a:t>
            </a:r>
          </a:p>
        </p:txBody>
      </p:sp>
    </p:spTree>
    <p:extLst>
      <p:ext uri="{BB962C8B-B14F-4D97-AF65-F5344CB8AC3E}">
        <p14:creationId xmlns:p14="http://schemas.microsoft.com/office/powerpoint/2010/main" val="122148484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band">
            <a:extLst xmlns:a="http://schemas.openxmlformats.org/drawingml/2006/main">
              <a:ext uri="{FF2B5EF4-FFF2-40B4-BE49-F238E27FC236}">
                <a16:creationId xmlns:a16="http://schemas.microsoft.com/office/drawing/2014/main" id="{48421A46-F9BD-480F-B275-C23896D5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7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90627352-F663-4A2E-9B7B-12B403F6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8DEB88-7101-47B0-B748-A400397B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Проверки и исправления примера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CDEA9B6-8955-4F09-B9FA-546DA393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9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650bff5c9a429b"/>
          <a:stretch xmlns:a="http://schemas.openxmlformats.org/drawingml/2006/main"/>
        </p:blipFill>
        <p:spPr>
          <a:xfrm xmlns:a="http://schemas.openxmlformats.org/drawingml/2006/main">
            <a:off x="552450" y="6495443"/>
            <a:ext cx="304800" cy="258389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41B547B-6312-422F-97B9-B812308F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86525"/>
            <a:ext cx="733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675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526675"/>
                </a:solidFill>
                <a:latin typeface="Calibri"/>
                <a:ea typeface="Calibri"/>
                <a:cs typeface="Calibri"/>
              </a:rPr>
              <a:t>Имитационное моделирование · лабораторная работа № 6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D149F8-2B2A-45C2-ACB2-B531EF4A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865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8" name="goal">
            <a:extLst xmlns:a="http://schemas.openxmlformats.org/drawingml/2006/main">
              <a:ext uri="{FF2B5EF4-FFF2-40B4-BE49-F238E27FC236}">
                <a16:creationId xmlns:a16="http://schemas.microsoft.com/office/drawing/2014/main" id="{867F2279-946D-4402-B6C9-E80BAE1B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334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477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B4778"/>
                </a:solidFill>
                <a:latin typeface="Calibri"/>
                <a:ea typeface="Calibri"/>
                <a:cs typeface="Calibri"/>
              </a:rPr>
              <a:t>42 теста пройдены; содержание сверено с главой 6, стр. 191–207.</a:t>
            </a:r>
          </a:p>
        </p:txBody>
      </p:sp>
      <p:sp>
        <p:nvSpPr>
          <p:cNvPr id="9" name="left-rule">
            <a:extLst xmlns:a="http://schemas.openxmlformats.org/drawingml/2006/main">
              <a:ext uri="{FF2B5EF4-FFF2-40B4-BE49-F238E27FC236}">
                <a16:creationId xmlns:a16="http://schemas.microsoft.com/office/drawing/2014/main" id="{0B205D5C-F4E6-46EE-8BE3-E1E85CA2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571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asks">
            <a:extLst xmlns:a="http://schemas.openxmlformats.org/drawingml/2006/main">
              <a:ext uri="{FF2B5EF4-FFF2-40B4-BE49-F238E27FC236}">
                <a16:creationId xmlns:a16="http://schemas.microsoft.com/office/drawing/2014/main" id="{D0B8600E-8057-4E67-AFD8-8FFEDC55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9620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сохранение N, целочисленность SSA, допустимые переходы;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пик ОДУ проверен аналитическим соотношением;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времена событий SSA не подменены сеткой ОДУ;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βSI сохранён: при β = 0,1 эпидемия всё ещё развивается;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32D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32D"/>
                </a:solidFill>
                <a:latin typeface="Calibri"/>
                <a:ea typeface="Calibri"/>
                <a:cs typeface="Calibri"/>
              </a:rPr>
              <a:t>• ошибочный повтор сканирования заменён требуемой анимацией.</a:t>
            </a:r>
          </a:p>
        </p:txBody>
      </p:sp>
    </p:spTree>
    <p:extLst>
      <p:ext uri="{BB962C8B-B14F-4D97-AF65-F5344CB8AC3E}">
        <p14:creationId xmlns:p14="http://schemas.microsoft.com/office/powerpoint/2010/main" val="189917288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477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ccent">
            <a:extLst xmlns:a="http://schemas.openxmlformats.org/drawingml/2006/main">
              <a:ext uri="{FF2B5EF4-FFF2-40B4-BE49-F238E27FC236}">
                <a16:creationId xmlns:a16="http://schemas.microsoft.com/office/drawing/2014/main" id="{7EDC123F-A2A1-4A23-B400-58E76A7A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0b401a78904c0c"/>
          <a:stretch xmlns:a="http://schemas.openxmlformats.org/drawingml/2006/main"/>
        </p:blipFill>
        <p:spPr>
          <a:xfrm xmlns:a="http://schemas.openxmlformats.org/drawingml/2006/main">
            <a:off x="742950" y="716689"/>
            <a:ext cx="781050" cy="662123"/>
          </a:xfrm>
          <a:prstGeom xmlns:a="http://schemas.openxmlformats.org/drawingml/2006/main" prst="rect">
            <a:avLst/>
          </a:prstGeom>
        </p:spPr>
      </p:pic>
      <p:sp>
        <p:nvSpPr>
          <p:cNvPr id="3" name="conclusion-title">
            <a:extLst xmlns:a="http://schemas.openxmlformats.org/drawingml/2006/main">
              <a:ext uri="{FF2B5EF4-FFF2-40B4-BE49-F238E27FC236}">
                <a16:creationId xmlns:a16="http://schemas.microsoft.com/office/drawing/2014/main" id="{05B54D60-5BA6-4B1C-AA38-11674D7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723900"/>
            <a:ext cx="885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Выводы</a:t>
            </a:r>
          </a:p>
        </p:txBody>
      </p:sp>
      <p:sp>
        <p:nvSpPr>
          <p:cNvPr id="4" name="conclusion-rule">
            <a:extLst xmlns:a="http://schemas.openxmlformats.org/drawingml/2006/main">
              <a:ext uri="{FF2B5EF4-FFF2-40B4-BE49-F238E27FC236}">
                <a16:creationId xmlns:a16="http://schemas.microsoft.com/office/drawing/2014/main" id="{A6F50DB3-5845-402B-875A-F3D97196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33600"/>
            <a:ext cx="628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A9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nclusions">
            <a:extLst xmlns:a="http://schemas.openxmlformats.org/drawingml/2006/main">
              <a:ext uri="{FF2B5EF4-FFF2-40B4-BE49-F238E27FC236}">
                <a16:creationId xmlns:a16="http://schemas.microsoft.com/office/drawing/2014/main" id="{80C76B1D-E492-4AF8-A98B-ACC10B47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95350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Одна сеть задаёт ОДУ и дискретные события SSA.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Выполнены четыре основных и четыре параметрических сценария.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N = 1000 сохраняется; результаты и исходники согласованы.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Шаг наблюдений 0,5 скрывает истинный ранний максимум.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• Условия модели и исправления примера описаны явно.</a:t>
            </a:r>
          </a:p>
        </p:txBody>
      </p:sp>
      <p:sp>
        <p:nvSpPr>
          <p:cNvPr id="6" name="final">
            <a:extLst xmlns:a="http://schemas.openxmlformats.org/drawingml/2006/main">
              <a:ext uri="{FF2B5EF4-FFF2-40B4-BE49-F238E27FC236}">
                <a16:creationId xmlns:a16="http://schemas.microsoft.com/office/drawing/2014/main" id="{FCC7524D-04B4-4E2B-BB4A-218A72DF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24550"/>
            <a:ext cx="571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5A9D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35A9D3"/>
                </a:solidFill>
                <a:latin typeface="Calibri"/>
                <a:ea typeface="Calibri"/>
                <a:cs typeface="Calibri"/>
              </a:rPr>
              <a:t>Лабораторная работа № 6</a:t>
            </a:r>
          </a:p>
        </p:txBody>
      </p:sp>
    </p:spTree>
    <p:extLst>
      <p:ext uri="{BB962C8B-B14F-4D97-AF65-F5344CB8AC3E}">
        <p14:creationId xmlns:p14="http://schemas.microsoft.com/office/powerpoint/2010/main" val="5095397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2026-08-31T15:57:39.0750000Z</dcterms:created>
  <dcterms:modified xsi:type="dcterms:W3CDTF">2026-08-31T15:57:39.0750000Z</dcterms:modified>
</coreProperties>
</file>