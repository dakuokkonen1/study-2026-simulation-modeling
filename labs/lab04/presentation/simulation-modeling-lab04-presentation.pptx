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96a2b0b714e27" /><Relationship Type="http://schemas.openxmlformats.org/officeDocument/2006/relationships/extended-properties" Target="/docProps/app.xml" Id="R4f2500c345764cd8" /><Relationship Type="http://schemas.openxmlformats.org/officeDocument/2006/relationships/officeDocument" Target="/ppt/presentation.xml" Id="R8c62aa74a6f14c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b8947912a4d4f"/>
  </p:sldMasterIdLst>
  <p:notesMasterIdLst>
    <p:notesMasterId xmlns:r="http://schemas.openxmlformats.org/officeDocument/2006/relationships" r:id="R29cf7c8f5d6c4824"/>
  </p:notesMasterIdLst>
  <p:sldIdLst>
    <p:sldId xmlns:r="http://schemas.openxmlformats.org/officeDocument/2006/relationships" id="256" r:id="R5824d9e45f354161"/>
    <p:sldId xmlns:r="http://schemas.openxmlformats.org/officeDocument/2006/relationships" id="257" r:id="R5931c426f7c14df6"/>
    <p:sldId xmlns:r="http://schemas.openxmlformats.org/officeDocument/2006/relationships" id="258" r:id="R6d71f2dfba8d4104"/>
    <p:sldId xmlns:r="http://schemas.openxmlformats.org/officeDocument/2006/relationships" id="259" r:id="Ra7d5c352cffb475c"/>
    <p:sldId xmlns:r="http://schemas.openxmlformats.org/officeDocument/2006/relationships" id="260" r:id="R0b9e200e488e4a70"/>
    <p:sldId xmlns:r="http://schemas.openxmlformats.org/officeDocument/2006/relationships" id="261" r:id="R8663b9d161be4d17"/>
    <p:sldId xmlns:r="http://schemas.openxmlformats.org/officeDocument/2006/relationships" id="262" r:id="R4c3e34383d6e4c01"/>
    <p:sldId xmlns:r="http://schemas.openxmlformats.org/officeDocument/2006/relationships" id="263" r:id="R2122eacda0894a9e"/>
    <p:sldId xmlns:r="http://schemas.openxmlformats.org/officeDocument/2006/relationships" id="264" r:id="R71e2c90d73964f89"/>
    <p:sldId xmlns:r="http://schemas.openxmlformats.org/officeDocument/2006/relationships" id="265" r:id="Ra24edf18fd0e4a63"/>
    <p:sldId xmlns:r="http://schemas.openxmlformats.org/officeDocument/2006/relationships" id="266" r:id="Rbd7d00e748a34ddc"/>
    <p:sldId xmlns:r="http://schemas.openxmlformats.org/officeDocument/2006/relationships" id="267" r:id="R50dd563b5bc747f3"/>
    <p:sldId xmlns:r="http://schemas.openxmlformats.org/officeDocument/2006/relationships" id="268" r:id="R345ca598150b4030"/>
    <p:sldId xmlns:r="http://schemas.openxmlformats.org/officeDocument/2006/relationships" id="269" r:id="Rce177a3f67554a40"/>
    <p:sldId xmlns:r="http://schemas.openxmlformats.org/officeDocument/2006/relationships" id="270" r:id="R02848782f9d44acf"/>
    <p:sldId xmlns:r="http://schemas.openxmlformats.org/officeDocument/2006/relationships" id="271" r:id="Rc959fb2cc710449b"/>
    <p:sldId xmlns:r="http://schemas.openxmlformats.org/officeDocument/2006/relationships" id="272" r:id="R685407860113468e"/>
    <p:sldId xmlns:r="http://schemas.openxmlformats.org/officeDocument/2006/relationships" id="273" r:id="Rfc96e7415c874015"/>
    <p:sldId xmlns:r="http://schemas.openxmlformats.org/officeDocument/2006/relationships" id="274" r:id="R5145e9fa5ca04340"/>
    <p:sldId xmlns:r="http://schemas.openxmlformats.org/officeDocument/2006/relationships" id="275" r:id="Rdc9883c0628b45f8"/>
    <p:sldId xmlns:r="http://schemas.openxmlformats.org/officeDocument/2006/relationships" id="276" r:id="R4bba454b890b48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ae33ce9cb4ea4" /><Relationship Type="http://schemas.openxmlformats.org/officeDocument/2006/relationships/slideMaster" Target="/ppt/slideMasters/slideMaster1.xml" Id="Rbb7b8947912a4d4f" /><Relationship Type="http://schemas.openxmlformats.org/officeDocument/2006/relationships/notesMaster" Target="/ppt/notesMasters/notesMaster1.xml" Id="R29cf7c8f5d6c4824" /><Relationship Type="http://schemas.openxmlformats.org/officeDocument/2006/relationships/presProps" Target="/ppt/presProps.xml" Id="R3bd8fd4747c14a48" /><Relationship Type="http://schemas.openxmlformats.org/officeDocument/2006/relationships/tableStyles" Target="/ppt/tableStyles.xml" Id="Rb7b6464312b44016" /><Relationship Type="http://schemas.openxmlformats.org/officeDocument/2006/relationships/slide" Target="/ppt/slides/slide1.xml" Id="R5824d9e45f354161" /><Relationship Type="http://schemas.openxmlformats.org/officeDocument/2006/relationships/slide" Target="/ppt/slides/slide2.xml" Id="R5931c426f7c14df6" /><Relationship Type="http://schemas.openxmlformats.org/officeDocument/2006/relationships/slide" Target="/ppt/slides/slide3.xml" Id="R6d71f2dfba8d4104" /><Relationship Type="http://schemas.openxmlformats.org/officeDocument/2006/relationships/slide" Target="/ppt/slides/slide4.xml" Id="Ra7d5c352cffb475c" /><Relationship Type="http://schemas.openxmlformats.org/officeDocument/2006/relationships/slide" Target="/ppt/slides/slide5.xml" Id="R0b9e200e488e4a70" /><Relationship Type="http://schemas.openxmlformats.org/officeDocument/2006/relationships/slide" Target="/ppt/slides/slide6.xml" Id="R8663b9d161be4d17" /><Relationship Type="http://schemas.openxmlformats.org/officeDocument/2006/relationships/slide" Target="/ppt/slides/slide7.xml" Id="R4c3e34383d6e4c01" /><Relationship Type="http://schemas.openxmlformats.org/officeDocument/2006/relationships/slide" Target="/ppt/slides/slide8.xml" Id="R2122eacda0894a9e" /><Relationship Type="http://schemas.openxmlformats.org/officeDocument/2006/relationships/slide" Target="/ppt/slides/slide9.xml" Id="R71e2c90d73964f89" /><Relationship Type="http://schemas.openxmlformats.org/officeDocument/2006/relationships/slide" Target="/ppt/slides/slide10.xml" Id="Ra24edf18fd0e4a63" /><Relationship Type="http://schemas.openxmlformats.org/officeDocument/2006/relationships/slide" Target="/ppt/slides/slide11.xml" Id="Rbd7d00e748a34ddc" /><Relationship Type="http://schemas.openxmlformats.org/officeDocument/2006/relationships/slide" Target="/ppt/slides/slide12.xml" Id="R50dd563b5bc747f3" /><Relationship Type="http://schemas.openxmlformats.org/officeDocument/2006/relationships/slide" Target="/ppt/slides/slide13.xml" Id="R345ca598150b4030" /><Relationship Type="http://schemas.openxmlformats.org/officeDocument/2006/relationships/slide" Target="/ppt/slides/slide14.xml" Id="Rce177a3f67554a40" /><Relationship Type="http://schemas.openxmlformats.org/officeDocument/2006/relationships/slide" Target="/ppt/slides/slide15.xml" Id="R02848782f9d44acf" /><Relationship Type="http://schemas.openxmlformats.org/officeDocument/2006/relationships/slide" Target="/ppt/slides/slide16.xml" Id="Rc959fb2cc710449b" /><Relationship Type="http://schemas.openxmlformats.org/officeDocument/2006/relationships/slide" Target="/ppt/slides/slide17.xml" Id="R685407860113468e" /><Relationship Type="http://schemas.openxmlformats.org/officeDocument/2006/relationships/slide" Target="/ppt/slides/slide18.xml" Id="Rfc96e7415c874015" /><Relationship Type="http://schemas.openxmlformats.org/officeDocument/2006/relationships/slide" Target="/ppt/slides/slide19.xml" Id="R5145e9fa5ca04340" /><Relationship Type="http://schemas.openxmlformats.org/officeDocument/2006/relationships/slide" Target="/ppt/slides/slide20.xml" Id="Rdc9883c0628b45f8" /><Relationship Type="http://schemas.openxmlformats.org/officeDocument/2006/relationships/slide" Target="/ppt/slides/slide21.xml" Id="R4bba454b890b48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6ea2e80ee47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717168e5f44629" /><Relationship Type="http://schemas.openxmlformats.org/officeDocument/2006/relationships/notesMaster" Target="/ppt/notesMasters/notesMaster1.xml" Id="Rd0e540c8850944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653156b6894769" /><Relationship Type="http://schemas.openxmlformats.org/officeDocument/2006/relationships/notesMaster" Target="/ppt/notesMasters/notesMaster1.xml" Id="Ra4973be0c2854c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e27852ff14a19" /><Relationship Type="http://schemas.openxmlformats.org/officeDocument/2006/relationships/notesMaster" Target="/ppt/notesMasters/notesMaster1.xml" Id="R105bd2602e804b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ff6fcf7535477c" /><Relationship Type="http://schemas.openxmlformats.org/officeDocument/2006/relationships/notesMaster" Target="/ppt/notesMasters/notesMaster1.xml" Id="R31c9fc3b37b2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22c8dcb7e4806" /><Relationship Type="http://schemas.openxmlformats.org/officeDocument/2006/relationships/notesMaster" Target="/ppt/notesMasters/notesMaster1.xml" Id="R20ade3def88b46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2d025805b44a8" /><Relationship Type="http://schemas.openxmlformats.org/officeDocument/2006/relationships/notesMaster" Target="/ppt/notesMasters/notesMaster1.xml" Id="Rdd88070130fd4b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e8de5d7ce4e04" /><Relationship Type="http://schemas.openxmlformats.org/officeDocument/2006/relationships/notesMaster" Target="/ppt/notesMasters/notesMaster1.xml" Id="R6f7b3231e56540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6ffa7b4ee04470" /><Relationship Type="http://schemas.openxmlformats.org/officeDocument/2006/relationships/notesMaster" Target="/ppt/notesMasters/notesMaster1.xml" Id="Rc08642153d6140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f169bdad1f425b" /><Relationship Type="http://schemas.openxmlformats.org/officeDocument/2006/relationships/notesMaster" Target="/ppt/notesMasters/notesMaster1.xml" Id="Rc7a84b89fb1e4f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ebe92311db49ef" /><Relationship Type="http://schemas.openxmlformats.org/officeDocument/2006/relationships/notesMaster" Target="/ppt/notesMasters/notesMaster1.xml" Id="Rcdfdc67373d443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6670d47f114661" /><Relationship Type="http://schemas.openxmlformats.org/officeDocument/2006/relationships/notesMaster" Target="/ppt/notesMasters/notesMaster1.xml" Id="R2f4bb0737cbc45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6eafd9d9e54e76" /><Relationship Type="http://schemas.openxmlformats.org/officeDocument/2006/relationships/notesMaster" Target="/ppt/notesMasters/notesMaster1.xml" Id="Ra36fc238a58e4d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ee952f6be84384" /><Relationship Type="http://schemas.openxmlformats.org/officeDocument/2006/relationships/notesMaster" Target="/ppt/notesMasters/notesMaster1.xml" Id="R54cb3318073b40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81fdec17144ca2" /><Relationship Type="http://schemas.openxmlformats.org/officeDocument/2006/relationships/notesMaster" Target="/ppt/notesMasters/notesMaster1.xml" Id="Rdbbc463b23724e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6286f516af4826" /><Relationship Type="http://schemas.openxmlformats.org/officeDocument/2006/relationships/notesMaster" Target="/ppt/notesMasters/notesMaster1.xml" Id="Rc94e46a4049d42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a684c909bb4136" /><Relationship Type="http://schemas.openxmlformats.org/officeDocument/2006/relationships/notesMaster" Target="/ppt/notesMasters/notesMaster1.xml" Id="R6beceffd072f49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7fe98cd9a94d76" /><Relationship Type="http://schemas.openxmlformats.org/officeDocument/2006/relationships/notesMaster" Target="/ppt/notesMasters/notesMaster1.xml" Id="R454ed01e2d774e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50dba489024103" /><Relationship Type="http://schemas.openxmlformats.org/officeDocument/2006/relationships/notesMaster" Target="/ppt/notesMasters/notesMaster1.xml" Id="R83b79eabb5ae4f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e6a9bdd16b4f18" /><Relationship Type="http://schemas.openxmlformats.org/officeDocument/2006/relationships/notesMaster" Target="/ppt/notesMasters/notesMaster1.xml" Id="Rd5eb6e583f4d4e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6f76bdd2ec4837" /><Relationship Type="http://schemas.openxmlformats.org/officeDocument/2006/relationships/notesMaster" Target="/ppt/notesMasters/notesMaster1.xml" Id="R21b85423cd864c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12fe6a920843b1" /><Relationship Type="http://schemas.openxmlformats.org/officeDocument/2006/relationships/notesMaster" Target="/ppt/notesMasters/notesMaster1.xml" Id="Ra419b9597add4a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labs/lab04/image/01-terminal.png.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labs/lab04/image/02-terminal.png.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labs/lab04/image/01-plot.png.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labs/lab04/image/02-plot.png.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labs/lab04/image/03-plot.png.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labs/lab04/image/06-plot.png, 07-plot.png.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labs/lab04/image/08-plot.png.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labs/lab04/image/04-plot.png, 09-plot.png.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labs/lab04/image/05-plot.png.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labs/lab04/image/10-plot.png.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labs/lab04/image/11-plot.png, 12-plot.png.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labs/lab04/image/13-plot.png.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labs/lab04/image/14-plot.png.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labs/lab04/image/03-terminal.png.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Королькова А. В., Кулябов Д. С. Имитационное моделирование. Практикум. Глава 4, стр. 137–164.</a:t>
            </a:r>
          </a:p>
          <a:p xmlns:a="http://schemas.openxmlformats.org/drawingml/2006/main">
            <a:r>
              <a:t>Локальные исходники и измерения: labs/lab04/project/src, scripts, data и test/runtests.jl.</a:t>
            </a:r>
          </a:p>
          <a:p xmlns:a="http://schemas.openxmlformats.org/drawingml/2006/main">
            <a:r>
              <a:t>Иллюстрации: labs/lab04/image/.</a:t>
            </a:r>
          </a:p>
          <a:p xmlns:a="http://schemas.openxmlformats.org/drawingml/2006/main">
            <a:r>
              <a:t>Оформление и логотип: принятая презентация лабораторной № 2.</a:t>
            </a:r>
          </a:p>
          <a:p xmlns:a="http://schemas.openxmlformats.org/drawingml/2006/main">
            <a:r>
              <a:t>Три города, Ns=[1000,1000,1000], Is=[0,0,1], seed 42. Пик — максимум I/живые; смертность — умершие/N₀. Сканирования: seed 42–44. BorgMOEA: β∈[0.1,1], выявление 3–14 дней, смертность 0.01–0.1; пять seed 43–47 и отдельно 143–147, MaxTime=120 с. Ограниченный поиск: пик&lt;30% на обучающих seed, независимая проверка 1001–1020. Это учебная агентная модель без медицинской калибровки.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9022c724444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bcf76ad10a4507" /><Relationship Type="http://schemas.openxmlformats.org/officeDocument/2006/relationships/slideLayout" Target="/ppt/slideLayouts/slideLayout1.xml" Id="R5d6c9c4a891d4f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c9c4a891d4f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11ae8b886854af8" /><Relationship Type="http://schemas.openxmlformats.org/officeDocument/2006/relationships/image" Target="/ppt/media/image.png" Id="R96499022a7a44b62" /><Relationship Type="http://schemas.openxmlformats.org/officeDocument/2006/relationships/notesSlide" Target="/ppt/notesSlides/notesSlide1.xml" Id="R2857905d78ce453f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05c13085ec247bd" /><Relationship Type="http://schemas.openxmlformats.org/officeDocument/2006/relationships/image" Target="/ppt/media/image2.png" Id="Rfb61508d0555466f" /><Relationship Type="http://schemas.openxmlformats.org/officeDocument/2006/relationships/notesSlide" Target="/ppt/notesSlides/notesSlide2.xml" Id="R0700e49d7bfc42d8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b5ca00bd8844ed1" /><Relationship Type="http://schemas.openxmlformats.org/officeDocument/2006/relationships/image" Target="/ppt/media/image3.png" Id="R7ac25f0e6a48425d" /><Relationship Type="http://schemas.openxmlformats.org/officeDocument/2006/relationships/notesSlide" Target="/ppt/notesSlides/notesSlide3.xml" Id="Rab8c64bd14744adb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e14c2dd746f4f55" /><Relationship Type="http://schemas.openxmlformats.org/officeDocument/2006/relationships/image" Target="/ppt/media/image4.png" Id="R366be01a82c54449" /><Relationship Type="http://schemas.openxmlformats.org/officeDocument/2006/relationships/notesSlide" Target="/ppt/notesSlides/notesSlide4.xml" Id="R78b76b918e7c4b4e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49f8a00243e4383" /><Relationship Type="http://schemas.openxmlformats.org/officeDocument/2006/relationships/image" Target="/ppt/media/image5.png" Id="R8d9a328ba99e4513" /><Relationship Type="http://schemas.openxmlformats.org/officeDocument/2006/relationships/image" Target="/ppt/media/image6.png" Id="R4638c22fbe9549ea" /><Relationship Type="http://schemas.openxmlformats.org/officeDocument/2006/relationships/notesSlide" Target="/ppt/notesSlides/notesSlide5.xml" Id="Rf187a17e1702484b" /><Relationship Id="Lab4Slide5Picture1" Type="http://schemas.openxmlformats.org/officeDocument/2006/relationships/image" Target="/ppt/media/lab04-slide5-picture1.png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8bd47278771434b" /><Relationship Type="http://schemas.openxmlformats.org/officeDocument/2006/relationships/image" Target="/ppt/media/image7.png" Id="R9320647cf7814caa" /><Relationship Type="http://schemas.openxmlformats.org/officeDocument/2006/relationships/image" Target="/ppt/media/image8.png" Id="R0b6821056e0a4fe2" /><Relationship Type="http://schemas.openxmlformats.org/officeDocument/2006/relationships/notesSlide" Target="/ppt/notesSlides/notesSlide6.xml" Id="Rcede2de2c1604d0e" /><Relationship Id="Lab4Slide6Picture1" Type="http://schemas.openxmlformats.org/officeDocument/2006/relationships/image" Target="/ppt/media/lab04-slide6-picture1.png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b4d87377b914a7e" /><Relationship Type="http://schemas.openxmlformats.org/officeDocument/2006/relationships/image" Target="/ppt/media/image9.png" Id="R824c26fc9f3c432c" /><Relationship Type="http://schemas.openxmlformats.org/officeDocument/2006/relationships/image" Target="/ppt/media/image10.png" Id="R5d5a6690780f406f" /><Relationship Type="http://schemas.openxmlformats.org/officeDocument/2006/relationships/notesSlide" Target="/ppt/notesSlides/notesSlide7.xml" Id="R750c8e7b277c4836" /><Relationship Id="Lab4Slide7Picture1" Type="http://schemas.openxmlformats.org/officeDocument/2006/relationships/image" Target="/ppt/media/lab04-slide7-picture1.png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42af1b7f9af4e61" /><Relationship Type="http://schemas.openxmlformats.org/officeDocument/2006/relationships/image" Target="/ppt/media/image11.png" Id="Rdc18d52c46dd4f6e" /><Relationship Type="http://schemas.openxmlformats.org/officeDocument/2006/relationships/image" Target="/ppt/media/image12.png" Id="Re6a5e9ba42914e18" /><Relationship Type="http://schemas.openxmlformats.org/officeDocument/2006/relationships/notesSlide" Target="/ppt/notesSlides/notesSlide8.xml" Id="R9078e71915f94b97" /><Relationship Id="Lab4Slide8Picture1" Type="http://schemas.openxmlformats.org/officeDocument/2006/relationships/image" Target="/ppt/media/lab04-slide8-picture1.png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f65acd9ac1f469c" /><Relationship Type="http://schemas.openxmlformats.org/officeDocument/2006/relationships/image" Target="/ppt/media/image13.png" Id="R961a0f5964a343ed" /><Relationship Type="http://schemas.openxmlformats.org/officeDocument/2006/relationships/image" Target="/ppt/media/image14.png" Id="R4fa506a19f4f40bb" /><Relationship Type="http://schemas.openxmlformats.org/officeDocument/2006/relationships/notesSlide" Target="/ppt/notesSlides/notesSlide9.xml" Id="R652496ee28e4475a" /><Relationship Id="Lab4Slide9Picture1" Type="http://schemas.openxmlformats.org/officeDocument/2006/relationships/image" Target="/ppt/media/lab04-slide9-picture1.png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5816d10fddf4080" /><Relationship Type="http://schemas.openxmlformats.org/officeDocument/2006/relationships/image" Target="/ppt/media/image15.png" Id="R7c0a4e9e0aeb4d7a" /><Relationship Type="http://schemas.openxmlformats.org/officeDocument/2006/relationships/image" Target="/ppt/media/image16.png" Id="R4337894fbbd9436d" /><Relationship Type="http://schemas.openxmlformats.org/officeDocument/2006/relationships/image" Target="/ppt/media/image17.png" Id="Rcfe74f7b378d49a9" /><Relationship Type="http://schemas.openxmlformats.org/officeDocument/2006/relationships/notesSlide" Target="/ppt/notesSlides/notesSlide10.xml" Id="Rd4e93316952f4e1b" /><Relationship Id="Lab4Slide10Picture1" Type="http://schemas.openxmlformats.org/officeDocument/2006/relationships/image" Target="/ppt/media/lab04-slide10-picture1.png"/><Relationship Id="Lab4Slide10Picture2" Type="http://schemas.openxmlformats.org/officeDocument/2006/relationships/image" Target="/ppt/media/lab04-slide10-picture2.png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727ed7631ce456f" /><Relationship Type="http://schemas.openxmlformats.org/officeDocument/2006/relationships/image" Target="/ppt/media/image18.png" Id="R5760f2ec7ee64bda" /><Relationship Type="http://schemas.openxmlformats.org/officeDocument/2006/relationships/image" Target="/ppt/media/image19.png" Id="R48f9973b2beb45f4" /><Relationship Type="http://schemas.openxmlformats.org/officeDocument/2006/relationships/notesSlide" Target="/ppt/notesSlides/notesSlide11.xml" Id="Rd0be4bc198774055" /><Relationship Id="Lab4Slide11Picture1" Type="http://schemas.openxmlformats.org/officeDocument/2006/relationships/image" Target="/ppt/media/lab04-slide11-picture1.png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93883a9f1f64c20" /><Relationship Type="http://schemas.openxmlformats.org/officeDocument/2006/relationships/image" Target="/ppt/media/image15.png" Id="Re433ac1b655a4942" /><Relationship Type="http://schemas.openxmlformats.org/officeDocument/2006/relationships/image" Target="/ppt/media/image16.png" Id="R229b39def1c74f1b" /><Relationship Type="http://schemas.openxmlformats.org/officeDocument/2006/relationships/image" Target="/ppt/media/image17.png" Id="Ra38166c273534b8f" /><Relationship Type="http://schemas.openxmlformats.org/officeDocument/2006/relationships/notesSlide" Target="/ppt/notesSlides/notesSlide12.xml" Id="R1877c51a719f44a4" /><Relationship Id="Lab4Slide12Picture1" Type="http://schemas.openxmlformats.org/officeDocument/2006/relationships/image" Target="/ppt/media/lab04-slide12-picture1.png"/><Relationship Id="Lab4Slide12Picture2" Type="http://schemas.openxmlformats.org/officeDocument/2006/relationships/image" Target="/ppt/media/lab04-slide12-picture2.png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d34f3aa6e7f4940" /><Relationship Type="http://schemas.openxmlformats.org/officeDocument/2006/relationships/image" Target="/ppt/media/image18.png" Id="R0d8b7c92c70b46c3" /><Relationship Type="http://schemas.openxmlformats.org/officeDocument/2006/relationships/image" Target="/ppt/media/image19.png" Id="R139cb63bd38c4271" /><Relationship Type="http://schemas.openxmlformats.org/officeDocument/2006/relationships/notesSlide" Target="/ppt/notesSlides/notesSlide13.xml" Id="Rb2be3c0c96e54791" /><Relationship Id="Lab4Slide13Picture1" Type="http://schemas.openxmlformats.org/officeDocument/2006/relationships/image" Target="/ppt/media/lab04-slide13-picture1.png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d5bef80e2fe42ec" /><Relationship Type="http://schemas.openxmlformats.org/officeDocument/2006/relationships/image" Target="/ppt/media/image13.png" Id="Rccbae7d748154ca3" /><Relationship Type="http://schemas.openxmlformats.org/officeDocument/2006/relationships/image" Target="/ppt/media/image14.png" Id="R1e200c90d6be42dc" /><Relationship Type="http://schemas.openxmlformats.org/officeDocument/2006/relationships/notesSlide" Target="/ppt/notesSlides/notesSlide14.xml" Id="Rb4c18463a9834882" /><Relationship Id="Lab4Slide14Picture1" Type="http://schemas.openxmlformats.org/officeDocument/2006/relationships/image" Target="/ppt/media/lab04-slide14-picture1.png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fc96c115fba47d8" /><Relationship Type="http://schemas.openxmlformats.org/officeDocument/2006/relationships/image" Target="/ppt/media/image15.png" Id="R62daedb82e3d4f37" /><Relationship Type="http://schemas.openxmlformats.org/officeDocument/2006/relationships/image" Target="/ppt/media/image16.png" Id="Rfe8fc9a08b1f4a92" /><Relationship Type="http://schemas.openxmlformats.org/officeDocument/2006/relationships/image" Target="/ppt/media/image17.png" Id="R93eefa1a67f94ebb" /><Relationship Type="http://schemas.openxmlformats.org/officeDocument/2006/relationships/notesSlide" Target="/ppt/notesSlides/notesSlide15.xml" Id="R8d2ef7d86a544f48" /><Relationship Id="Lab4Slide15Picture1" Type="http://schemas.openxmlformats.org/officeDocument/2006/relationships/image" Target="/ppt/media/lab04-slide15-picture1.png"/><Relationship Id="Lab4Slide15Picture2" Type="http://schemas.openxmlformats.org/officeDocument/2006/relationships/image" Target="/ppt/media/lab04-slide15-picture2.png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6a66fa2844340d9" /><Relationship Type="http://schemas.openxmlformats.org/officeDocument/2006/relationships/image" Target="/ppt/media/image13.png" Id="Rf1fd441215d04318" /><Relationship Type="http://schemas.openxmlformats.org/officeDocument/2006/relationships/image" Target="/ppt/media/image14.png" Id="R31ede7f3da3f448d" /><Relationship Type="http://schemas.openxmlformats.org/officeDocument/2006/relationships/notesSlide" Target="/ppt/notesSlides/notesSlide16.xml" Id="R4e0d93bcb6d342c3" /><Relationship Id="Lab4Slide16Picture1" Type="http://schemas.openxmlformats.org/officeDocument/2006/relationships/image" Target="/ppt/media/lab04-slide16-picture1.png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ae6a1422b794d0c" /><Relationship Type="http://schemas.openxmlformats.org/officeDocument/2006/relationships/image" Target="/ppt/media/image9.png" Id="Rc3faf87c986d4760" /><Relationship Type="http://schemas.openxmlformats.org/officeDocument/2006/relationships/image" Target="/ppt/media/image10.png" Id="Rb3e42d6adfb34d3d" /><Relationship Type="http://schemas.openxmlformats.org/officeDocument/2006/relationships/notesSlide" Target="/ppt/notesSlides/notesSlide17.xml" Id="Re240c9a3f926489f" /><Relationship Id="Lab4Slide17Picture1" Type="http://schemas.openxmlformats.org/officeDocument/2006/relationships/image" Target="/ppt/media/lab04-slide17-picture1.png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70223731120426d" /><Relationship Type="http://schemas.openxmlformats.org/officeDocument/2006/relationships/image" Target="/ppt/media/image2.png" Id="R6588b9762e454500" /><Relationship Type="http://schemas.openxmlformats.org/officeDocument/2006/relationships/notesSlide" Target="/ppt/notesSlides/notesSlide18.xml" Id="R118fc72a8cc24776" 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26b1f50a089493b" /><Relationship Type="http://schemas.openxmlformats.org/officeDocument/2006/relationships/image" Target="/ppt/media/image20.png" Id="Raf508ebc80cc45aa" /><Relationship Type="http://schemas.openxmlformats.org/officeDocument/2006/relationships/image" Target="/ppt/media/image21.png" Id="R615866dabe6a4b60" /><Relationship Type="http://schemas.openxmlformats.org/officeDocument/2006/relationships/notesSlide" Target="/ppt/notesSlides/notesSlide19.xml" Id="Rbdb7873186154d80" /><Relationship Id="Lab4Slide19Picture1" Type="http://schemas.openxmlformats.org/officeDocument/2006/relationships/image" Target="/ppt/media/lab04-slide19-picture1.png"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ce0e47539f649f7" /><Relationship Type="http://schemas.openxmlformats.org/officeDocument/2006/relationships/image" Target="/ppt/media/image22.png" Id="R73eba8ecf7c141b4" /><Relationship Type="http://schemas.openxmlformats.org/officeDocument/2006/relationships/notesSlide" Target="/ppt/notesSlides/notesSlide20.xml" Id="Ra917717d06914f89" 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b834b2312d14e46" /><Relationship Type="http://schemas.openxmlformats.org/officeDocument/2006/relationships/image" Target="/ppt/media/image23.png" Id="R2c7aae08bd814d57" /><Relationship Type="http://schemas.openxmlformats.org/officeDocument/2006/relationships/notesSlide" Target="/ppt/notesSlides/notesSlide21.xml" Id="R2308a177eb7646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3396A765-E720-4140-8F2A-9B2252C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F0AA6C92-D1C5-4BD3-9709-9C06392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9022a7a44b62"/>
          <a:stretch xmlns:a="http://schemas.openxmlformats.org/drawingml/2006/main"/>
        </p:blipFill>
        <p:spPr>
          <a:xfrm xmlns:a="http://schemas.openxmlformats.org/drawingml/2006/main">
            <a:off x="457200" y="560369"/>
            <a:ext cx="1104900" cy="936661"/>
          </a:xfrm>
          <a:prstGeom xmlns:a="http://schemas.openxmlformats.org/drawingml/2006/main" prst="rect">
            <a:avLst/>
          </a:prstGeom>
        </p:spPr>
      </p:pic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5F81805C-F6B2-4923-AA28-EDF4ED9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144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EA5"/>
                </a:solidFill>
              </a:defRPr>
            </a:pPr>
            <a:r>
              <a:rPr sz="1350" b="1">
                <a:solidFill>
                  <a:srgbClr val="176EA5"/>
                </a:solidFill>
              </a:rPr>
              <a:t>ИМИТАЦИОННОЕ МОДЕЛИРОВАНИЕ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45F79F-CBEE-46C7-8579-E321FAC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621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Лабораторная работа № 4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5432B33-C963-45BE-9D52-7A35D6A1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003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Агентная SIR: города, миграция и оптимизация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DF11CD1-D867-493C-A776-41C0A6B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590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uthor">
            <a:extLst xmlns:a="http://schemas.openxmlformats.org/drawingml/2006/main">
              <a:ext uri="{FF2B5EF4-FFF2-40B4-BE49-F238E27FC236}">
                <a16:creationId xmlns:a16="http://schemas.microsoft.com/office/drawing/2014/main" id="{C9EE01F2-1E06-4D5F-B59A-782D642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Куокконен Дарина Андреевна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</a:defRPr>
            </a:pPr>
            <a:r>
              <a:rPr sz="1725" b="0">
                <a:solidFill>
                  <a:srgbClr val="17232D"/>
                </a:solidFill>
              </a:rPr>
              <a:t>НФИбд-01-23</a:t>
            </a:r>
          </a:p>
        </p:txBody>
      </p:sp>
      <p:sp>
        <p:nvSpPr>
          <p:cNvPr id="9" name="university">
            <a:extLst xmlns:a="http://schemas.openxmlformats.org/drawingml/2006/main">
              <a:ext uri="{FF2B5EF4-FFF2-40B4-BE49-F238E27FC236}">
                <a16:creationId xmlns:a16="http://schemas.microsoft.com/office/drawing/2014/main" id="{1E145EEC-F5DF-4FF7-9082-F8E822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673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Российский университет дружбы народов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675"/>
                </a:solidFill>
              </a:defRPr>
            </a:pPr>
            <a:r>
              <a:rPr sz="1350" b="0">
                <a:solidFill>
                  <a:srgbClr val="526675"/>
                </a:solidFill>
              </a:rPr>
              <a:t>имени Патриса Лумумбы · Москва · 2026</a:t>
            </a:r>
          </a:p>
        </p:txBody>
      </p:sp>
    </p:spTree>
    <p:extLst>
      <p:ext uri="{BB962C8B-B14F-4D97-AF65-F5344CB8AC3E}">
        <p14:creationId xmlns:p14="http://schemas.microsoft.com/office/powerpoint/2010/main" val="1891124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Агентная модель связывает три города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1508d0555466f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Цель — исследовать заражения, перемещения и выявление инфекции на уровне отдельных людей.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выполнить пять основных сценариев;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сравнить четыре параметрических расширения;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решить шесть дополнительных заданий;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оптимизировать пик и смертность методом BorgMOEA;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проверить ограничение пика на новых seed;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включить все 12 сценариев в выполненные блокноты.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3EEA6B23-AFB4-4427-A475-AEF5DDA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0A9777-4FA0-429D-8228-411BC965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A3BF7-966F-458F-B59D-CE4CCF98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Один шаг включает миграцию и передачу инфекции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C91618-2B9A-40EC-9AA7-257BA9B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25f0e6a48425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AE11C7-4C12-40DF-87E8-6272C63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091B3-20E5-4A17-8498-D902EAD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B1E9D04E-FA55-4CFF-8F43-F47340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sir-formulas">
            <a:extLst xmlns:a="http://schemas.openxmlformats.org/drawingml/2006/main">
              <a:ext uri="{FF2B5EF4-FFF2-40B4-BE49-F238E27FC236}">
                <a16:creationId xmlns:a16="http://schemas.microsoft.com/office/drawing/2014/main" id="{E62C42B5-3244-41DB-8CEC-D1C06B6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4333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S → I → 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R → I с вероятностью 0,1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После болезни: R или смерть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Контакты: Poisson(β)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Обновление последовательное</a:t>
            </a:r>
          </a:p>
        </p:txBody>
      </p:sp>
      <p:sp>
        <p:nvSpPr>
          <p:cNvPr id="10" name="sir-meaning">
            <a:extLst xmlns:a="http://schemas.openxmlformats.org/drawingml/2006/main">
              <a:ext uri="{FF2B5EF4-FFF2-40B4-BE49-F238E27FC236}">
                <a16:creationId xmlns:a16="http://schemas.microsoft.com/office/drawing/2014/main" id="{41D19FF8-7068-4D04-B519-53E8161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8112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Агенты посещают города, заражают доступных соседей и стареют по болезни.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Poisson задаёт цель успешных заражений, а не фиксированное число попыток.</a:t>
            </a:r>
          </a:p>
        </p:txBody>
      </p:sp>
      <p:sp>
        <p:nvSpPr>
          <p:cNvPr id="11" name="r0-bg">
            <a:extLst xmlns:a="http://schemas.openxmlformats.org/drawingml/2006/main">
              <a:ext uri="{FF2B5EF4-FFF2-40B4-BE49-F238E27FC236}">
                <a16:creationId xmlns:a16="http://schemas.microsoft.com/office/drawing/2014/main" id="{DDA48782-AECC-4910-B9D2-3F299558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r0-value">
            <a:extLst xmlns:a="http://schemas.openxmlformats.org/drawingml/2006/main">
              <a:ext uri="{FF2B5EF4-FFF2-40B4-BE49-F238E27FC236}">
                <a16:creationId xmlns:a16="http://schemas.microsoft.com/office/drawing/2014/main" id="{B18707AA-ED3C-4619-A9B6-DFF0176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3000</a:t>
            </a:r>
          </a:p>
        </p:txBody>
      </p:sp>
      <p:sp>
        <p:nvSpPr>
          <p:cNvPr id="13" name="r0-caption">
            <a:extLst xmlns:a="http://schemas.openxmlformats.org/drawingml/2006/main">
              <a:ext uri="{FF2B5EF4-FFF2-40B4-BE49-F238E27FC236}">
                <a16:creationId xmlns:a16="http://schemas.microsoft.com/office/drawing/2014/main" id="{A58DA480-4E37-4926-931E-A697D70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людей в начале</a:t>
            </a:r>
          </a:p>
        </p:txBody>
      </p:sp>
      <p:sp>
        <p:nvSpPr>
          <p:cNvPr id="14" name="peak-bg">
            <a:extLst xmlns:a="http://schemas.openxmlformats.org/drawingml/2006/main">
              <a:ext uri="{FF2B5EF4-FFF2-40B4-BE49-F238E27FC236}">
                <a16:creationId xmlns:a16="http://schemas.microsoft.com/office/drawing/2014/main" id="{057DFCE5-9E6A-4EC5-AF80-3D23DC91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09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peak-value">
            <a:extLst xmlns:a="http://schemas.openxmlformats.org/drawingml/2006/main">
              <a:ext uri="{FF2B5EF4-FFF2-40B4-BE49-F238E27FC236}">
                <a16:creationId xmlns:a16="http://schemas.microsoft.com/office/drawing/2014/main" id="{25877720-9526-4D97-B9EA-1C32D0D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14 дней</a:t>
            </a:r>
          </a:p>
        </p:txBody>
      </p:sp>
      <p:sp>
        <p:nvSpPr>
          <p:cNvPr id="16" name="peak-caption">
            <a:extLst xmlns:a="http://schemas.openxmlformats.org/drawingml/2006/main">
              <a:ext uri="{FF2B5EF4-FFF2-40B4-BE49-F238E27FC236}">
                <a16:creationId xmlns:a16="http://schemas.microsoft.com/office/drawing/2014/main" id="{7005C71B-CBA1-467E-AD9C-32FB371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339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период инфекции</a:t>
            </a:r>
          </a:p>
        </p:txBody>
      </p:sp>
    </p:spTree>
    <p:extLst>
      <p:ext uri="{BB962C8B-B14F-4D97-AF65-F5344CB8AC3E}">
        <p14:creationId xmlns:p14="http://schemas.microsoft.com/office/powerpoint/2010/main" val="1584789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band">
            <a:extLst xmlns:a="http://schemas.openxmlformats.org/drawingml/2006/main">
              <a:ext uri="{FF2B5EF4-FFF2-40B4-BE49-F238E27FC236}">
                <a16:creationId xmlns:a16="http://schemas.microsoft.com/office/drawing/2014/main" id="{AE851876-E4F3-42CF-B13E-732A407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77E9EA1-240A-4A9D-86B1-E823F2B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A880F-EB7A-4877-9F48-C43A30B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Миграция соединяет локальные эпидемии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CD5096-7B1C-4E38-99C6-492D662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be01a82c54449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F236ABF-78D3-494B-BC1F-3BF65D2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704435-51D2-43C5-A95D-8BBA667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formula-bg">
            <a:extLst xmlns:a="http://schemas.openxmlformats.org/drawingml/2006/main">
              <a:ext uri="{FF2B5EF4-FFF2-40B4-BE49-F238E27FC236}">
                <a16:creationId xmlns:a16="http://schemas.microsoft.com/office/drawing/2014/main" id="{A1154276-9ACC-4D1B-9A5B-D59D1047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5219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9" name="lv-formulas">
            <a:extLst xmlns:a="http://schemas.openxmlformats.org/drawingml/2006/main">
              <a:ext uri="{FF2B5EF4-FFF2-40B4-BE49-F238E27FC236}">
                <a16:creationId xmlns:a16="http://schemas.microsoft.com/office/drawing/2014/main" id="{ED5EE27F-E01E-4EF1-A773-EDE1C307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85875"/>
            <a:ext cx="464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Mij ∝ (Ni + Nj) / 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Сумма строки M равна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Управляемый вариант:</a:t>
            </a:r>
          </a:p>
          <a:p xmlns:a="http://schemas.openxmlformats.org/drawingml/2006/main">
            <a:pPr algn="ctr"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Mii = 1 − m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Mij = m / (C − 1), i ≠ j</a:t>
            </a:r>
          </a:p>
        </p:txBody>
      </p:sp>
      <p:sp>
        <p:nvSpPr>
          <p:cNvPr id="10" name="lv-meaning">
            <a:extLst xmlns:a="http://schemas.openxmlformats.org/drawingml/2006/main">
              <a:ext uri="{FF2B5EF4-FFF2-40B4-BE49-F238E27FC236}">
                <a16:creationId xmlns:a16="http://schemas.microsoft.com/office/drawing/2014/main" id="{98E47E58-19B5-4074-9F5D-48CFF71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8112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Три равных города: в базовой матрице все вероятности равны 1/3.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Сканирование m меняет вероятность покинуть город.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Горизонт серии — 150 дней.</a:t>
            </a:r>
          </a:p>
        </p:txBody>
      </p:sp>
      <p:sp>
        <p:nvSpPr>
          <p:cNvPr id="11" name="period-bg">
            <a:extLst xmlns:a="http://schemas.openxmlformats.org/drawingml/2006/main">
              <a:ext uri="{FF2B5EF4-FFF2-40B4-BE49-F238E27FC236}">
                <a16:creationId xmlns:a16="http://schemas.microsoft.com/office/drawing/2014/main" id="{0511A5E7-A74F-4703-ABCA-9BD9374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2" name="period-value">
            <a:extLst xmlns:a="http://schemas.openxmlformats.org/drawingml/2006/main">
              <a:ext uri="{FF2B5EF4-FFF2-40B4-BE49-F238E27FC236}">
                <a16:creationId xmlns:a16="http://schemas.microsoft.com/office/drawing/2014/main" id="{FDB99F33-5682-4C0B-8DB3-C5B8B0B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period-caption">
            <a:extLst xmlns:a="http://schemas.openxmlformats.org/drawingml/2006/main">
              <a:ext uri="{FF2B5EF4-FFF2-40B4-BE49-F238E27FC236}">
                <a16:creationId xmlns:a16="http://schemas.microsoft.com/office/drawing/2014/main" id="{BBEDD93C-B6F0-4B1F-8435-EB94DA0A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города</a:t>
            </a:r>
          </a:p>
        </p:txBody>
      </p:sp>
      <p:sp>
        <p:nvSpPr>
          <p:cNvPr id="14" name="drift-bg">
            <a:extLst xmlns:a="http://schemas.openxmlformats.org/drawingml/2006/main">
              <a:ext uri="{FF2B5EF4-FFF2-40B4-BE49-F238E27FC236}">
                <a16:creationId xmlns:a16="http://schemas.microsoft.com/office/drawing/2014/main" id="{235B091A-44CB-4BDC-98CB-501D431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5" name="drift-value">
            <a:extLst xmlns:a="http://schemas.openxmlformats.org/drawingml/2006/main">
              <a:ext uri="{FF2B5EF4-FFF2-40B4-BE49-F238E27FC236}">
                <a16:creationId xmlns:a16="http://schemas.microsoft.com/office/drawing/2014/main" id="{9BC52E5B-F448-4230-B5FE-9C7B673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6EA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6EA5"/>
                </a:solidFill>
                <a:latin typeface="Calibri"/>
                <a:ea typeface="Calibri"/>
                <a:cs typeface="Calibri"/>
              </a:rPr>
              <a:t>0…0,5</a:t>
            </a:r>
          </a:p>
        </p:txBody>
      </p:sp>
      <p:sp>
        <p:nvSpPr>
          <p:cNvPr id="16" name="drift-caption">
            <a:extLst xmlns:a="http://schemas.openxmlformats.org/drawingml/2006/main">
              <a:ext uri="{FF2B5EF4-FFF2-40B4-BE49-F238E27FC236}">
                <a16:creationId xmlns:a16="http://schemas.microsoft.com/office/drawing/2014/main" id="{9F3E1B8F-C766-47FC-8FE0-8FCB35E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интенсивность m</a:t>
            </a:r>
          </a:p>
        </p:txBody>
      </p:sp>
    </p:spTree>
    <p:extLst>
      <p:ext uri="{BB962C8B-B14F-4D97-AF65-F5344CB8AC3E}">
        <p14:creationId xmlns:p14="http://schemas.microsoft.com/office/powerpoint/2010/main" val="235703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F6DA7DFC-D303-45C7-932C-2B94A3A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13BE153-F224-4FFB-A6F8-60B72D8F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2CE-6E00-4040-9EA3-57F7709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Двенадцать сценариев разделяют вычисления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AC0AB2-F232-4224-990D-03B69F9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a328ba99e451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F67D68B-5FBC-4A0B-927B-439ED04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6334E4-9415-4008-9646-364F276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21" name="01-terminal.png" descr="01-termina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5Picture1"/>
          <a:stretch xmlns:a="http://schemas.openxmlformats.org/drawingml/2006/main"/>
        </p:blipFill>
        <p:spPr>
          <a:xfrm xmlns:a="http://schemas.openxmlformats.org/drawingml/2006/main">
            <a:off x="552450" y="1267420"/>
            <a:ext cx="7143749" cy="4018359"/>
          </a:xfrm>
          <a:prstGeom xmlns:a="http://schemas.openxmlformats.org/drawingml/2006/main" prst="rect">
            <a:avLst/>
          </a:prstGeom>
        </p:spPr>
      </p:pic>
      <p:sp>
        <p:nvSpPr>
          <p:cNvPr id="9" name="pipeline">
            <a:extLst xmlns:a="http://schemas.openxmlformats.org/drawingml/2006/main">
              <a:ext uri="{FF2B5EF4-FFF2-40B4-BE49-F238E27FC236}">
                <a16:creationId xmlns:a16="http://schemas.microsoft.com/office/drawing/2014/main" id="{A132DAB6-9E24-4B67-8EEE-3D0F242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</a:defRPr>
            </a:pPr>
            <a:r>
              <a:rPr sz="1650" b="1">
                <a:solidFill>
                  <a:srgbClr val="0B4778"/>
                </a:solidFill>
              </a:rPr>
              <a:t>Literate.jl → Julia → Jupyter → Quarto → Git</a:t>
            </a:r>
          </a:p>
        </p:txBody>
      </p:sp>
      <p:sp>
        <p:nvSpPr>
          <p:cNvPr id="10" name="versions">
            <a:extLst xmlns:a="http://schemas.openxmlformats.org/drawingml/2006/main">
              <a:ext uri="{FF2B5EF4-FFF2-40B4-BE49-F238E27FC236}">
                <a16:creationId xmlns:a16="http://schemas.microsoft.com/office/drawing/2014/main" id="{A0225854-4DE9-4CAF-B50B-6816A35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1051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Julia 1.11.9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Agents.jl и Graphs.jl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BlackBoxOptim.jl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Plots.jl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CSV и JLD2</a:t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Literate.jl и IJulia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Версии в Manifest.toml.</a:t>
            </a:r>
          </a:p>
        </p:txBody>
      </p:sp>
    </p:spTree>
    <p:extLst>
      <p:ext uri="{BB962C8B-B14F-4D97-AF65-F5344CB8AC3E}">
        <p14:creationId xmlns:p14="http://schemas.microsoft.com/office/powerpoint/2010/main" val="1221484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949485B2-FD7F-457C-A990-0BB8677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7C26137-CE0A-4B86-96E0-EBB94362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BD5031-7004-4AB6-8C31-931DE09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Модель отделена от опытов и анализа CSV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0A8A3C-B0DD-46BD-9E70-45B7F4C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0647cf7814ca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2F3A184-AB98-438B-87C3-A6BD103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EAD69D-9D4F-4807-ADC8-EF8BFF3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20" name="02-terminal.png" descr="02-termina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6Picture1"/>
          <a:stretch xmlns:a="http://schemas.openxmlformats.org/drawingml/2006/main"/>
        </p:blipFill>
        <p:spPr>
          <a:xfrm xmlns:a="http://schemas.openxmlformats.org/drawingml/2006/main">
            <a:off x="533400" y="1231106"/>
            <a:ext cx="7543800" cy="4243388"/>
          </a:xfrm>
          <a:prstGeom xmlns:a="http://schemas.openxmlformats.org/drawingml/2006/main" prst="rect">
            <a:avLst/>
          </a:prstGeom>
        </p:spPr>
      </p:pic>
      <p:sp>
        <p:nvSpPr>
          <p:cNvPr id="9" name="module-list">
            <a:extLst xmlns:a="http://schemas.openxmlformats.org/drawingml/2006/main">
              <a:ext uri="{FF2B5EF4-FFF2-40B4-BE49-F238E27FC236}">
                <a16:creationId xmlns:a16="http://schemas.microsoft.com/office/drawing/2014/main" id="{BCDC27FB-957B-4F11-B9CA-9579244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81100"/>
            <a:ext cx="304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src/sir_model.jl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состояния агента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миграция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заражение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выздоровление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карантин</a:t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целевые функции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src/experiments.jl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сохраняет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298160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Базовый пик охватывает всю живую популяцию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c26fc9f3c432c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29" name="01-plot.png" descr="01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7Picture1"/>
          <a:stretch xmlns:a="http://schemas.openxmlformats.org/drawingml/2006/main"/>
        </p:blipFill>
        <p:spPr>
          <a:xfrm xmlns:a="http://schemas.openxmlformats.org/drawingml/2006/main">
            <a:off x="668948" y="1105853"/>
            <a:ext cx="7177454" cy="4665345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максимум I / живые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день пика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335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умерших к дню 100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Повторное заражение и каскады внутри дня.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B71F5F6-248A-493A-BFF4-DB5B4A2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B5CB7FF-FF77-40E6-A4F7-D6586C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42EA1-0509-47F7-86ED-5552763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При росте β эпидемия достигает всех городов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DFCD4F-FB53-4C73-8295-9DB007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8d52c46dd4f6e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E8B0EB-4DA1-4111-8E40-6CB1D9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22E43-05B3-40DE-ABF3-C032255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21" name="02-plot.png" descr="02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8Picture1"/>
          <a:stretch xmlns:a="http://schemas.openxmlformats.org/drawingml/2006/main"/>
        </p:blipFill>
        <p:spPr>
          <a:xfrm xmlns:a="http://schemas.openxmlformats.org/drawingml/2006/main">
            <a:off x="648799" y="1106329"/>
            <a:ext cx="7132028" cy="4635818"/>
          </a:xfrm>
          <a:prstGeom xmlns:a="http://schemas.openxmlformats.org/drawingml/2006/main" prst="rect">
            <a:avLst/>
          </a:prstGeom>
        </p:spPr>
      </p:pic>
      <p:sp>
        <p:nvSpPr>
          <p:cNvPr id="9" name="scan-table">
            <a:extLst xmlns:a="http://schemas.openxmlformats.org/drawingml/2006/main">
              <a:ext uri="{FF2B5EF4-FFF2-40B4-BE49-F238E27FC236}">
                <a16:creationId xmlns:a16="http://schemas.microsoft.com/office/drawing/2014/main" id="{B690B6A6-A35B-4EFA-A6BD-EF5541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β       Средний пик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0,1        0,0009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0,2        0,3322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0,3        0,6667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0,4        0,6669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0,5        1,0000</a:t>
            </a:r>
          </a:p>
        </p:txBody>
      </p:sp>
      <p:sp>
        <p:nvSpPr>
          <p:cNvPr id="10" name="scan-takeaway">
            <a:extLst xmlns:a="http://schemas.openxmlformats.org/drawingml/2006/main">
              <a:ext uri="{FF2B5EF4-FFF2-40B4-BE49-F238E27FC236}">
                <a16:creationId xmlns:a16="http://schemas.microsoft.com/office/drawing/2014/main" id="{8005A1C6-3D7F-4B44-8EF5-7DFA0DF1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По три seed на точку. Ступени отражают распространение между городами.</a:t>
            </a:r>
          </a:p>
        </p:txBody>
      </p:sp>
    </p:spTree>
    <p:extLst>
      <p:ext uri="{BB962C8B-B14F-4D97-AF65-F5344CB8AC3E}">
        <p14:creationId xmlns:p14="http://schemas.microsoft.com/office/powerpoint/2010/main" val="1575332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97E662BC-85D8-46EB-A645-0207A7B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CACF40-E972-4C5C-9D82-E920C43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F080-7270-4A74-97C7-3BCD4C0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Время пика не убывает монотонно с миграцией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CE7D4-1781-4F89-BA7A-98A6C8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a0f5964a343ed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81C67C-2B86-4F50-BF31-D7FC4B3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6D7F7-B636-4BA1-A9D4-58AD51F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1" name="03-plot.png" descr="03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9Picture1"/>
          <a:stretch xmlns:a="http://schemas.openxmlformats.org/drawingml/2006/main"/>
        </p:blipFill>
        <p:spPr>
          <a:xfrm xmlns:a="http://schemas.openxmlformats.org/drawingml/2006/main">
            <a:off x="1498451" y="1062228"/>
            <a:ext cx="5613699" cy="4771644"/>
          </a:xfrm>
          <a:prstGeom xmlns:a="http://schemas.openxmlformats.org/drawingml/2006/main" prst="rect">
            <a:avLst/>
          </a:prstGeom>
        </p:spPr>
      </p:pic>
      <p:sp>
        <p:nvSpPr>
          <p:cNvPr id="9" name="lv-metrics">
            <a:extLst xmlns:a="http://schemas.openxmlformats.org/drawingml/2006/main">
              <a:ext uri="{FF2B5EF4-FFF2-40B4-BE49-F238E27FC236}">
                <a16:creationId xmlns:a16="http://schemas.microsoft.com/office/drawing/2014/main" id="{8F200868-6BF2-4C9D-9209-E1DB340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 = 0: 15 дней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 = 0,1: 22 дня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 = 0,2: 16 дней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m = 0,5: 20 дней</a:t>
            </a:r>
          </a:p>
        </p:txBody>
      </p:sp>
      <p:sp>
        <p:nvSpPr>
          <p:cNvPr id="10" name="lv-takeaway">
            <a:extLst xmlns:a="http://schemas.openxmlformats.org/drawingml/2006/main">
              <a:ext uri="{FF2B5EF4-FFF2-40B4-BE49-F238E27FC236}">
                <a16:creationId xmlns:a16="http://schemas.microsoft.com/office/drawing/2014/main" id="{9DB94CF0-4DC2-4C75-A4FE-5109703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Без миграции эпидемия локальна. Среди ненулевых m быстрее всего вариант 0,2.</a:t>
            </a:r>
          </a:p>
        </p:txBody>
      </p:sp>
    </p:spTree>
    <p:extLst>
      <p:ext uri="{BB962C8B-B14F-4D97-AF65-F5344CB8AC3E}">
        <p14:creationId xmlns:p14="http://schemas.microsoft.com/office/powerpoint/2010/main" val="657116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3E922C0C-ABB8-4B25-8B75-A228160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EE8CE78-6CCA-4896-BD8F-45BAF94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500AA-CE4D-4C73-B451-CD3F244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Период болезни и выявление исследованы отдельно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879AF2-EE9B-4B99-8FB6-38FBBBE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a4e9e0aeb4d7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0E70F6-15AE-4FE5-833C-900EFC8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A4FA70-3A89-465E-95C3-6070F9D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23" name="06-plot.png" descr="06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0Picture1"/>
          <a:stretch xmlns:a="http://schemas.openxmlformats.org/drawingml/2006/main"/>
        </p:blipFill>
        <p:spPr>
          <a:xfrm xmlns:a="http://schemas.openxmlformats.org/drawingml/2006/main">
            <a:off x="1034415" y="1062990"/>
            <a:ext cx="4312920" cy="4312920"/>
          </a:xfrm>
          <a:prstGeom xmlns:a="http://schemas.openxmlformats.org/drawingml/2006/main" prst="rect">
            <a:avLst/>
          </a:prstGeom>
        </p:spPr>
      </p:pic>
      <p:pic>
        <p:nvPicPr>
          <p:cNvPr id="24" name="07-plot.png" descr="07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0Picture2"/>
          <a:stretch xmlns:a="http://schemas.openxmlformats.org/drawingml/2006/main"/>
        </p:blipFill>
        <p:spPr>
          <a:xfrm xmlns:a="http://schemas.openxmlformats.org/drawingml/2006/main">
            <a:off x="6410911" y="1548194"/>
            <a:ext cx="5142328" cy="3342513"/>
          </a:xfrm>
          <a:prstGeom xmlns:a="http://schemas.openxmlformats.org/drawingml/2006/main" prst="rect">
            <a:avLst/>
          </a:prstGeom>
        </p:spPr>
      </p:pic>
      <p:sp>
        <p:nvSpPr>
          <p:cNvPr id="10" name="phase-caption">
            <a:extLst xmlns:a="http://schemas.openxmlformats.org/drawingml/2006/main">
              <a:ext uri="{FF2B5EF4-FFF2-40B4-BE49-F238E27FC236}">
                <a16:creationId xmlns:a16="http://schemas.microsoft.com/office/drawing/2014/main" id="{2D71CC65-DF69-40A8-BF29-AE487CD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Период инфекции: 10 и 14 дней</a:t>
            </a:r>
          </a:p>
        </p:txBody>
      </p:sp>
      <p:sp>
        <p:nvSpPr>
          <p:cNvPr id="11" name="inv-caption">
            <a:extLst xmlns:a="http://schemas.openxmlformats.org/drawingml/2006/main">
              <a:ext uri="{FF2B5EF4-FFF2-40B4-BE49-F238E27FC236}">
                <a16:creationId xmlns:a16="http://schemas.microsoft.com/office/drawing/2014/main" id="{D6659F4D-F984-4216-9789-5FB1AF7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Выявление: на 3-й и 7-й день</a:t>
            </a:r>
          </a:p>
        </p:txBody>
      </p:sp>
    </p:spTree>
    <p:extLst>
      <p:ext uri="{BB962C8B-B14F-4D97-AF65-F5344CB8AC3E}">
        <p14:creationId xmlns:p14="http://schemas.microsoft.com/office/powerpoint/2010/main" val="824566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4B4A040E-4FA4-4C92-9639-20B50A1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760E0-2BFB-41A3-B4B9-FC44F2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2DDF8-2FD0-4D82-98E2-44AD868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Размеры городов меняют результат миграции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0F864-667E-4385-A6F2-CC1F5D6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0f2ec7ee64bd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3CD01B-7F94-4DBC-84F5-40CECFA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7CEEC-053D-4D70-931C-82E3AD1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0" name="08-plot.png" descr="08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1Picture1"/>
          <a:stretch xmlns:a="http://schemas.openxmlformats.org/drawingml/2006/main"/>
        </p:blipFill>
        <p:spPr>
          <a:xfrm xmlns:a="http://schemas.openxmlformats.org/drawingml/2006/main">
            <a:off x="1196578" y="1373088"/>
            <a:ext cx="6369844" cy="4140399"/>
          </a:xfrm>
          <a:prstGeom xmlns:a="http://schemas.openxmlformats.org/drawingml/2006/main" prst="rect">
            <a:avLst/>
          </a:prstGeom>
        </p:spPr>
      </p:pic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14E3F9B0-44C3-4EC1-8902-2CA766B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527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Два набора населения: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1000 / 1000 / 1000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500 / 1000 / 1500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6 интенсивностей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3 seed на точку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Всего 36 прогонов.</a:t>
            </a:r>
          </a:p>
        </p:txBody>
      </p:sp>
    </p:spTree>
    <p:extLst>
      <p:ext uri="{BB962C8B-B14F-4D97-AF65-F5344CB8AC3E}">
        <p14:creationId xmlns:p14="http://schemas.microsoft.com/office/powerpoint/2010/main" val="1586191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3E922C0C-ABB8-4B25-8B75-A228160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EE8CE78-6CCA-4896-BD8F-45BAF94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500AA-CE4D-4C73-B451-CD3F244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BorgMOEA одновременно снижает две цели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879AF2-EE9B-4B99-8FB6-38FBBBE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3ac1b655a4942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0E70F6-15AE-4FE5-833C-900EFC8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A4FA70-3A89-465E-95C3-6070F9D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23" name="04-plot.png" descr="04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2Picture1"/>
          <a:stretch xmlns:a="http://schemas.openxmlformats.org/drawingml/2006/main"/>
        </p:blipFill>
        <p:spPr>
          <a:xfrm xmlns:a="http://schemas.openxmlformats.org/drawingml/2006/main">
            <a:off x="495300" y="1467326"/>
            <a:ext cx="5391150" cy="3504248"/>
          </a:xfrm>
          <a:prstGeom xmlns:a="http://schemas.openxmlformats.org/drawingml/2006/main" prst="rect">
            <a:avLst/>
          </a:prstGeom>
        </p:spPr>
      </p:pic>
      <p:pic>
        <p:nvPicPr>
          <p:cNvPr id="24" name="09-plot.png" descr="09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2Picture2"/>
          <a:stretch xmlns:a="http://schemas.openxmlformats.org/drawingml/2006/main"/>
        </p:blipFill>
        <p:spPr>
          <a:xfrm xmlns:a="http://schemas.openxmlformats.org/drawingml/2006/main">
            <a:off x="6410911" y="1548194"/>
            <a:ext cx="5142328" cy="3342513"/>
          </a:xfrm>
          <a:prstGeom xmlns:a="http://schemas.openxmlformats.org/drawingml/2006/main" prst="rect">
            <a:avLst/>
          </a:prstGeom>
        </p:spPr>
      </p:pic>
      <p:sp>
        <p:nvSpPr>
          <p:cNvPr id="10" name="phase-caption">
            <a:extLst xmlns:a="http://schemas.openxmlformats.org/drawingml/2006/main">
              <a:ext uri="{FF2B5EF4-FFF2-40B4-BE49-F238E27FC236}">
                <a16:creationId xmlns:a16="http://schemas.microsoft.com/office/drawing/2014/main" id="{2D71CC65-DF69-40A8-BF29-AE487CD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Пик и смертность: seed 43–47</a:t>
            </a:r>
          </a:p>
        </p:txBody>
      </p:sp>
      <p:sp>
        <p:nvSpPr>
          <p:cNvPr id="11" name="inv-caption">
            <a:extLst xmlns:a="http://schemas.openxmlformats.org/drawingml/2006/main">
              <a:ext uri="{FF2B5EF4-FFF2-40B4-BE49-F238E27FC236}">
                <a16:creationId xmlns:a16="http://schemas.microsoft.com/office/drawing/2014/main" id="{D6659F4D-F984-4216-9789-5FB1AF7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Повторный поиск: seed 143–147</a:t>
            </a:r>
          </a:p>
        </p:txBody>
      </p:sp>
    </p:spTree>
    <p:extLst>
      <p:ext uri="{BB962C8B-B14F-4D97-AF65-F5344CB8AC3E}">
        <p14:creationId xmlns:p14="http://schemas.microsoft.com/office/powerpoint/2010/main" val="8245661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4B4A040E-4FA4-4C92-9639-20B50A1D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E2760E0-2BFB-41A3-B4B9-FC44F2B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2DDF8-2FD0-4D82-98E2-44AD868D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Отдельный сценарий анализирует готовые CSV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E0F864-667E-4385-A6F2-CC1F5D66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b7c92c70b46c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83CD01B-7F94-4DBC-84F5-40CECFA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7CEEC-053D-4D70-931C-82E3AD1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20" name="05-plot.png" descr="05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3Picture1"/>
          <a:stretch xmlns:a="http://schemas.openxmlformats.org/drawingml/2006/main"/>
        </p:blipFill>
        <p:spPr>
          <a:xfrm xmlns:a="http://schemas.openxmlformats.org/drawingml/2006/main">
            <a:off x="1959746" y="895350"/>
            <a:ext cx="4843508" cy="5095875"/>
          </a:xfrm>
          <a:prstGeom xmlns:a="http://schemas.openxmlformats.org/drawingml/2006/main" prst="rect">
            <a:avLst/>
          </a:prstGeom>
        </p:spPr>
      </p:pic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14E3F9B0-44C3-4EC1-8902-2CA766B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527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sir_visualize_dynamics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пик и конечная 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число умерших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доля выздоровевших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CSV сканирования β читается с диска.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Новой симуляции нет.</a:t>
            </a:r>
          </a:p>
        </p:txBody>
      </p:sp>
    </p:spTree>
    <p:extLst>
      <p:ext uri="{BB962C8B-B14F-4D97-AF65-F5344CB8AC3E}">
        <p14:creationId xmlns:p14="http://schemas.microsoft.com/office/powerpoint/2010/main" val="15861912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97E662BC-85D8-46EB-A645-0207A7B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CACF40-E972-4C5C-9D82-E920C43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F080-7270-4A74-97C7-3BCD4C0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Порог агентной модели отличается от ОДУ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CE7D4-1781-4F89-BA7A-98A6C8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ae7d748154ca3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81C67C-2B86-4F50-BF31-D7FC4B3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6D7F7-B636-4BA1-A9D4-58AD51F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21" name="10-plot.png" descr="10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4Picture1"/>
          <a:stretch xmlns:a="http://schemas.openxmlformats.org/drawingml/2006/main"/>
        </p:blipFill>
        <p:spPr>
          <a:xfrm xmlns:a="http://schemas.openxmlformats.org/drawingml/2006/main">
            <a:off x="634805" y="1062228"/>
            <a:ext cx="7340991" cy="4771644"/>
          </a:xfrm>
          <a:prstGeom xmlns:a="http://schemas.openxmlformats.org/drawingml/2006/main" prst="rect">
            <a:avLst/>
          </a:prstGeom>
        </p:spPr>
      </p:pic>
      <p:sp>
        <p:nvSpPr>
          <p:cNvPr id="9" name="lv-metrics">
            <a:extLst xmlns:a="http://schemas.openxmlformats.org/drawingml/2006/main">
              <a:ext uri="{FF2B5EF4-FFF2-40B4-BE49-F238E27FC236}">
                <a16:creationId xmlns:a16="http://schemas.microsoft.com/office/drawing/2014/main" id="{8F200868-6BF2-4C9D-9209-E1DB340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Ориентир R₀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ОДУ: 1/14 ≈ 0,0714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Сетка: β = 0,18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Критерий: пик &gt; 5%</a:t>
            </a:r>
          </a:p>
        </p:txBody>
      </p:sp>
      <p:sp>
        <p:nvSpPr>
          <p:cNvPr id="10" name="lv-takeaway">
            <a:extLst xmlns:a="http://schemas.openxmlformats.org/drawingml/2006/main">
              <a:ext uri="{FF2B5EF4-FFF2-40B4-BE49-F238E27FC236}">
                <a16:creationId xmlns:a16="http://schemas.microsoft.com/office/drawing/2014/main" id="{9DB94CF0-4DC2-4C75-A4FE-5109703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Это первый порог сетки по среднему пику, а не точная аналитическая граница.</a:t>
            </a:r>
          </a:p>
        </p:txBody>
      </p:sp>
    </p:spTree>
    <p:extLst>
      <p:ext uri="{BB962C8B-B14F-4D97-AF65-F5344CB8AC3E}">
        <p14:creationId xmlns:p14="http://schemas.microsoft.com/office/powerpoint/2010/main" val="6571162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nd">
            <a:extLst xmlns:a="http://schemas.openxmlformats.org/drawingml/2006/main">
              <a:ext uri="{FF2B5EF4-FFF2-40B4-BE49-F238E27FC236}">
                <a16:creationId xmlns:a16="http://schemas.microsoft.com/office/drawing/2014/main" id="{3E922C0C-ABB8-4B25-8B75-A228160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EE8CE78-6CCA-4896-BD8F-45BAF94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500AA-CE4D-4C73-B451-CD3F2446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Неоднородные города связаны перемещениями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879AF2-EE9B-4B99-8FB6-38FBBBE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aedb82e3d4f37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0E70F6-15AE-4FE5-833C-900EFC8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A4FA70-3A89-465E-95C3-6070F9D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>
        <p:nvPicPr>
          <p:cNvPr id="23" name="11-plot.png" descr="11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5Picture1"/>
          <a:stretch xmlns:a="http://schemas.openxmlformats.org/drawingml/2006/main"/>
        </p:blipFill>
        <p:spPr>
          <a:xfrm xmlns:a="http://schemas.openxmlformats.org/drawingml/2006/main">
            <a:off x="1230457" y="1062990"/>
            <a:ext cx="3920836" cy="4312920"/>
          </a:xfrm>
          <a:prstGeom xmlns:a="http://schemas.openxmlformats.org/drawingml/2006/main" prst="rect">
            <a:avLst/>
          </a:prstGeom>
        </p:spPr>
      </p:pic>
      <p:pic>
        <p:nvPicPr>
          <p:cNvPr id="24" name="12-plot.png" descr="12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5Picture2"/>
          <a:stretch xmlns:a="http://schemas.openxmlformats.org/drawingml/2006/main"/>
        </p:blipFill>
        <p:spPr>
          <a:xfrm xmlns:a="http://schemas.openxmlformats.org/drawingml/2006/main">
            <a:off x="6410911" y="1548194"/>
            <a:ext cx="5142328" cy="3342513"/>
          </a:xfrm>
          <a:prstGeom xmlns:a="http://schemas.openxmlformats.org/drawingml/2006/main" prst="rect">
            <a:avLst/>
          </a:prstGeom>
        </p:spPr>
      </p:pic>
      <p:sp>
        <p:nvSpPr>
          <p:cNvPr id="10" name="phase-caption">
            <a:extLst xmlns:a="http://schemas.openxmlformats.org/drawingml/2006/main">
              <a:ext uri="{FF2B5EF4-FFF2-40B4-BE49-F238E27FC236}">
                <a16:creationId xmlns:a16="http://schemas.microsoft.com/office/drawing/2014/main" id="{2D71CC65-DF69-40A8-BF29-AE487CD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β городов: 0,2 / 0,5 / 0,8</a:t>
            </a:r>
          </a:p>
        </p:txBody>
      </p:sp>
      <p:sp>
        <p:nvSpPr>
          <p:cNvPr id="11" name="inv-caption">
            <a:extLst xmlns:a="http://schemas.openxmlformats.org/drawingml/2006/main">
              <a:ext uri="{FF2B5EF4-FFF2-40B4-BE49-F238E27FC236}">
                <a16:creationId xmlns:a16="http://schemas.microsoft.com/office/drawing/2014/main" id="{D6659F4D-F984-4216-9789-5FB1AF7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Число заражённых: одинаковые и разные β</a:t>
            </a:r>
          </a:p>
        </p:txBody>
      </p:sp>
    </p:spTree>
    <p:extLst>
      <p:ext uri="{BB962C8B-B14F-4D97-AF65-F5344CB8AC3E}">
        <p14:creationId xmlns:p14="http://schemas.microsoft.com/office/powerpoint/2010/main" val="8245661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97E662BC-85D8-46EB-A645-0207A7B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CACF40-E972-4C5C-9D82-E920C434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A0F080-7270-4A74-97C7-3BCD4C0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Заданный карантин не уменьшил высоту пика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CE7D4-1781-4F89-BA7A-98A6C86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d441215d04318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81C67C-2B86-4F50-BF31-D7FC4B3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6D7F7-B636-4BA1-A9D4-58AD51F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21" name="13-plot.png" descr="13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6Picture1"/>
          <a:stretch xmlns:a="http://schemas.openxmlformats.org/drawingml/2006/main"/>
        </p:blipFill>
        <p:spPr>
          <a:xfrm xmlns:a="http://schemas.openxmlformats.org/drawingml/2006/main">
            <a:off x="1654387" y="1062228"/>
            <a:ext cx="5301827" cy="4771644"/>
          </a:xfrm>
          <a:prstGeom xmlns:a="http://schemas.openxmlformats.org/drawingml/2006/main" prst="rect">
            <a:avLst/>
          </a:prstGeom>
        </p:spPr>
      </p:pic>
      <p:sp>
        <p:nvSpPr>
          <p:cNvPr id="9" name="lv-metrics">
            <a:extLst xmlns:a="http://schemas.openxmlformats.org/drawingml/2006/main">
              <a:ext uri="{FF2B5EF4-FFF2-40B4-BE49-F238E27FC236}">
                <a16:creationId xmlns:a16="http://schemas.microsoft.com/office/drawing/2014/main" id="{8F200868-6BF2-4C9D-9209-E1DB340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6098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Порог закрытия: 10%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Закрыт только выезд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Снижение пика: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Задержка: 0…0,33 дня</a:t>
            </a:r>
          </a:p>
        </p:txBody>
      </p:sp>
      <p:sp>
        <p:nvSpPr>
          <p:cNvPr id="10" name="lv-takeaway">
            <a:extLst xmlns:a="http://schemas.openxmlformats.org/drawingml/2006/main">
              <a:ext uri="{FF2B5EF4-FFF2-40B4-BE49-F238E27FC236}">
                <a16:creationId xmlns:a16="http://schemas.microsoft.com/office/drawing/2014/main" id="{9DB94CF0-4DC2-4C75-A4FE-5109703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К моменту закрытия инфекция может уже находиться в других городах.</a:t>
            </a:r>
          </a:p>
        </p:txBody>
      </p:sp>
    </p:spTree>
    <p:extLst>
      <p:ext uri="{BB962C8B-B14F-4D97-AF65-F5344CB8AC3E}">
        <p14:creationId xmlns:p14="http://schemas.microsoft.com/office/powerpoint/2010/main" val="6571162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nd">
            <a:extLst xmlns:a="http://schemas.openxmlformats.org/drawingml/2006/main">
              <a:ext uri="{FF2B5EF4-FFF2-40B4-BE49-F238E27FC236}">
                <a16:creationId xmlns:a16="http://schemas.microsoft.com/office/drawing/2014/main" id="{F74FD5CC-8C38-411D-852B-0B3866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04E7823-61B5-47C3-B669-C35B887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DD099D-979B-4597-9650-C67ED02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Ограниченный поиск проверен на 20 новых seed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F46DE4-DC52-45DC-98B8-BF3E30BE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f87c986d4760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CA48063-C26A-4267-AF5D-F662627D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3554BD-DC5A-4F9E-A33E-16ACB13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>
        <p:nvPicPr>
          <p:cNvPr id="29" name="14-plot.png" descr="14-plo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7Picture1"/>
          <a:stretch xmlns:a="http://schemas.openxmlformats.org/drawingml/2006/main"/>
        </p:blipFill>
        <p:spPr>
          <a:xfrm xmlns:a="http://schemas.openxmlformats.org/drawingml/2006/main">
            <a:off x="668948" y="1105853"/>
            <a:ext cx="7177454" cy="4665345"/>
          </a:xfrm>
          <a:prstGeom xmlns:a="http://schemas.openxmlformats.org/drawingml/2006/main" prst="rect">
            <a:avLst/>
          </a:prstGeom>
        </p:spPr>
      </p:pic>
      <p:sp>
        <p:nvSpPr>
          <p:cNvPr id="9" name="imax-bg">
            <a:extLst xmlns:a="http://schemas.openxmlformats.org/drawingml/2006/main">
              <a:ext uri="{FF2B5EF4-FFF2-40B4-BE49-F238E27FC236}">
                <a16:creationId xmlns:a16="http://schemas.microsoft.com/office/drawing/2014/main" id="{23FB6D0B-5E2B-4B1C-B750-E19EAA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0" name="imax-value">
            <a:extLst xmlns:a="http://schemas.openxmlformats.org/drawingml/2006/main">
              <a:ext uri="{FF2B5EF4-FFF2-40B4-BE49-F238E27FC236}">
                <a16:creationId xmlns:a16="http://schemas.microsoft.com/office/drawing/2014/main" id="{B29A502F-6BBC-4C15-80AF-7B56141F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83B45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C83B45"/>
                </a:solidFill>
                <a:latin typeface="Calibri"/>
                <a:ea typeface="Calibri"/>
                <a:cs typeface="Calibri"/>
              </a:rPr>
              <a:t>0,133%</a:t>
            </a:r>
          </a:p>
        </p:txBody>
      </p:sp>
      <p:sp>
        <p:nvSpPr>
          <p:cNvPr id="11" name="imax-caption">
            <a:extLst xmlns:a="http://schemas.openxmlformats.org/drawingml/2006/main">
              <a:ext uri="{FF2B5EF4-FFF2-40B4-BE49-F238E27FC236}">
                <a16:creationId xmlns:a16="http://schemas.microsoft.com/office/drawing/2014/main" id="{EAFCEBFD-3EED-4A83-91F8-2D01A6C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наибольший пик проверки</a:t>
            </a:r>
          </a:p>
        </p:txBody>
      </p:sp>
      <p:sp>
        <p:nvSpPr>
          <p:cNvPr id="12" name="tpeak-bg">
            <a:extLst xmlns:a="http://schemas.openxmlformats.org/drawingml/2006/main">
              <a:ext uri="{FF2B5EF4-FFF2-40B4-BE49-F238E27FC236}">
                <a16:creationId xmlns:a16="http://schemas.microsoft.com/office/drawing/2014/main" id="{CB68471B-DC2C-40D6-8738-71969AC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3" name="tpeak-value">
            <a:extLst xmlns:a="http://schemas.openxmlformats.org/drawingml/2006/main">
              <a:ext uri="{FF2B5EF4-FFF2-40B4-BE49-F238E27FC236}">
                <a16:creationId xmlns:a16="http://schemas.microsoft.com/office/drawing/2014/main" id="{C9732CBD-5B35-4487-81E3-94F91DA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20 из 20</a:t>
            </a:r>
          </a:p>
        </p:txBody>
      </p:sp>
      <p:sp>
        <p:nvSpPr>
          <p:cNvPr id="14" name="tpeak-caption">
            <a:extLst xmlns:a="http://schemas.openxmlformats.org/drawingml/2006/main">
              <a:ext uri="{FF2B5EF4-FFF2-40B4-BE49-F238E27FC236}">
                <a16:creationId xmlns:a16="http://schemas.microsoft.com/office/drawing/2014/main" id="{6422106B-D159-415D-9E44-6C792AC7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пик ниже 30%</a:t>
            </a:r>
          </a:p>
        </p:txBody>
      </p:sp>
      <p:sp>
        <p:nvSpPr>
          <p:cNvPr id="15" name="rend-bg">
            <a:extLst xmlns:a="http://schemas.openxmlformats.org/drawingml/2006/main">
              <a:ext uri="{FF2B5EF4-FFF2-40B4-BE49-F238E27FC236}">
                <a16:creationId xmlns:a16="http://schemas.microsoft.com/office/drawing/2014/main" id="{04381D42-5BF5-4983-B4EB-47C621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B9D9E8"/>
            </a:solidFill>
            <a:prstDash val="solid"/>
          </a:ln>
        </p:spPr>
      </p:sp>
      <p:sp>
        <p:nvSpPr>
          <p:cNvPr id="16" name="rend-value">
            <a:extLst xmlns:a="http://schemas.openxmlformats.org/drawingml/2006/main">
              <a:ext uri="{FF2B5EF4-FFF2-40B4-BE49-F238E27FC236}">
                <a16:creationId xmlns:a16="http://schemas.microsoft.com/office/drawing/2014/main" id="{EC23F540-774E-44A3-BED8-2FFF4B94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42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8A5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D8A5B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7" name="rend-caption">
            <a:extLst xmlns:a="http://schemas.openxmlformats.org/drawingml/2006/main">
              <a:ext uri="{FF2B5EF4-FFF2-40B4-BE49-F238E27FC236}">
                <a16:creationId xmlns:a16="http://schemas.microsoft.com/office/drawing/2014/main" id="{BA2CD5D3-B265-4D73-B512-FE1B14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умерших в проверке</a:t>
            </a:r>
          </a:p>
        </p:txBody>
      </p:sp>
      <p:sp>
        <p:nvSpPr>
          <p:cNvPr id="18" name="drift">
            <a:extLst xmlns:a="http://schemas.openxmlformats.org/drawingml/2006/main">
              <a:ext uri="{FF2B5EF4-FFF2-40B4-BE49-F238E27FC236}">
                <a16:creationId xmlns:a16="http://schemas.microsoft.com/office/drawing/2014/main" id="{5C0C9BC5-8FBE-41DE-AA12-9933C1D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β = 0,1; выявление: 3 дн.; вероятность смерти 0,01.</a:t>
            </a:r>
          </a:p>
        </p:txBody>
      </p:sp>
    </p:spTree>
    <p:extLst>
      <p:ext uri="{BB962C8B-B14F-4D97-AF65-F5344CB8AC3E}">
        <p14:creationId xmlns:p14="http://schemas.microsoft.com/office/powerpoint/2010/main" val="15480199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8421A46-F9BD-480F-B275-C23896D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0627352-F663-4A2E-9B7B-12B403F6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8DEB88-7101-47B0-B748-A400397B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Конечная проверка не даёт гарантии для всех траекторий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DEA9B6-8955-4F09-B9FA-546DA39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8b9762e454500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41B547B-6312-422F-97B9-B812308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D149F8-2B2A-45C2-ACB2-B531EF4A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867F2279-946D-4402-B6C9-E80BAE1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Выводы относятся к учебной агентной модели и конечному набору случайных прогонов, а не к реальной инфекции.</a:t>
            </a:r>
          </a:p>
        </p:txBody>
      </p:sp>
      <p:sp>
        <p:nvSpPr>
          <p:cNvPr id="9" name="left-rule">
            <a:extLst xmlns:a="http://schemas.openxmlformats.org/drawingml/2006/main">
              <a:ext uri="{FF2B5EF4-FFF2-40B4-BE49-F238E27FC236}">
                <a16:creationId xmlns:a16="http://schemas.microsoft.com/office/drawing/2014/main" id="{0B205D5C-F4E6-46EE-8BE3-E1E85CA2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71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s">
            <a:extLst xmlns:a="http://schemas.openxmlformats.org/drawingml/2006/main">
              <a:ext uri="{FF2B5EF4-FFF2-40B4-BE49-F238E27FC236}">
                <a16:creationId xmlns:a16="http://schemas.microsoft.com/office/drawing/2014/main" id="{D0B8600E-8057-4E67-AFD8-8FFEDC55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9620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оптимизация использует пять обучающих seed;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проверка использует независимые seed 1001–1020;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раннее затухание даёт мало событий заражения;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решения возле границ диапазонов не уникальны;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конечный поиск не доказывает глобальный оптимум;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эпидемиологическая калибровка не выполнялась.</a:t>
            </a:r>
          </a:p>
        </p:txBody>
      </p:sp>
    </p:spTree>
    <p:extLst>
      <p:ext uri="{BB962C8B-B14F-4D97-AF65-F5344CB8AC3E}">
        <p14:creationId xmlns:p14="http://schemas.microsoft.com/office/powerpoint/2010/main" val="18991728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nd">
            <a:extLst xmlns:a="http://schemas.openxmlformats.org/drawingml/2006/main">
              <a:ext uri="{FF2B5EF4-FFF2-40B4-BE49-F238E27FC236}">
                <a16:creationId xmlns:a16="http://schemas.microsoft.com/office/drawing/2014/main" id="{6D573241-9EE9-4DF9-8086-F9A4F38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F6378DF-5E8F-4722-97E0-1107CA5B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81CC7-CBD2-4703-970A-156532E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103 теста проверяют учёт и правила агентов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06674E-824A-4C30-AC07-9394E7D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08ebc80cc45aa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B26CBF1-396E-4033-AAF9-48927138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627C61-6ADF-48E9-A24A-976D6E94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20" name="03-terminal.png" descr="03-terminal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Lab4Slide19Picture1"/>
          <a:stretch xmlns:a="http://schemas.openxmlformats.org/drawingml/2006/main"/>
        </p:blipFill>
        <p:spPr>
          <a:xfrm xmlns:a="http://schemas.openxmlformats.org/drawingml/2006/main">
            <a:off x="514350" y="1241822"/>
            <a:ext cx="7200900" cy="4050506"/>
          </a:xfrm>
          <a:prstGeom xmlns:a="http://schemas.openxmlformats.org/drawingml/2006/main" prst="rect">
            <a:avLst/>
          </a:prstGeom>
        </p:spPr>
      </p:pic>
      <p:sp>
        <p:nvSpPr>
          <p:cNvPr id="9" name="test-list">
            <a:extLst xmlns:a="http://schemas.openxmlformats.org/drawingml/2006/main">
              <a:ext uri="{FF2B5EF4-FFF2-40B4-BE49-F238E27FC236}">
                <a16:creationId xmlns:a16="http://schemas.microsoft.com/office/drawing/2014/main" id="{C4D7CFCF-E677-40A4-ABD8-F9C618B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32194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10 — инициализация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80 — учёт и seed</a:t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6 — предельные случаи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7 — карантин и повторы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</a:defRPr>
            </a:pPr>
            <a:r>
              <a:rPr sz="1650" b="0">
                <a:solidFill>
                  <a:srgbClr val="17232D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живые + умершие = N₀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вероятности миграции</a:t>
            </a:r>
          </a:p>
          <a:p xmlns:a="http://schemas.openxmlformats.org/drawingml/2006/main">
            <a:pPr algn="l">
              <a:defRPr sz="165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независимые оценки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✓ нулевая передача</a:t>
            </a:r>
          </a:p>
        </p:txBody>
      </p:sp>
    </p:spTree>
    <p:extLst>
      <p:ext uri="{BB962C8B-B14F-4D97-AF65-F5344CB8AC3E}">
        <p14:creationId xmlns:p14="http://schemas.microsoft.com/office/powerpoint/2010/main" val="606782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band">
            <a:extLst xmlns:a="http://schemas.openxmlformats.org/drawingml/2006/main">
              <a:ext uri="{FF2B5EF4-FFF2-40B4-BE49-F238E27FC236}">
                <a16:creationId xmlns:a16="http://schemas.microsoft.com/office/drawing/2014/main" id="{49734C38-27F5-41E9-AE40-B2280B0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C85DC4D-DCA4-478D-8970-A99DD113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3DF33A-E339-44DE-836A-AA0421DD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Все сценарии имеют производные форматы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263D394-B9E4-46CD-B043-C08BCA04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9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ba8ecf7c141b4"/>
          <a:stretch xmlns:a="http://schemas.openxmlformats.org/drawingml/2006/main"/>
        </p:blipFill>
        <p:spPr>
          <a:xfrm xmlns:a="http://schemas.openxmlformats.org/drawingml/2006/main">
            <a:off x="552450" y="6495443"/>
            <a:ext cx="304800" cy="258389"/>
          </a:xfrm>
          <a:prstGeom xmlns:a="http://schemas.openxmlformats.org/drawingml/2006/main" prst="rect">
            <a:avLst/>
          </a:prstGeom>
        </p:spPr>
      </p:pic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A96F062-4599-4561-8DB8-BFB6CD2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86525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675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26675"/>
                </a:solidFill>
                <a:latin typeface="Calibri"/>
                <a:ea typeface="Calibri"/>
                <a:cs typeface="Calibri"/>
              </a:rPr>
              <a:t>Имитационное моделирование · лабораторная работа № 4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35FBE1-4001-4D2A-A44F-90B33D24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86525"/>
            <a:ext cx="80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B4778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B477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" name="command-bg">
            <a:extLst xmlns:a="http://schemas.openxmlformats.org/drawingml/2006/main">
              <a:ext uri="{FF2B5EF4-FFF2-40B4-BE49-F238E27FC236}">
                <a16:creationId xmlns:a16="http://schemas.microsoft.com/office/drawing/2014/main" id="{FB589B73-FEBA-46DB-9E20-5C028F9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263442"/>
            </a:solidFill>
            <a:prstDash val="solid"/>
          </a:ln>
        </p:spPr>
      </p:sp>
      <p:sp>
        <p:nvSpPr>
          <p:cNvPr id="9" name="commands">
            <a:extLst xmlns:a="http://schemas.openxmlformats.org/drawingml/2006/main">
              <a:ext uri="{FF2B5EF4-FFF2-40B4-BE49-F238E27FC236}">
                <a16:creationId xmlns:a16="http://schemas.microsoft.com/office/drawing/2014/main" id="{9E3F3B85-21F1-4785-B94A-290C877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33500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tangle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notebooks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1">
                <a:solidFill>
                  <a:srgbClr val="D8DEE9"/>
                </a:solidFill>
              </a:defRPr>
            </a:pPr>
            <a:r>
              <a:rPr sz="2025" b="1">
                <a:solidFill>
                  <a:srgbClr val="D8DEE9"/>
                </a:solidFill>
              </a:rPr>
              <a:t>$ make test</a:t>
            </a:r>
          </a:p>
        </p:txBody>
      </p:sp>
      <p:sp>
        <p:nvSpPr>
          <p:cNvPr id="10" name="outputs">
            <a:extLst xmlns:a="http://schemas.openxmlformats.org/drawingml/2006/main">
              <a:ext uri="{FF2B5EF4-FFF2-40B4-BE49-F238E27FC236}">
                <a16:creationId xmlns:a16="http://schemas.microsoft.com/office/drawing/2014/main" id="{5A56D3BE-9E70-48FC-9478-9913FE8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66800"/>
            <a:ext cx="4476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12 литературных исходников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чистый Julia-код;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12 выполненных IPYNB;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QMD и HTML-документация;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14 научных рисунков;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CSV, JLD2 и оценки поиска;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отчёт DOCX и PDF;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2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232D"/>
                </a:solidFill>
                <a:latin typeface="Calibri"/>
                <a:ea typeface="Calibri"/>
                <a:cs typeface="Calibri"/>
              </a:rPr>
              <a:t>• презентация HTML и PPTX.</a:t>
            </a:r>
          </a:p>
        </p:txBody>
      </p:sp>
    </p:spTree>
    <p:extLst>
      <p:ext uri="{BB962C8B-B14F-4D97-AF65-F5344CB8AC3E}">
        <p14:creationId xmlns:p14="http://schemas.microsoft.com/office/powerpoint/2010/main" val="15525676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47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">
            <a:extLst xmlns:a="http://schemas.openxmlformats.org/drawingml/2006/main">
              <a:ext uri="{FF2B5EF4-FFF2-40B4-BE49-F238E27FC236}">
                <a16:creationId xmlns:a16="http://schemas.microsoft.com/office/drawing/2014/main" id="{7EDC123F-A2A1-4A23-B400-58E76A7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aae08bd814d57"/>
          <a:stretch xmlns:a="http://schemas.openxmlformats.org/drawingml/2006/main"/>
        </p:blipFill>
        <p:spPr>
          <a:xfrm xmlns:a="http://schemas.openxmlformats.org/drawingml/2006/main">
            <a:off x="742950" y="716689"/>
            <a:ext cx="781050" cy="662123"/>
          </a:xfrm>
          <a:prstGeom xmlns:a="http://schemas.openxmlformats.org/drawingml/2006/main" prst="rect">
            <a:avLst/>
          </a:prstGeom>
        </p:spPr>
      </p:pic>
      <p:sp>
        <p:nvSpPr>
          <p:cNvPr id="3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05B54D60-5BA6-4B1C-AA38-11674D7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72390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Миграция и выявление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меняют ход эпидемии</a:t>
            </a:r>
          </a:p>
        </p:txBody>
      </p:sp>
      <p:sp>
        <p:nvSpPr>
          <p:cNvPr id="4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A6F50DB3-5845-402B-875A-F3D9719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3360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clusions">
            <a:extLst xmlns:a="http://schemas.openxmlformats.org/drawingml/2006/main">
              <a:ext uri="{FF2B5EF4-FFF2-40B4-BE49-F238E27FC236}">
                <a16:creationId xmlns:a16="http://schemas.microsoft.com/office/drawing/2014/main" id="{80C76B1D-E492-4AF8-A98B-ACC10B4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953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Реализованы все основные и дополнительные задания главы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Последовательное обновление допускает быстрые каскады.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Заданный карантин не уменьшил пик в выполненной серии.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Ограничение 30% выполнено во всех 20 проверочных прогонах.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Результаты не являются прогнозом реальной эпидемии.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FCC7524D-04B4-4E2B-BB4A-218A72DF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245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5A9D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35A9D3"/>
                </a:solidFill>
                <a:latin typeface="Calibri"/>
                <a:ea typeface="Calibri"/>
                <a:cs typeface="Calibri"/>
              </a:rPr>
              <a:t>Лабораторная работа № 4</a:t>
            </a:r>
          </a:p>
        </p:txBody>
      </p:sp>
    </p:spTree>
    <p:extLst>
      <p:ext uri="{BB962C8B-B14F-4D97-AF65-F5344CB8AC3E}">
        <p14:creationId xmlns:p14="http://schemas.microsoft.com/office/powerpoint/2010/main" val="50953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2026-08-31T15:36:27.7970000Z</dcterms:created>
  <dcterms:modified xsi:type="dcterms:W3CDTF">2026-08-31T15:36:27.7970000Z</dcterms:modified>
</coreProperties>
</file>