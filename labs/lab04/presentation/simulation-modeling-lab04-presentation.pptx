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81557c82f540ad" /><Relationship Type="http://schemas.openxmlformats.org/officeDocument/2006/relationships/extended-properties" Target="/docProps/app.xml" Id="R05bf684862c442b4" /><Relationship Type="http://schemas.openxmlformats.org/officeDocument/2006/relationships/officeDocument" Target="/ppt/presentation.xml" Id="R7909b40da5aa44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ea86e1494c4165"/>
  </p:sldMasterIdLst>
  <p:notesMasterIdLst>
    <p:notesMasterId xmlns:r="http://schemas.openxmlformats.org/officeDocument/2006/relationships" r:id="R7f1b08271ece4ebf"/>
  </p:notesMasterIdLst>
  <p:sldIdLst>
    <p:sldId xmlns:r="http://schemas.openxmlformats.org/officeDocument/2006/relationships" id="256" r:id="R89aa1aa9d7aa4c89"/>
    <p:sldId xmlns:r="http://schemas.openxmlformats.org/officeDocument/2006/relationships" id="257" r:id="Rc165af42ecda44da"/>
    <p:sldId xmlns:r="http://schemas.openxmlformats.org/officeDocument/2006/relationships" id="258" r:id="R57b8dae1f978442e"/>
    <p:sldId xmlns:r="http://schemas.openxmlformats.org/officeDocument/2006/relationships" id="259" r:id="Rb2510442dd894e15"/>
    <p:sldId xmlns:r="http://schemas.openxmlformats.org/officeDocument/2006/relationships" id="260" r:id="R248f73c1761a4669"/>
    <p:sldId xmlns:r="http://schemas.openxmlformats.org/officeDocument/2006/relationships" id="261" r:id="Rb4f904387c534d43"/>
    <p:sldId xmlns:r="http://schemas.openxmlformats.org/officeDocument/2006/relationships" id="262" r:id="R056a28e1e0ed43e9"/>
    <p:sldId xmlns:r="http://schemas.openxmlformats.org/officeDocument/2006/relationships" id="263" r:id="R0935111a117a487b"/>
    <p:sldId xmlns:r="http://schemas.openxmlformats.org/officeDocument/2006/relationships" id="264" r:id="Rf5984c8fc82d4293"/>
    <p:sldId xmlns:r="http://schemas.openxmlformats.org/officeDocument/2006/relationships" id="265" r:id="R21829cb751254d2e"/>
    <p:sldId xmlns:r="http://schemas.openxmlformats.org/officeDocument/2006/relationships" id="266" r:id="Rd87aeb5180bc4691"/>
    <p:sldId xmlns:r="http://schemas.openxmlformats.org/officeDocument/2006/relationships" id="267" r:id="R37c2260675364259"/>
    <p:sldId xmlns:r="http://schemas.openxmlformats.org/officeDocument/2006/relationships" id="268" r:id="R8471b7eb2ceb482b"/>
    <p:sldId xmlns:r="http://schemas.openxmlformats.org/officeDocument/2006/relationships" id="269" r:id="Re7ad23bbdf064357"/>
    <p:sldId xmlns:r="http://schemas.openxmlformats.org/officeDocument/2006/relationships" id="270" r:id="Rf6d4ef7cc0f945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8c9cb1317249dd" /><Relationship Type="http://schemas.openxmlformats.org/officeDocument/2006/relationships/slideMaster" Target="/ppt/slideMasters/slideMaster1.xml" Id="R4eea86e1494c4165" /><Relationship Type="http://schemas.openxmlformats.org/officeDocument/2006/relationships/notesMaster" Target="/ppt/notesMasters/notesMaster1.xml" Id="R7f1b08271ece4ebf" /><Relationship Type="http://schemas.openxmlformats.org/officeDocument/2006/relationships/presProps" Target="/ppt/presProps.xml" Id="R90ace6bbdff8407b" /><Relationship Type="http://schemas.openxmlformats.org/officeDocument/2006/relationships/tableStyles" Target="/ppt/tableStyles.xml" Id="R4ecbcf7b0e0b47a8" /><Relationship Type="http://schemas.openxmlformats.org/officeDocument/2006/relationships/slide" Target="/ppt/slides/slide1.xml" Id="R89aa1aa9d7aa4c89" /><Relationship Type="http://schemas.openxmlformats.org/officeDocument/2006/relationships/slide" Target="/ppt/slides/slide2.xml" Id="Rc165af42ecda44da" /><Relationship Type="http://schemas.openxmlformats.org/officeDocument/2006/relationships/slide" Target="/ppt/slides/slide3.xml" Id="R57b8dae1f978442e" /><Relationship Type="http://schemas.openxmlformats.org/officeDocument/2006/relationships/slide" Target="/ppt/slides/slide4.xml" Id="Rb2510442dd894e15" /><Relationship Type="http://schemas.openxmlformats.org/officeDocument/2006/relationships/slide" Target="/ppt/slides/slide5.xml" Id="R248f73c1761a4669" /><Relationship Type="http://schemas.openxmlformats.org/officeDocument/2006/relationships/slide" Target="/ppt/slides/slide6.xml" Id="Rb4f904387c534d43" /><Relationship Type="http://schemas.openxmlformats.org/officeDocument/2006/relationships/slide" Target="/ppt/slides/slide7.xml" Id="R056a28e1e0ed43e9" /><Relationship Type="http://schemas.openxmlformats.org/officeDocument/2006/relationships/slide" Target="/ppt/slides/slide8.xml" Id="R0935111a117a487b" /><Relationship Type="http://schemas.openxmlformats.org/officeDocument/2006/relationships/slide" Target="/ppt/slides/slide9.xml" Id="Rf5984c8fc82d4293" /><Relationship Type="http://schemas.openxmlformats.org/officeDocument/2006/relationships/slide" Target="/ppt/slides/slide10.xml" Id="R21829cb751254d2e" /><Relationship Type="http://schemas.openxmlformats.org/officeDocument/2006/relationships/slide" Target="/ppt/slides/slide11.xml" Id="Rd87aeb5180bc4691" /><Relationship Type="http://schemas.openxmlformats.org/officeDocument/2006/relationships/slide" Target="/ppt/slides/slide12.xml" Id="R37c2260675364259" /><Relationship Type="http://schemas.openxmlformats.org/officeDocument/2006/relationships/slide" Target="/ppt/slides/slide13.xml" Id="R8471b7eb2ceb482b" /><Relationship Type="http://schemas.openxmlformats.org/officeDocument/2006/relationships/slide" Target="/ppt/slides/slide14.xml" Id="Re7ad23bbdf064357" /><Relationship Type="http://schemas.openxmlformats.org/officeDocument/2006/relationships/slide" Target="/ppt/slides/slide15.xml" Id="Rf6d4ef7cc0f945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239be2177544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753d09d8c64032" /><Relationship Type="http://schemas.openxmlformats.org/officeDocument/2006/relationships/notesMaster" Target="/ppt/notesMasters/notesMaster1.xml" Id="R2436309ee3e543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531c5fc0b24891" /><Relationship Type="http://schemas.openxmlformats.org/officeDocument/2006/relationships/notesMaster" Target="/ppt/notesMasters/notesMaster1.xml" Id="R3cedb8ff34f341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6476929e924362" /><Relationship Type="http://schemas.openxmlformats.org/officeDocument/2006/relationships/notesMaster" Target="/ppt/notesMasters/notesMaster1.xml" Id="Rc44a0b1b889b49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71fb4b9cbc49ff" /><Relationship Type="http://schemas.openxmlformats.org/officeDocument/2006/relationships/notesMaster" Target="/ppt/notesMasters/notesMaster1.xml" Id="R1eaa2643bbde4e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f28d38ae664f38" /><Relationship Type="http://schemas.openxmlformats.org/officeDocument/2006/relationships/notesMaster" Target="/ppt/notesMasters/notesMaster1.xml" Id="R1d82499bc4534a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b6e47a74de49ca" /><Relationship Type="http://schemas.openxmlformats.org/officeDocument/2006/relationships/notesMaster" Target="/ppt/notesMasters/notesMaster1.xml" Id="R6e6a846ca6c74d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30862d441e4d35" /><Relationship Type="http://schemas.openxmlformats.org/officeDocument/2006/relationships/notesMaster" Target="/ppt/notesMasters/notesMaster1.xml" Id="R4230cfe70d0141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7c7623d27e421c" /><Relationship Type="http://schemas.openxmlformats.org/officeDocument/2006/relationships/notesMaster" Target="/ppt/notesMasters/notesMaster1.xml" Id="R76f7ade8acbe4d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c77778830f4527" /><Relationship Type="http://schemas.openxmlformats.org/officeDocument/2006/relationships/notesMaster" Target="/ppt/notesMasters/notesMaster1.xml" Id="R8088396b577f4b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7b41e37d3143ea" /><Relationship Type="http://schemas.openxmlformats.org/officeDocument/2006/relationships/notesMaster" Target="/ppt/notesMasters/notesMaster1.xml" Id="R8d1634b39c564c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56402a2fab4a59" /><Relationship Type="http://schemas.openxmlformats.org/officeDocument/2006/relationships/notesMaster" Target="/ppt/notesMasters/notesMaster1.xml" Id="Ra2705d2c97484d9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899e82326964b48" /><Relationship Type="http://schemas.openxmlformats.org/officeDocument/2006/relationships/notesMaster" Target="/ppt/notesMasters/notesMaster1.xml" Id="R0fb58ebc44ba444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b0671fbef54ce1" /><Relationship Type="http://schemas.openxmlformats.org/officeDocument/2006/relationships/notesMaster" Target="/ppt/notesMasters/notesMaster1.xml" Id="Rfd39c63a5c8d448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f7184c8d65b4a45" /><Relationship Type="http://schemas.openxmlformats.org/officeDocument/2006/relationships/notesMaster" Target="/ppt/notesMasters/notesMaster1.xml" Id="R7c03283ff0a942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4401e2d248548b6" /><Relationship Type="http://schemas.openxmlformats.org/officeDocument/2006/relationships/notesMaster" Target="/ppt/notesMasters/notesMaster1.xml" Id="Rbc6d2024f05d4b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labs/lab04/image/01-terminal.png.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labs/lab04/image/02-terminal.png.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labs/lab04/image/01-plot.png.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labs/lab04/image/02-plot.png.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labs/lab04/image/04-plot.png.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labs/lab04/image/05-plot.png, 06-plot.png.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labs/lab04/image/03-plot.png.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labs/lab04/image/01-jupyter.png, 02-jupyter.png.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labs/lab04/image/03-terminal.png.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Локальные исходники: labs/lab04/project/src, scripts, data и test/runtests.jl.</a:t>
            </a:r>
          </a:p>
          <a:p xmlns:a="http://schemas.openxmlformats.org/drawingml/2006/main">
            <a:r>
              <a:t>Иллюстрации: labs/lab04/image/.</a:t>
            </a:r>
          </a:p>
          <a:p xmlns:a="http://schemas.openxmlformats.org/drawingml/2006/main">
            <a:r>
              <a:t>Оформление и логотип: принятая презентация лабораторной № 2.</a:t>
            </a:r>
          </a:p>
          <a:p xmlns:a="http://schemas.openxmlformats.org/drawingml/2006/main">
            <a:r>
              <a:t>Агрегированная модель, а не полный TCP-стек. Средние при t ≥ 10 с; сигналы потери за весь прогон. Классический RED: Floyd, Jacobson (1993), https://www.icir.org/floyd/papers/early.pdf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8bf8f8a1d249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06fe72608f4aaa" /><Relationship Type="http://schemas.openxmlformats.org/officeDocument/2006/relationships/slideLayout" Target="/ppt/slideLayouts/slideLayout1.xml" Id="R53a06fe857724b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a06fe857724b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eeb9fe8ff4cdc" /><Relationship Type="http://schemas.openxmlformats.org/officeDocument/2006/relationships/image" Target="/ppt/media/image.png" Id="R01c7ac56b1024fdf" /><Relationship Type="http://schemas.openxmlformats.org/officeDocument/2006/relationships/notesSlide" Target="/ppt/notesSlides/notesSlide1.xml" Id="R30b5a1a10f9844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167701d9d436f" /><Relationship Type="http://schemas.openxmlformats.org/officeDocument/2006/relationships/image" Target="/ppt/media/image2.png" Id="Rd28a75bd0e974cfe" /><Relationship Type="http://schemas.openxmlformats.org/officeDocument/2006/relationships/notesSlide" Target="/ppt/notesSlides/notesSlide2.xml" Id="Re8272f7834d842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234c0d980453c" /><Relationship Type="http://schemas.openxmlformats.org/officeDocument/2006/relationships/image" Target="/ppt/media/image3.png" Id="R52df88544a32485e" /><Relationship Type="http://schemas.openxmlformats.org/officeDocument/2006/relationships/notesSlide" Target="/ppt/notesSlides/notesSlide3.xml" Id="R626a07e29baa43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bd6259e5504c72" /><Relationship Type="http://schemas.openxmlformats.org/officeDocument/2006/relationships/image" Target="/ppt/media/image4.png" Id="R8beed365996b465d" /><Relationship Type="http://schemas.openxmlformats.org/officeDocument/2006/relationships/notesSlide" Target="/ppt/notesSlides/notesSlide4.xml" Id="Rc663fc9beafb41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7e65f2a854e97" /><Relationship Type="http://schemas.openxmlformats.org/officeDocument/2006/relationships/image" Target="/ppt/media/image5.png" Id="R8e0e5bda1c0747ab" /><Relationship Type="http://schemas.openxmlformats.org/officeDocument/2006/relationships/image" Target="/ppt/media/image6.png" Id="Rd8ac9b41bc69446a" /><Relationship Type="http://schemas.openxmlformats.org/officeDocument/2006/relationships/notesSlide" Target="/ppt/notesSlides/notesSlide5.xml" Id="Rd5f6c863f21d4d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e0d52d44f405d" /><Relationship Type="http://schemas.openxmlformats.org/officeDocument/2006/relationships/image" Target="/ppt/media/image7.png" Id="Recf36a4321fc4b2c" /><Relationship Type="http://schemas.openxmlformats.org/officeDocument/2006/relationships/image" Target="/ppt/media/image8.png" Id="R57e74281daaa462b" /><Relationship Type="http://schemas.openxmlformats.org/officeDocument/2006/relationships/notesSlide" Target="/ppt/notesSlides/notesSlide6.xml" Id="R8409d5c5d08943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1e1f968584da3" /><Relationship Type="http://schemas.openxmlformats.org/officeDocument/2006/relationships/image" Target="/ppt/media/image9.png" Id="Rfe120addabab48b2" /><Relationship Type="http://schemas.openxmlformats.org/officeDocument/2006/relationships/image" Target="/ppt/media/image10.png" Id="R1a6e47dc8b804945" /><Relationship Type="http://schemas.openxmlformats.org/officeDocument/2006/relationships/notesSlide" Target="/ppt/notesSlides/notesSlide7.xml" Id="R3cb6a182a9ee4b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bbe9f9db64500" /><Relationship Type="http://schemas.openxmlformats.org/officeDocument/2006/relationships/image" Target="/ppt/media/image11.png" Id="R69f2ff5696fc4f04" /><Relationship Type="http://schemas.openxmlformats.org/officeDocument/2006/relationships/image" Target="/ppt/media/image12.png" Id="R08e07f2bb66f41be" /><Relationship Type="http://schemas.openxmlformats.org/officeDocument/2006/relationships/notesSlide" Target="/ppt/notesSlides/notesSlide8.xml" Id="Rccfbe8c1259b46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817de19324bb0" /><Relationship Type="http://schemas.openxmlformats.org/officeDocument/2006/relationships/image" Target="/ppt/media/image13.png" Id="R747c85a8a92248f2" /><Relationship Type="http://schemas.openxmlformats.org/officeDocument/2006/relationships/image" Target="/ppt/media/image14.png" Id="R1106ba3268a14d19" /><Relationship Type="http://schemas.openxmlformats.org/officeDocument/2006/relationships/notesSlide" Target="/ppt/notesSlides/notesSlide9.xml" Id="R64b303d5ea4b492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4d8e56d504cca" /><Relationship Type="http://schemas.openxmlformats.org/officeDocument/2006/relationships/image" Target="/ppt/media/image15.png" Id="Rdca23627a62e452d" /><Relationship Type="http://schemas.openxmlformats.org/officeDocument/2006/relationships/image" Target="/ppt/media/image16.png" Id="Rbdf25032f317435e" /><Relationship Type="http://schemas.openxmlformats.org/officeDocument/2006/relationships/image" Target="/ppt/media/image17.png" Id="R4018c3c660b64206" /><Relationship Type="http://schemas.openxmlformats.org/officeDocument/2006/relationships/notesSlide" Target="/ppt/notesSlides/notesSlide10.xml" Id="R31d0efad443c4a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3ea8fb007403d" /><Relationship Type="http://schemas.openxmlformats.org/officeDocument/2006/relationships/image" Target="/ppt/media/image18.png" Id="Re42c556861144ed9" /><Relationship Type="http://schemas.openxmlformats.org/officeDocument/2006/relationships/image" Target="/ppt/media/image19.png" Id="R70ff7f0c90cf4cea" /><Relationship Type="http://schemas.openxmlformats.org/officeDocument/2006/relationships/notesSlide" Target="/ppt/notesSlides/notesSlide11.xml" Id="Re3092b3d816a40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56e88368a42e7" /><Relationship Type="http://schemas.openxmlformats.org/officeDocument/2006/relationships/image" Target="/ppt/media/image20.png" Id="R7473ea8d2b304bf7" /><Relationship Type="http://schemas.openxmlformats.org/officeDocument/2006/relationships/image" Target="/ppt/media/image.jpeg" Id="R0ae9016c1e494f33" /><Relationship Type="http://schemas.openxmlformats.org/officeDocument/2006/relationships/image" Target="/ppt/media/image2.jpeg" Id="R924e6a5dac1b48e0" /><Relationship Type="http://schemas.openxmlformats.org/officeDocument/2006/relationships/notesSlide" Target="/ppt/notesSlides/notesSlide12.xml" Id="Rfb695944079e4b8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7f7968b39430e" /><Relationship Type="http://schemas.openxmlformats.org/officeDocument/2006/relationships/image" Target="/ppt/media/image21.png" Id="R02356cced2b74e1e" /><Relationship Type="http://schemas.openxmlformats.org/officeDocument/2006/relationships/image" Target="/ppt/media/image22.png" Id="Rc046a797ef2b4120" /><Relationship Type="http://schemas.openxmlformats.org/officeDocument/2006/relationships/notesSlide" Target="/ppt/notesSlides/notesSlide13.xml" Id="Rb2c25b75775949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208593fc94cdb" /><Relationship Type="http://schemas.openxmlformats.org/officeDocument/2006/relationships/image" Target="/ppt/media/image23.png" Id="R86f859ee648b4b61" /><Relationship Type="http://schemas.openxmlformats.org/officeDocument/2006/relationships/notesSlide" Target="/ppt/notesSlides/notesSlide14.xml" Id="Rd6962a13eb3c4a6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fd77e5ca94b94" /><Relationship Type="http://schemas.openxmlformats.org/officeDocument/2006/relationships/image" Target="/ppt/media/image24.png" Id="R83e53895e82f4cb3" /><Relationship Type="http://schemas.openxmlformats.org/officeDocument/2006/relationships/notesSlide" Target="/ppt/notesSlides/notesSlide15.xml" Id="R7dd370d4e22c40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3396A765-E720-4140-8F2A-9B2252C7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0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and">
            <a:extLst xmlns:a="http://schemas.openxmlformats.org/drawingml/2006/main">
              <a:ext uri="{FF2B5EF4-FFF2-40B4-BE49-F238E27FC236}">
                <a16:creationId xmlns:a16="http://schemas.microsoft.com/office/drawing/2014/main" id="{F0AA6C92-D1C5-4BD3-9709-9C06392C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7ac56b1024fdf"/>
          <a:stretch xmlns:a="http://schemas.openxmlformats.org/drawingml/2006/main"/>
        </p:blipFill>
        <p:spPr>
          <a:xfrm xmlns:a="http://schemas.openxmlformats.org/drawingml/2006/main">
            <a:off x="457200" y="560369"/>
            <a:ext cx="1104900" cy="936661"/>
          </a:xfrm>
          <a:prstGeom xmlns:a="http://schemas.openxmlformats.org/drawingml/2006/main" prst="rect">
            <a:avLst/>
          </a:prstGeom>
        </p:spPr>
      </p:pic>
      <p:sp>
        <p:nvSpPr>
          <p:cNvPr id="4" name="course">
            <a:extLst xmlns:a="http://schemas.openxmlformats.org/drawingml/2006/main">
              <a:ext uri="{FF2B5EF4-FFF2-40B4-BE49-F238E27FC236}">
                <a16:creationId xmlns:a16="http://schemas.microsoft.com/office/drawing/2014/main" id="{5F81805C-F6B2-4923-AA28-EDF4ED91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914400"/>
            <a:ext cx="847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EA5"/>
                </a:solidFill>
              </a:defRPr>
            </a:pPr>
            <a:r>
              <a:rPr sz="1350" b="1">
                <a:solidFill>
                  <a:srgbClr val="176EA5"/>
                </a:solidFill>
              </a:rPr>
              <a:t>ИМИТАЦИОННОЕ МОДЕЛИРОВАНИЕ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045F79F-CBEE-46C7-8579-E321FAC8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562100"/>
            <a:ext cx="857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6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36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Лабораторная работа № 4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35432B33-C963-45BE-9D52-7A35D6A1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003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Агрегированная модель TCP/Reno и RED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DDF11CD1-D867-493C-A776-41C0A6BC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956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C9EE01F2-1E06-4D5F-B59A-782D6429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19500"/>
            <a:ext cx="609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>Куокконен Дарина Андреевна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>НФИбд-01-23</a:t>
            </a:r>
          </a:p>
        </p:txBody>
      </p:sp>
      <p:sp>
        <p:nvSpPr>
          <p:cNvPr id="9" name="university">
            <a:extLst xmlns:a="http://schemas.openxmlformats.org/drawingml/2006/main">
              <a:ext uri="{FF2B5EF4-FFF2-40B4-BE49-F238E27FC236}">
                <a16:creationId xmlns:a16="http://schemas.microsoft.com/office/drawing/2014/main" id="{1E145EEC-F5DF-4FF7-9082-F8E82222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067300"/>
            <a:ext cx="781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675"/>
                </a:solidFill>
              </a:defRPr>
            </a:pPr>
            <a:r>
              <a:rPr sz="1350" b="0">
                <a:solidFill>
                  <a:srgbClr val="526675"/>
                </a:solidFill>
              </a:rPr>
              <a:t>Российский университет дружбы народов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675"/>
                </a:solidFill>
              </a:defRPr>
            </a:pPr>
            <a:r>
              <a:rPr sz="1350" b="0">
                <a:solidFill>
                  <a:srgbClr val="526675"/>
                </a:solidFill>
              </a:rPr>
              <a:t>имени Патриса Лумумбы · Москва · 2026</a:t>
            </a:r>
          </a:p>
        </p:txBody>
      </p:sp>
    </p:spTree>
    <p:extLst>
      <p:ext uri="{BB962C8B-B14F-4D97-AF65-F5344CB8AC3E}">
        <p14:creationId xmlns:p14="http://schemas.microsoft.com/office/powerpoint/2010/main" val="18911247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Окна потоков и очередь связаны обратной связью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8a75bd0e974cfe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2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Цель — исследовать реакцию TCP-потоков на сигналы перегрузки общей очереди в учебной модели.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задать узкое место 20 Мбит/с и базовый RTT;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реализовать рост и уменьшение окна TCP;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сглаживать очередь и разыгрывать сигнал RED;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сравнить режимы с 5–40 потоками;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сохранить траектории, сводки и графики;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проверить ограничения модели автоматическими тестами.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3EEA6B23-AFB4-4427-A475-AEF5DDAE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30A9777-4FA0-429D-8228-411BC965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6A3BF7-966F-458F-B59D-CE4CCF98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Общая очередь изменяет RTT и скорость отправки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1C91618-2B9A-40EC-9AA7-257BA9B7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f88544a32485e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EAE11C7-4C12-40DF-87E8-6272C63C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A091B3-20E5-4A17-8498-D902EADB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3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B1E9D04E-FA55-4CFF-8F43-F473404F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048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sir-formulas">
            <a:extLst xmlns:a="http://schemas.openxmlformats.org/drawingml/2006/main">
              <a:ext uri="{FF2B5EF4-FFF2-40B4-BE49-F238E27FC236}">
                <a16:creationId xmlns:a16="http://schemas.microsoft.com/office/drawing/2014/main" id="{E62C42B5-3244-41DB-8CEC-D1C06B6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257300"/>
            <a:ext cx="433387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RTT = RTT₀ + q/C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sent = cwnd · Δt/RTT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C = 20·10⁶/(8·500)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C = 5000 пакетов/с</a:t>
            </a:r>
          </a:p>
        </p:txBody>
      </p:sp>
      <p:sp>
        <p:nvSpPr>
          <p:cNvPr id="10" name="sir-meaning">
            <a:extLst xmlns:a="http://schemas.openxmlformats.org/drawingml/2006/main">
              <a:ext uri="{FF2B5EF4-FFF2-40B4-BE49-F238E27FC236}">
                <a16:creationId xmlns:a16="http://schemas.microsoft.com/office/drawing/2014/main" id="{41D19FF8-7068-4D04-B519-53E81611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81125"/>
            <a:ext cx="4762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25 потоков делят одно узкое место.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RTT₀ = 118 мс, Δt = 2 мс.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Модель агрегированная: отдельные ACK и таймеры TCP не учитываются.</a:t>
            </a:r>
          </a:p>
        </p:txBody>
      </p:sp>
      <p:sp>
        <p:nvSpPr>
          <p:cNvPr id="11" name="r0-bg">
            <a:extLst xmlns:a="http://schemas.openxmlformats.org/drawingml/2006/main">
              <a:ext uri="{FF2B5EF4-FFF2-40B4-BE49-F238E27FC236}">
                <a16:creationId xmlns:a16="http://schemas.microsoft.com/office/drawing/2014/main" id="{DDA48782-AECC-4910-B9D2-3F299558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r0-value">
            <a:extLst xmlns:a="http://schemas.openxmlformats.org/drawingml/2006/main">
              <a:ext uri="{FF2B5EF4-FFF2-40B4-BE49-F238E27FC236}">
                <a16:creationId xmlns:a16="http://schemas.microsoft.com/office/drawing/2014/main" id="{B18707AA-ED3C-4619-A9B6-DFF0176B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20 Мбит/с</a:t>
            </a:r>
          </a:p>
        </p:txBody>
      </p:sp>
      <p:sp>
        <p:nvSpPr>
          <p:cNvPr id="13" name="r0-caption">
            <a:extLst xmlns:a="http://schemas.openxmlformats.org/drawingml/2006/main">
              <a:ext uri="{FF2B5EF4-FFF2-40B4-BE49-F238E27FC236}">
                <a16:creationId xmlns:a16="http://schemas.microsoft.com/office/drawing/2014/main" id="{A58DA480-4E37-4926-931E-A697D701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ёмкость канала</a:t>
            </a:r>
          </a:p>
        </p:txBody>
      </p:sp>
      <p:sp>
        <p:nvSpPr>
          <p:cNvPr id="14" name="peak-bg">
            <a:extLst xmlns:a="http://schemas.openxmlformats.org/drawingml/2006/main">
              <a:ext uri="{FF2B5EF4-FFF2-40B4-BE49-F238E27FC236}">
                <a16:creationId xmlns:a16="http://schemas.microsoft.com/office/drawing/2014/main" id="{057DFCE5-9E6A-4EC5-AF80-3D23DC91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peak-value">
            <a:extLst xmlns:a="http://schemas.openxmlformats.org/drawingml/2006/main">
              <a:ext uri="{FF2B5EF4-FFF2-40B4-BE49-F238E27FC236}">
                <a16:creationId xmlns:a16="http://schemas.microsoft.com/office/drawing/2014/main" id="{25877720-9526-4D97-B9EA-1C32D0D9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6" name="peak-caption">
            <a:extLst xmlns:a="http://schemas.openxmlformats.org/drawingml/2006/main">
              <a:ext uri="{FF2B5EF4-FFF2-40B4-BE49-F238E27FC236}">
                <a16:creationId xmlns:a16="http://schemas.microsoft.com/office/drawing/2014/main" id="{7005C71B-CBA1-467E-AD9C-32FB371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пакетов в буфере</a:t>
            </a:r>
          </a:p>
        </p:txBody>
      </p:sp>
    </p:spTree>
    <p:extLst>
      <p:ext uri="{BB962C8B-B14F-4D97-AF65-F5344CB8AC3E}">
        <p14:creationId xmlns:p14="http://schemas.microsoft.com/office/powerpoint/2010/main" val="15847899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AE851876-E4F3-42CF-B13E-732A4074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77E9EA1-240A-4A9D-86B1-E823F2BC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0A880F-EB7A-4877-9F48-C43A30B7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RED использует сглаженную оценку очереди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6CD5096-7B1C-4E38-99C6-492D662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eed365996b465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F236ABF-78D3-494B-BC1F-3BF65D25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704435-51D2-43C5-A95D-8BBA6679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4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A1154276-9ACC-4D1B-9A5B-D59D104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2197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lv-formulas">
            <a:extLst xmlns:a="http://schemas.openxmlformats.org/drawingml/2006/main">
              <a:ext uri="{FF2B5EF4-FFF2-40B4-BE49-F238E27FC236}">
                <a16:creationId xmlns:a16="http://schemas.microsoft.com/office/drawing/2014/main" id="{ED5EE27F-E01E-4EF1-A773-EDE1C307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85875"/>
            <a:ext cx="46482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q̄ ← (1 − w)q̄ + wq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w = 0,002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qmin = 75, qmax = 150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pmax = 0,1</a:t>
            </a:r>
          </a:p>
        </p:txBody>
      </p:sp>
      <p:sp>
        <p:nvSpPr>
          <p:cNvPr id="10" name="lv-meaning">
            <a:extLst xmlns:a="http://schemas.openxmlformats.org/drawingml/2006/main">
              <a:ext uri="{FF2B5EF4-FFF2-40B4-BE49-F238E27FC236}">
                <a16:creationId xmlns:a16="http://schemas.microsoft.com/office/drawing/2014/main" id="{98E47E58-19B5-4074-9F5D-48CFF71D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381125"/>
            <a:ext cx="4667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Ниже qmin вероятность равна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Между порогами она растёт линейно.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Выше qmax остаётся pmax: это упрощение классического RED.</a:t>
            </a:r>
          </a:p>
        </p:txBody>
      </p:sp>
      <p:sp>
        <p:nvSpPr>
          <p:cNvPr id="11" name="period-bg">
            <a:extLst xmlns:a="http://schemas.openxmlformats.org/drawingml/2006/main">
              <a:ext uri="{FF2B5EF4-FFF2-40B4-BE49-F238E27FC236}">
                <a16:creationId xmlns:a16="http://schemas.microsoft.com/office/drawing/2014/main" id="{0511A5E7-A74F-4703-ABCA-9BD93745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577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period-value">
            <a:extLst xmlns:a="http://schemas.openxmlformats.org/drawingml/2006/main">
              <a:ext uri="{FF2B5EF4-FFF2-40B4-BE49-F238E27FC236}">
                <a16:creationId xmlns:a16="http://schemas.microsoft.com/office/drawing/2014/main" id="{FDB99F33-5682-4C0B-8DB3-C5B8B0B1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5295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AIMD</a:t>
            </a:r>
          </a:p>
        </p:txBody>
      </p:sp>
      <p:sp>
        <p:nvSpPr>
          <p:cNvPr id="13" name="period-caption">
            <a:extLst xmlns:a="http://schemas.openxmlformats.org/drawingml/2006/main">
              <a:ext uri="{FF2B5EF4-FFF2-40B4-BE49-F238E27FC236}">
                <a16:creationId xmlns:a16="http://schemas.microsoft.com/office/drawing/2014/main" id="{BBEDD93C-B6F0-4B1F-8435-EB94DA0A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91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рост и уменьшение</a:t>
            </a:r>
          </a:p>
        </p:txBody>
      </p:sp>
      <p:sp>
        <p:nvSpPr>
          <p:cNvPr id="14" name="drift-bg">
            <a:extLst xmlns:a="http://schemas.openxmlformats.org/drawingml/2006/main">
              <a:ext uri="{FF2B5EF4-FFF2-40B4-BE49-F238E27FC236}">
                <a16:creationId xmlns:a16="http://schemas.microsoft.com/office/drawing/2014/main" id="{235B091A-44CB-4BDC-98CB-501D4314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577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drift-value">
            <a:extLst xmlns:a="http://schemas.openxmlformats.org/drawingml/2006/main">
              <a:ext uri="{FF2B5EF4-FFF2-40B4-BE49-F238E27FC236}">
                <a16:creationId xmlns:a16="http://schemas.microsoft.com/office/drawing/2014/main" id="{9BC52E5B-F448-4230-B5FE-9C7B6737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5295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6EA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76EA5"/>
                </a:solidFill>
                <a:latin typeface="Calibri"/>
                <a:ea typeface="Calibri"/>
                <a:cs typeface="Calibri"/>
              </a:rPr>
              <a:t>cwnd/2</a:t>
            </a:r>
          </a:p>
        </p:txBody>
      </p:sp>
      <p:sp>
        <p:nvSpPr>
          <p:cNvPr id="16" name="drift-caption">
            <a:extLst xmlns:a="http://schemas.openxmlformats.org/drawingml/2006/main">
              <a:ext uri="{FF2B5EF4-FFF2-40B4-BE49-F238E27FC236}">
                <a16:creationId xmlns:a16="http://schemas.microsoft.com/office/drawing/2014/main" id="{9F3E1B8F-C766-47FC-8FE0-8FCB35E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91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при сигнале потери</a:t>
            </a:r>
          </a:p>
        </p:txBody>
      </p:sp>
    </p:spTree>
    <p:extLst>
      <p:ext uri="{BB962C8B-B14F-4D97-AF65-F5344CB8AC3E}">
        <p14:creationId xmlns:p14="http://schemas.microsoft.com/office/powerpoint/2010/main" val="2357031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F6DA7DFC-D303-45C7-932C-2B94A3AE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E13BE153-F224-4FFB-A6F8-60B72D8F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8A92CE-6E00-4040-9EA3-57F7709C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Окружение и структура сохранены по образцу № 1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FAC0AB2-F232-4224-990D-03B69F9F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e5bda1c0747ab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67D68B-5FBC-4A0B-927B-439ED043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6334E4-9415-4008-9646-364F276B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5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c9b41bc69446a"/>
          <a:stretch xmlns:a="http://schemas.openxmlformats.org/drawingml/2006/main"/>
        </p:blipFill>
        <p:spPr>
          <a:xfrm xmlns:a="http://schemas.openxmlformats.org/drawingml/2006/main">
            <a:off x="552450" y="1267420"/>
            <a:ext cx="7143749" cy="4018359"/>
          </a:xfrm>
          <a:prstGeom xmlns:a="http://schemas.openxmlformats.org/drawingml/2006/main" prst="rect">
            <a:avLst/>
          </a:prstGeom>
        </p:spPr>
      </p:pic>
      <p:sp>
        <p:nvSpPr>
          <p:cNvPr id="9" name="pipeline">
            <a:extLst xmlns:a="http://schemas.openxmlformats.org/drawingml/2006/main">
              <a:ext uri="{FF2B5EF4-FFF2-40B4-BE49-F238E27FC236}">
                <a16:creationId xmlns:a16="http://schemas.microsoft.com/office/drawing/2014/main" id="{A132DAB6-9E24-4B67-8EEE-3D0F2420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066800"/>
            <a:ext cx="3524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</a:defRPr>
            </a:pPr>
            <a:r>
              <a:rPr sz="1650" b="1">
                <a:solidFill>
                  <a:srgbClr val="0B4778"/>
                </a:solidFill>
              </a:rPr>
              <a:t>Literate.jl → Julia → Jupyter → Quarto → Git</a:t>
            </a:r>
          </a:p>
        </p:txBody>
      </p:sp>
      <p:sp>
        <p:nvSpPr>
          <p:cNvPr id="10" name="versions">
            <a:extLst xmlns:a="http://schemas.openxmlformats.org/drawingml/2006/main">
              <a:ext uri="{FF2B5EF4-FFF2-40B4-BE49-F238E27FC236}">
                <a16:creationId xmlns:a16="http://schemas.microsoft.com/office/drawing/2014/main" id="{A0225854-4DE9-4CAF-B50B-6816A356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95500"/>
            <a:ext cx="31051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Julia 1.11.9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DrWatson.jl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CSV.jl и DataFrames.jl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Plots.jl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Literate.jl и IJulia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Версии — в Manifest.toml.</a:t>
            </a:r>
          </a:p>
        </p:txBody>
      </p:sp>
    </p:spTree>
    <p:extLst>
      <p:ext uri="{BB962C8B-B14F-4D97-AF65-F5344CB8AC3E}">
        <p14:creationId xmlns:p14="http://schemas.microsoft.com/office/powerpoint/2010/main" val="12214848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949485B2-FD7F-457C-A990-0BB86779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D7C26137-CE0A-4B86-96E0-EBB94362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D5031-7004-4AB6-8C31-931DE09E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Общий модуль описывает параметры и цикл модели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40A8A3C-B0DD-46BD-9E70-45B7F4CB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36a4321fc4b2c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A2F3A184-AB98-438B-87C3-A6BD103F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EAD69D-9D4F-4807-ADC8-EF8BFF3C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6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74281daaa462b"/>
          <a:stretch xmlns:a="http://schemas.openxmlformats.org/drawingml/2006/main"/>
        </p:blipFill>
        <p:spPr>
          <a:xfrm xmlns:a="http://schemas.openxmlformats.org/drawingml/2006/main">
            <a:off x="533400" y="1231106"/>
            <a:ext cx="7543800" cy="4243388"/>
          </a:xfrm>
          <a:prstGeom xmlns:a="http://schemas.openxmlformats.org/drawingml/2006/main" prst="rect">
            <a:avLst/>
          </a:prstGeom>
        </p:spPr>
      </p:pic>
      <p:sp>
        <p:nvSpPr>
          <p:cNvPr id="9" name="module-list">
            <a:extLst xmlns:a="http://schemas.openxmlformats.org/drawingml/2006/main">
              <a:ext uri="{FF2B5EF4-FFF2-40B4-BE49-F238E27FC236}">
                <a16:creationId xmlns:a16="http://schemas.microsoft.com/office/drawing/2014/main" id="{BCDC27FB-957B-4F11-B9CA-95792447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181100"/>
            <a:ext cx="304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TCPRED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NetworkParameters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REDParameters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TCPREDResult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red_probability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simulate_tcp_red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Сценарии используют один источник логики.</a:t>
            </a:r>
          </a:p>
        </p:txBody>
      </p:sp>
    </p:spTree>
    <p:extLst>
      <p:ext uri="{BB962C8B-B14F-4D97-AF65-F5344CB8AC3E}">
        <p14:creationId xmlns:p14="http://schemas.microsoft.com/office/powerpoint/2010/main" val="298160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band">
            <a:extLst xmlns:a="http://schemas.openxmlformats.org/drawingml/2006/main">
              <a:ext uri="{FF2B5EF4-FFF2-40B4-BE49-F238E27FC236}">
                <a16:creationId xmlns:a16="http://schemas.microsoft.com/office/drawing/2014/main" id="{F74FD5CC-8C38-411D-852B-0B38664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04E7823-61B5-47C3-B669-C35B8872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DD099D-979B-4597-9650-C67ED02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Окно растёт и уменьшается при сигналах перегрузки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F46DE4-DC52-45DC-98B8-BF3E30BE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20addabab48b2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CA48063-C26A-4267-AF5D-F662627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3554BD-DC5A-4F9E-A33E-16ACB139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7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e47dc8b804945"/>
          <a:stretch xmlns:a="http://schemas.openxmlformats.org/drawingml/2006/main"/>
        </p:blipFill>
        <p:spPr>
          <a:xfrm xmlns:a="http://schemas.openxmlformats.org/drawingml/2006/main">
            <a:off x="495300" y="1105853"/>
            <a:ext cx="7524750" cy="4665345"/>
          </a:xfrm>
          <a:prstGeom xmlns:a="http://schemas.openxmlformats.org/drawingml/2006/main" prst="rect">
            <a:avLst/>
          </a:prstGeom>
        </p:spPr>
      </p:pic>
      <p:sp>
        <p:nvSpPr>
          <p:cNvPr id="9" name="imax-bg">
            <a:extLst xmlns:a="http://schemas.openxmlformats.org/drawingml/2006/main">
              <a:ext uri="{FF2B5EF4-FFF2-40B4-BE49-F238E27FC236}">
                <a16:creationId xmlns:a16="http://schemas.microsoft.com/office/drawing/2014/main" id="{23FB6D0B-5E2B-4B1C-B750-E19EAA8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0" name="imax-value">
            <a:extLst xmlns:a="http://schemas.openxmlformats.org/drawingml/2006/main">
              <a:ext uri="{FF2B5EF4-FFF2-40B4-BE49-F238E27FC236}">
                <a16:creationId xmlns:a16="http://schemas.microsoft.com/office/drawing/2014/main" id="{B29A502F-6BBC-4C15-80AF-7B56141F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2001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24,5234</a:t>
            </a:r>
          </a:p>
        </p:txBody>
      </p:sp>
      <p:sp>
        <p:nvSpPr>
          <p:cNvPr id="11" name="imax-caption">
            <a:extLst xmlns:a="http://schemas.openxmlformats.org/drawingml/2006/main">
              <a:ext uri="{FF2B5EF4-FFF2-40B4-BE49-F238E27FC236}">
                <a16:creationId xmlns:a16="http://schemas.microsoft.com/office/drawing/2014/main" id="{EAFCEBFD-3EED-4A83-91F8-2D01A6C5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383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среднее окно, пакеты</a:t>
            </a:r>
          </a:p>
        </p:txBody>
      </p:sp>
      <p:sp>
        <p:nvSpPr>
          <p:cNvPr id="12" name="tpeak-bg">
            <a:extLst xmlns:a="http://schemas.openxmlformats.org/drawingml/2006/main">
              <a:ext uri="{FF2B5EF4-FFF2-40B4-BE49-F238E27FC236}">
                <a16:creationId xmlns:a16="http://schemas.microsoft.com/office/drawing/2014/main" id="{CB68471B-DC2C-40D6-8738-71969ACC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3" name="tpeak-value">
            <a:extLst xmlns:a="http://schemas.openxmlformats.org/drawingml/2006/main">
              <a:ext uri="{FF2B5EF4-FFF2-40B4-BE49-F238E27FC236}">
                <a16:creationId xmlns:a16="http://schemas.microsoft.com/office/drawing/2014/main" id="{C9732CBD-5B35-4487-81E3-94F91DA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4" name="tpeak-caption">
            <a:extLst xmlns:a="http://schemas.openxmlformats.org/drawingml/2006/main">
              <a:ext uri="{FF2B5EF4-FFF2-40B4-BE49-F238E27FC236}">
                <a16:creationId xmlns:a16="http://schemas.microsoft.com/office/drawing/2014/main" id="{6422106B-D159-415D-9E44-6C792AC7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конкурирующих потоков</a:t>
            </a:r>
          </a:p>
        </p:txBody>
      </p:sp>
      <p:sp>
        <p:nvSpPr>
          <p:cNvPr id="15" name="rend-bg">
            <a:extLst xmlns:a="http://schemas.openxmlformats.org/drawingml/2006/main">
              <a:ext uri="{FF2B5EF4-FFF2-40B4-BE49-F238E27FC236}">
                <a16:creationId xmlns:a16="http://schemas.microsoft.com/office/drawing/2014/main" id="{04381D42-5BF5-4983-B4EB-47C62156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6" name="rend-value">
            <a:extLst xmlns:a="http://schemas.openxmlformats.org/drawingml/2006/main">
              <a:ext uri="{FF2B5EF4-FFF2-40B4-BE49-F238E27FC236}">
                <a16:creationId xmlns:a16="http://schemas.microsoft.com/office/drawing/2014/main" id="{EC23F540-774E-44A3-BED8-2FFF4B9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242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446</a:t>
            </a:r>
          </a:p>
        </p:txBody>
      </p:sp>
      <p:sp>
        <p:nvSpPr>
          <p:cNvPr id="17" name="rend-caption">
            <a:extLst xmlns:a="http://schemas.openxmlformats.org/drawingml/2006/main">
              <a:ext uri="{FF2B5EF4-FFF2-40B4-BE49-F238E27FC236}">
                <a16:creationId xmlns:a16="http://schemas.microsoft.com/office/drawing/2014/main" id="{BA2CD5D3-B265-4D73-B512-FE1B147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624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сигналов за весь прогон</a:t>
            </a:r>
          </a:p>
        </p:txBody>
      </p:sp>
      <p:sp>
        <p:nvSpPr>
          <p:cNvPr id="18" name="drift">
            <a:extLst xmlns:a="http://schemas.openxmlformats.org/drawingml/2006/main">
              <a:ext uri="{FF2B5EF4-FFF2-40B4-BE49-F238E27FC236}">
                <a16:creationId xmlns:a16="http://schemas.microsoft.com/office/drawing/2014/main" id="{5C0C9BC5-8FBE-41DE-AA12-9933C1D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Средние вычислены при t ≥ 10 с</a:t>
            </a:r>
          </a:p>
        </p:txBody>
      </p:sp>
    </p:spTree>
    <p:extLst>
      <p:ext uri="{BB962C8B-B14F-4D97-AF65-F5344CB8AC3E}">
        <p14:creationId xmlns:p14="http://schemas.microsoft.com/office/powerpoint/2010/main" val="15480199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B71F5F6-248A-493A-BFF4-DB5B4A22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BB5CB7FF-FF77-40E6-A4F7-D6586C9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042EA1-0509-47F7-86ED-55527639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Мгновенная очередь изменяется быстрее EWMA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DFCD4F-FB53-4C73-8295-9DB007A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2ff5696fc4f04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8B0EB-4DA1-4111-8E40-6CB1D9B0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622E43-05B3-40DE-ABF3-C0322559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8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07f2bb66f41be"/>
          <a:stretch xmlns:a="http://schemas.openxmlformats.org/drawingml/2006/main"/>
        </p:blipFill>
        <p:spPr>
          <a:xfrm xmlns:a="http://schemas.openxmlformats.org/drawingml/2006/main">
            <a:off x="476250" y="1106329"/>
            <a:ext cx="7477125" cy="4635818"/>
          </a:xfrm>
          <a:prstGeom xmlns:a="http://schemas.openxmlformats.org/drawingml/2006/main" prst="rect">
            <a:avLst/>
          </a:prstGeom>
        </p:spPr>
      </p:pic>
      <p:sp>
        <p:nvSpPr>
          <p:cNvPr id="9" name="scan-table">
            <a:extLst xmlns:a="http://schemas.openxmlformats.org/drawingml/2006/main">
              <a:ext uri="{FF2B5EF4-FFF2-40B4-BE49-F238E27FC236}">
                <a16:creationId xmlns:a16="http://schemas.microsoft.com/office/drawing/2014/main" id="{B690B6A6-A35B-4EFA-A6BD-EF554132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57300"/>
            <a:ext cx="26860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Показатель   Пакеты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Среднее q       58,75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Среднее q̄       56,46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qmin                 75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qmax               150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Буфер              300</a:t>
            </a:r>
          </a:p>
        </p:txBody>
      </p:sp>
      <p:sp>
        <p:nvSpPr>
          <p:cNvPr id="10" name="scan-takeaway">
            <a:extLst xmlns:a="http://schemas.openxmlformats.org/drawingml/2006/main">
              <a:ext uri="{FF2B5EF4-FFF2-40B4-BE49-F238E27FC236}">
                <a16:creationId xmlns:a16="http://schemas.microsoft.com/office/drawing/2014/main" id="{8005A1C6-3D7F-4B44-8EF5-7DFA0DF1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Среднее ниже порога не исключает кратковременного включения RED.</a:t>
            </a:r>
          </a:p>
        </p:txBody>
      </p:sp>
    </p:spTree>
    <p:extLst>
      <p:ext uri="{BB962C8B-B14F-4D97-AF65-F5344CB8AC3E}">
        <p14:creationId xmlns:p14="http://schemas.microsoft.com/office/powerpoint/2010/main" val="15753328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97E662BC-85D8-46EB-A645-0207A7B6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ECACF40-E972-4C5C-9D82-E920C434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A0F080-7270-4A74-97C7-3BCD4C00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 базовом опыте канал используется на 93,83%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DCE7D4-1781-4F89-BA7A-98A6C868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c85a8a92248f2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81C67C-2B86-4F50-BF31-D7FC4B3C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A6D7F7-B636-4BA1-A9D4-58AD51F8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9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06ba3268a14d19"/>
          <a:stretch xmlns:a="http://schemas.openxmlformats.org/drawingml/2006/main"/>
        </p:blipFill>
        <p:spPr>
          <a:xfrm xmlns:a="http://schemas.openxmlformats.org/drawingml/2006/main">
            <a:off x="457200" y="1062228"/>
            <a:ext cx="7696200" cy="4771644"/>
          </a:xfrm>
          <a:prstGeom xmlns:a="http://schemas.openxmlformats.org/drawingml/2006/main" prst="rect">
            <a:avLst/>
          </a:prstGeom>
        </p:spPr>
      </p:pic>
      <p:sp>
        <p:nvSpPr>
          <p:cNvPr id="9" name="lv-metrics">
            <a:extLst xmlns:a="http://schemas.openxmlformats.org/drawingml/2006/main">
              <a:ext uri="{FF2B5EF4-FFF2-40B4-BE49-F238E27FC236}">
                <a16:creationId xmlns:a16="http://schemas.microsoft.com/office/drawing/2014/main" id="{8F200868-6BF2-4C9D-9209-E1DB3409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47800"/>
            <a:ext cx="260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Throughput: 18,7654 Мбит/с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Ёмкость: 20 Мбит/с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Интервал: t ≥ 10 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Длительность: 30 с</a:t>
            </a:r>
          </a:p>
        </p:txBody>
      </p:sp>
      <p:sp>
        <p:nvSpPr>
          <p:cNvPr id="10" name="lv-takeaway">
            <a:extLst xmlns:a="http://schemas.openxmlformats.org/drawingml/2006/main">
              <a:ext uri="{FF2B5EF4-FFF2-40B4-BE49-F238E27FC236}">
                <a16:creationId xmlns:a16="http://schemas.microsoft.com/office/drawing/2014/main" id="{9DB94CF0-4DC2-4C75-A4FE-51097031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05300"/>
            <a:ext cx="3086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Уменьшение окон после сигналов перегрузки создаёт провалы скорости.</a:t>
            </a:r>
          </a:p>
        </p:txBody>
      </p:sp>
    </p:spTree>
    <p:extLst>
      <p:ext uri="{BB962C8B-B14F-4D97-AF65-F5344CB8AC3E}">
        <p14:creationId xmlns:p14="http://schemas.microsoft.com/office/powerpoint/2010/main" val="6571162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band">
            <a:extLst xmlns:a="http://schemas.openxmlformats.org/drawingml/2006/main">
              <a:ext uri="{FF2B5EF4-FFF2-40B4-BE49-F238E27FC236}">
                <a16:creationId xmlns:a16="http://schemas.microsoft.com/office/drawing/2014/main" id="{3E922C0C-ABB8-4B25-8B75-A2281600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EE8CE78-6CCA-4896-BD8F-45BAF943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2500AA-CE4D-4C73-B451-CD3F2446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Число потоков меняет окна и состояние очереди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E879AF2-EE9B-4B99-8FB6-38FBBBE2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a23627a62e452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A40E70F6-15AE-4FE5-833C-900EFC80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A4FA70-3A89-465E-95C3-6070F9DE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10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f25032f317435e"/>
          <a:stretch xmlns:a="http://schemas.openxmlformats.org/drawingml/2006/main"/>
        </p:blipFill>
        <p:spPr>
          <a:xfrm xmlns:a="http://schemas.openxmlformats.org/drawingml/2006/main">
            <a:off x="495300" y="1548194"/>
            <a:ext cx="5391150" cy="3342513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18c3c660b64206"/>
          <a:stretch xmlns:a="http://schemas.openxmlformats.org/drawingml/2006/main"/>
        </p:blipFill>
        <p:spPr>
          <a:xfrm xmlns:a="http://schemas.openxmlformats.org/drawingml/2006/main">
            <a:off x="6286500" y="1548194"/>
            <a:ext cx="5391150" cy="3342513"/>
          </a:xfrm>
          <a:prstGeom xmlns:a="http://schemas.openxmlformats.org/drawingml/2006/main" prst="rect">
            <a:avLst/>
          </a:prstGeom>
        </p:spPr>
      </p:pic>
      <p:sp>
        <p:nvSpPr>
          <p:cNvPr id="10" name="phase-caption">
            <a:extLst xmlns:a="http://schemas.openxmlformats.org/drawingml/2006/main">
              <a:ext uri="{FF2B5EF4-FFF2-40B4-BE49-F238E27FC236}">
                <a16:creationId xmlns:a16="http://schemas.microsoft.com/office/drawing/2014/main" id="{2D71CC65-DF69-40A8-BF29-AE487CD7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466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Throughput при 5–40 потоках</a:t>
            </a:r>
          </a:p>
        </p:txBody>
      </p:sp>
      <p:sp>
        <p:nvSpPr>
          <p:cNvPr id="11" name="inv-caption">
            <a:extLst xmlns:a="http://schemas.openxmlformats.org/drawingml/2006/main">
              <a:ext uri="{FF2B5EF4-FFF2-40B4-BE49-F238E27FC236}">
                <a16:creationId xmlns:a16="http://schemas.microsoft.com/office/drawing/2014/main" id="{D6659F4D-F984-4216-9789-5FB1AF7A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619750"/>
            <a:ext cx="462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Средняя очередь по числу потоков</a:t>
            </a:r>
          </a:p>
        </p:txBody>
      </p:sp>
    </p:spTree>
    <p:extLst>
      <p:ext uri="{BB962C8B-B14F-4D97-AF65-F5344CB8AC3E}">
        <p14:creationId xmlns:p14="http://schemas.microsoft.com/office/powerpoint/2010/main" val="8245661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4B4A040E-4FA4-4C92-9639-20B50A1D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E2760E0-2BFB-41A3-B4B9-FC44F2B8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12DDF8-2FD0-4D82-98E2-44AD868D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Сигнал потери не равен числу потерянных пакетов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5E0F864-667E-4385-A6F2-CC1F5D66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c556861144ed9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83CD01B-7F94-4DBC-84F5-40CECFAF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C7CEEC-053D-4D70-931C-82E3AD18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11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ff7f0c90cf4cea"/>
          <a:stretch xmlns:a="http://schemas.openxmlformats.org/drawingml/2006/main"/>
        </p:blipFill>
        <p:spPr>
          <a:xfrm xmlns:a="http://schemas.openxmlformats.org/drawingml/2006/main">
            <a:off x="1196578" y="1468636"/>
            <a:ext cx="6369844" cy="3949303"/>
          </a:xfrm>
          <a:prstGeom xmlns:a="http://schemas.openxmlformats.org/drawingml/2006/main" prst="rect">
            <a:avLst/>
          </a:prstGeom>
        </p:spPr>
      </p:pic>
      <p:sp>
        <p:nvSpPr>
          <p:cNvPr id="9" name="states">
            <a:extLst xmlns:a="http://schemas.openxmlformats.org/drawingml/2006/main">
              <a:ext uri="{FF2B5EF4-FFF2-40B4-BE49-F238E27FC236}">
                <a16:creationId xmlns:a16="http://schemas.microsoft.com/office/drawing/2014/main" id="{14E3F9B0-44C3-4EC1-8902-2CA766B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19200"/>
            <a:ext cx="255270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Важные ограничения: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трафик агрегирован;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шаг фиксирован;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полный TCP не задан;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p ≤ pmax.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Счётчик фиксирует сигналы потокам за весь прогон.</a:t>
            </a:r>
          </a:p>
        </p:txBody>
      </p:sp>
    </p:spTree>
    <p:extLst>
      <p:ext uri="{BB962C8B-B14F-4D97-AF65-F5344CB8AC3E}">
        <p14:creationId xmlns:p14="http://schemas.microsoft.com/office/powerpoint/2010/main" val="15861912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band">
            <a:extLst xmlns:a="http://schemas.openxmlformats.org/drawingml/2006/main">
              <a:ext uri="{FF2B5EF4-FFF2-40B4-BE49-F238E27FC236}">
                <a16:creationId xmlns:a16="http://schemas.microsoft.com/office/drawing/2014/main" id="{AF2585DF-AC5B-4323-9E8D-F5DD6ADE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961FBD9-A3D3-4B4D-8148-6A8EA058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1B50FA-2F33-49D5-92A3-2006E35C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Базовый сценарий и серия сохранены в Jupyter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624C76B-A866-4FC3-BD4F-676A5F42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3ea8d2b304bf7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359995-F295-4F48-BFC9-5FDCEDF7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18B0D7C-16CB-40EC-970C-B3565A5F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12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e9016c1e494f33"/>
          <a:stretch xmlns:a="http://schemas.openxmlformats.org/drawingml/2006/main"/>
        </p:blipFill>
        <p:spPr>
          <a:xfrm xmlns:a="http://schemas.openxmlformats.org/drawingml/2006/main">
            <a:off x="495300" y="1640086"/>
            <a:ext cx="5429250" cy="3053953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e6a5dac1b48e0"/>
          <a:stretch xmlns:a="http://schemas.openxmlformats.org/drawingml/2006/main"/>
        </p:blipFill>
        <p:spPr>
          <a:xfrm xmlns:a="http://schemas.openxmlformats.org/drawingml/2006/main">
            <a:off x="6267450" y="1640086"/>
            <a:ext cx="5429250" cy="3053953"/>
          </a:xfrm>
          <a:prstGeom xmlns:a="http://schemas.openxmlformats.org/drawingml/2006/main" prst="rect">
            <a:avLst/>
          </a:prstGeom>
        </p:spPr>
      </p:pic>
      <p:sp>
        <p:nvSpPr>
          <p:cNvPr id="10" name="sir-label">
            <a:extLst xmlns:a="http://schemas.openxmlformats.org/drawingml/2006/main">
              <a:ext uri="{FF2B5EF4-FFF2-40B4-BE49-F238E27FC236}">
                <a16:creationId xmlns:a16="http://schemas.microsoft.com/office/drawing/2014/main" id="{2E8BCE43-1A01-4261-B5EA-2E52C71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25 потоков, seed 202604</a:t>
            </a:r>
          </a:p>
        </p:txBody>
      </p:sp>
      <p:sp>
        <p:nvSpPr>
          <p:cNvPr id="11" name="lv-label">
            <a:extLst xmlns:a="http://schemas.openxmlformats.org/drawingml/2006/main">
              <a:ext uri="{FF2B5EF4-FFF2-40B4-BE49-F238E27FC236}">
                <a16:creationId xmlns:a16="http://schemas.microsoft.com/office/drawing/2014/main" id="{9A8A30A9-3164-4FDB-BCBF-1144A37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4102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5–40 потоков, отдельные seed</a:t>
            </a:r>
          </a:p>
        </p:txBody>
      </p:sp>
    </p:spTree>
    <p:extLst>
      <p:ext uri="{BB962C8B-B14F-4D97-AF65-F5344CB8AC3E}">
        <p14:creationId xmlns:p14="http://schemas.microsoft.com/office/powerpoint/2010/main" val="4138984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band">
            <a:extLst xmlns:a="http://schemas.openxmlformats.org/drawingml/2006/main">
              <a:ext uri="{FF2B5EF4-FFF2-40B4-BE49-F238E27FC236}">
                <a16:creationId xmlns:a16="http://schemas.microsoft.com/office/drawing/2014/main" id="{6D573241-9EE9-4DF9-8086-F9A4F38D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F6378DF-5E8F-4722-97E0-1107CA5B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DD81CC7-CBD2-4703-970A-156532EF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Десять тестов проверяют ограничения реализации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606674E-824A-4C30-AC07-9394E7D2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56cced2b74e1e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B26CBF1-396E-4033-AAF9-48927138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5627C61-6ADF-48E9-A24A-976D6E94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13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6a797ef2b4120"/>
          <a:stretch xmlns:a="http://schemas.openxmlformats.org/drawingml/2006/main"/>
        </p:blipFill>
        <p:spPr>
          <a:xfrm xmlns:a="http://schemas.openxmlformats.org/drawingml/2006/main">
            <a:off x="514350" y="1241822"/>
            <a:ext cx="7200900" cy="4050506"/>
          </a:xfrm>
          <a:prstGeom xmlns:a="http://schemas.openxmlformats.org/drawingml/2006/main" prst="rect">
            <a:avLst/>
          </a:prstGeom>
        </p:spPr>
      </p:pic>
      <p:sp>
        <p:nvSpPr>
          <p:cNvPr id="9" name="test-list">
            <a:extLst xmlns:a="http://schemas.openxmlformats.org/drawingml/2006/main">
              <a:ext uri="{FF2B5EF4-FFF2-40B4-BE49-F238E27FC236}">
                <a16:creationId xmlns:a16="http://schemas.microsoft.com/office/drawing/2014/main" id="{C4D7CFCF-E677-40A4-ABD8-F9C618B5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57300"/>
            <a:ext cx="321945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3 проверки RED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7 проверок симуляции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вероятность в границах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очередь ≤ лимита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окно не меньше 1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✓ throughput ≤ 20 Мбит/с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Тестовый seed — 42.</a:t>
            </a:r>
          </a:p>
        </p:txBody>
      </p:sp>
    </p:spTree>
    <p:extLst>
      <p:ext uri="{BB962C8B-B14F-4D97-AF65-F5344CB8AC3E}">
        <p14:creationId xmlns:p14="http://schemas.microsoft.com/office/powerpoint/2010/main" val="606782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9734C38-27F5-41E9-AE40-B2280B0B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AC85DC4D-DCA4-478D-8970-A99DD113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3DF33A-E339-44DE-836A-AA0421DD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Расчёты и документы собираются из своих каталогов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263D394-B9E4-46CD-B043-C08BCA04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859ee648b4b61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A96F062-4599-4561-8DB8-BFB6CD2D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4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35FBE1-4001-4D2A-A44F-90B33D24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</a:defRPr>
            </a:pPr>
            <a:r>
              <a:rPr sz="975" b="1">
                <a:solidFill>
                  <a:srgbClr val="0B4778"/>
                </a:solidFill>
              </a:rPr>
              <a:t>14</a:t>
            </a:r>
          </a:p>
        </p:txBody>
      </p:sp>
      <p:sp>
        <p:nvSpPr>
          <p:cNvPr id="8" name="command-bg">
            <a:extLst xmlns:a="http://schemas.openxmlformats.org/drawingml/2006/main">
              <a:ext uri="{FF2B5EF4-FFF2-40B4-BE49-F238E27FC236}">
                <a16:creationId xmlns:a16="http://schemas.microsoft.com/office/drawing/2014/main" id="{FB589B73-FEBA-46DB-9E20-5C028F93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4762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9525">
            <a:solidFill>
              <a:srgbClr val="263442"/>
            </a:solidFill>
            <a:prstDash val="solid"/>
          </a:ln>
        </p:spPr>
      </p:sp>
      <p:sp>
        <p:nvSpPr>
          <p:cNvPr id="9" name="commands">
            <a:extLst xmlns:a="http://schemas.openxmlformats.org/drawingml/2006/main">
              <a:ext uri="{FF2B5EF4-FFF2-40B4-BE49-F238E27FC236}">
                <a16:creationId xmlns:a16="http://schemas.microsoft.com/office/drawing/2014/main" id="{9E3F3B85-21F1-4785-B94A-290C8777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333500"/>
            <a:ext cx="3905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tangle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run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notebooks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docs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D8DEE9"/>
                </a:solidFill>
              </a:defRPr>
            </a:pPr>
            <a:r>
              <a:rPr sz="2025" b="1">
                <a:solidFill>
                  <a:srgbClr val="D8DEE9"/>
                </a:solidFill>
              </a:rPr>
              <a:t>$ make test</a:t>
            </a:r>
          </a:p>
        </p:txBody>
      </p:sp>
      <p:sp>
        <p:nvSpPr>
          <p:cNvPr id="10" name="outputs">
            <a:extLst xmlns:a="http://schemas.openxmlformats.org/drawingml/2006/main">
              <a:ext uri="{FF2B5EF4-FFF2-40B4-BE49-F238E27FC236}">
                <a16:creationId xmlns:a16="http://schemas.microsoft.com/office/drawing/2014/main" id="{5A56D3BE-9E70-48FC-9478-9913FE81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66800"/>
            <a:ext cx="4476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 project: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сценарии Julia;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CSV и графики;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выполненные IPYNB;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HTML расчётов.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</a:defRPr>
            </a:pPr>
            <a:r>
              <a:rPr sz="1800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 report: make all → DOCX/PDF.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 presentation: make all → HTML.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PPTX редактируется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5525676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53895e82f4cb3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Учебная модель воспроизводит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обратную связь окон и очереди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При 25 потоках получено 18,77 Мбит/с после разогрева.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В серии 5–40 потоков канал используется на 92–99%.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С ростом конкуренции среднее окно уменьшается.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Сигналы потери подсчитаны отдельно от средних величин.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Выводы ограничены агрегированной моделью и её допущениями.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4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2026-08-30T23:51:01.3790000Z</dcterms:created>
  <dcterms:modified xsi:type="dcterms:W3CDTF">2026-08-30T23:51:01.3790000Z</dcterms:modified>
</coreProperties>
</file>