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931ffa05cf4c5d" /><Relationship Type="http://schemas.openxmlformats.org/officeDocument/2006/relationships/extended-properties" Target="/docProps/app.xml" Id="R2ca9e3d21d6d4812" /><Relationship Type="http://schemas.openxmlformats.org/officeDocument/2006/relationships/officeDocument" Target="/ppt/presentation.xml" Id="R0e4b239c668a4d5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8089dd1bc24e1f"/>
  </p:sldMasterIdLst>
  <p:notesMasterIdLst>
    <p:notesMasterId xmlns:r="http://schemas.openxmlformats.org/officeDocument/2006/relationships" r:id="R9cbaf6ff815a4311"/>
  </p:notesMasterIdLst>
  <p:sldIdLst>
    <p:sldId xmlns:r="http://schemas.openxmlformats.org/officeDocument/2006/relationships" id="256" r:id="Rd37ed93982c54193"/>
    <p:sldId xmlns:r="http://schemas.openxmlformats.org/officeDocument/2006/relationships" id="257" r:id="R01cd78edba2c4105"/>
    <p:sldId xmlns:r="http://schemas.openxmlformats.org/officeDocument/2006/relationships" id="258" r:id="R0cee250ffaa04930"/>
    <p:sldId xmlns:r="http://schemas.openxmlformats.org/officeDocument/2006/relationships" id="259" r:id="R35bbbf9a6a944d7c"/>
    <p:sldId xmlns:r="http://schemas.openxmlformats.org/officeDocument/2006/relationships" id="260" r:id="R1903a8cfc0514bc4"/>
    <p:sldId xmlns:r="http://schemas.openxmlformats.org/officeDocument/2006/relationships" id="261" r:id="R9232b6886b7d47d3"/>
    <p:sldId xmlns:r="http://schemas.openxmlformats.org/officeDocument/2006/relationships" id="262" r:id="R3fb1e87d03e2487b"/>
    <p:sldId xmlns:r="http://schemas.openxmlformats.org/officeDocument/2006/relationships" id="263" r:id="Rce55209ca1294628"/>
    <p:sldId xmlns:r="http://schemas.openxmlformats.org/officeDocument/2006/relationships" id="264" r:id="Rb3137d7311cc42dd"/>
    <p:sldId xmlns:r="http://schemas.openxmlformats.org/officeDocument/2006/relationships" id="265" r:id="R9ba4a08cfa0f456c"/>
    <p:sldId xmlns:r="http://schemas.openxmlformats.org/officeDocument/2006/relationships" id="266" r:id="Re7c53edba7af47de"/>
    <p:sldId xmlns:r="http://schemas.openxmlformats.org/officeDocument/2006/relationships" id="267" r:id="R2f0fa4401e634eb5"/>
    <p:sldId xmlns:r="http://schemas.openxmlformats.org/officeDocument/2006/relationships" id="268" r:id="R71bc14c565584b6a"/>
    <p:sldId xmlns:r="http://schemas.openxmlformats.org/officeDocument/2006/relationships" id="269" r:id="Rd697f4a6d6024bbc"/>
    <p:sldId xmlns:r="http://schemas.openxmlformats.org/officeDocument/2006/relationships" id="270" r:id="R5eab1700ce174980"/>
    <p:sldId xmlns:r="http://schemas.openxmlformats.org/officeDocument/2006/relationships" id="271" r:id="R8fe94673e13b41ef"/>
    <p:sldId xmlns:r="http://schemas.openxmlformats.org/officeDocument/2006/relationships" id="272" r:id="R55cb05fe279e47c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63b829cb434096" /><Relationship Type="http://schemas.openxmlformats.org/officeDocument/2006/relationships/slideMaster" Target="/ppt/slideMasters/slideMaster1.xml" Id="R068089dd1bc24e1f" /><Relationship Type="http://schemas.openxmlformats.org/officeDocument/2006/relationships/notesMaster" Target="/ppt/notesMasters/notesMaster1.xml" Id="R9cbaf6ff815a4311" /><Relationship Type="http://schemas.openxmlformats.org/officeDocument/2006/relationships/presProps" Target="/ppt/presProps.xml" Id="Rde68aa6ed6cb499e" /><Relationship Type="http://schemas.openxmlformats.org/officeDocument/2006/relationships/tableStyles" Target="/ppt/tableStyles.xml" Id="R5ed6edc27044452d" /><Relationship Type="http://schemas.openxmlformats.org/officeDocument/2006/relationships/slide" Target="/ppt/slides/slide1.xml" Id="Rd37ed93982c54193" /><Relationship Type="http://schemas.openxmlformats.org/officeDocument/2006/relationships/slide" Target="/ppt/slides/slide2.xml" Id="R01cd78edba2c4105" /><Relationship Type="http://schemas.openxmlformats.org/officeDocument/2006/relationships/slide" Target="/ppt/slides/slide3.xml" Id="R0cee250ffaa04930" /><Relationship Type="http://schemas.openxmlformats.org/officeDocument/2006/relationships/slide" Target="/ppt/slides/slide4.xml" Id="R35bbbf9a6a944d7c" /><Relationship Type="http://schemas.openxmlformats.org/officeDocument/2006/relationships/slide" Target="/ppt/slides/slide5.xml" Id="R1903a8cfc0514bc4" /><Relationship Type="http://schemas.openxmlformats.org/officeDocument/2006/relationships/slide" Target="/ppt/slides/slide6.xml" Id="R9232b6886b7d47d3" /><Relationship Type="http://schemas.openxmlformats.org/officeDocument/2006/relationships/slide" Target="/ppt/slides/slide7.xml" Id="R3fb1e87d03e2487b" /><Relationship Type="http://schemas.openxmlformats.org/officeDocument/2006/relationships/slide" Target="/ppt/slides/slide8.xml" Id="Rce55209ca1294628" /><Relationship Type="http://schemas.openxmlformats.org/officeDocument/2006/relationships/slide" Target="/ppt/slides/slide9.xml" Id="Rb3137d7311cc42dd" /><Relationship Type="http://schemas.openxmlformats.org/officeDocument/2006/relationships/slide" Target="/ppt/slides/slide10.xml" Id="R9ba4a08cfa0f456c" /><Relationship Type="http://schemas.openxmlformats.org/officeDocument/2006/relationships/slide" Target="/ppt/slides/slide11.xml" Id="Re7c53edba7af47de" /><Relationship Type="http://schemas.openxmlformats.org/officeDocument/2006/relationships/slide" Target="/ppt/slides/slide12.xml" Id="R2f0fa4401e634eb5" /><Relationship Type="http://schemas.openxmlformats.org/officeDocument/2006/relationships/slide" Target="/ppt/slides/slide13.xml" Id="R71bc14c565584b6a" /><Relationship Type="http://schemas.openxmlformats.org/officeDocument/2006/relationships/slide" Target="/ppt/slides/slide14.xml" Id="Rd697f4a6d6024bbc" /><Relationship Type="http://schemas.openxmlformats.org/officeDocument/2006/relationships/slide" Target="/ppt/slides/slide15.xml" Id="R5eab1700ce174980" /><Relationship Type="http://schemas.openxmlformats.org/officeDocument/2006/relationships/slide" Target="/ppt/slides/slide16.xml" Id="R8fe94673e13b41ef" /><Relationship Type="http://schemas.openxmlformats.org/officeDocument/2006/relationships/slide" Target="/ppt/slides/slide17.xml" Id="R55cb05fe279e47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abc93e98b54b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b82deb70614271" /><Relationship Type="http://schemas.openxmlformats.org/officeDocument/2006/relationships/notesMaster" Target="/ppt/notesMasters/notesMaster1.xml" Id="Rb70d7353dfda42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01f6d673194ac8" /><Relationship Type="http://schemas.openxmlformats.org/officeDocument/2006/relationships/notesMaster" Target="/ppt/notesMasters/notesMaster1.xml" Id="R698aa8d34c4949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4b6b58f5504554" /><Relationship Type="http://schemas.openxmlformats.org/officeDocument/2006/relationships/notesMaster" Target="/ppt/notesMasters/notesMaster1.xml" Id="Rdc841dfa82684a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07d4ff2f434361" /><Relationship Type="http://schemas.openxmlformats.org/officeDocument/2006/relationships/notesMaster" Target="/ppt/notesMasters/notesMaster1.xml" Id="Rd949a025a75b43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58a73456084364" /><Relationship Type="http://schemas.openxmlformats.org/officeDocument/2006/relationships/notesMaster" Target="/ppt/notesMasters/notesMaster1.xml" Id="R869c6ddfd60141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9a560fcd3c4176" /><Relationship Type="http://schemas.openxmlformats.org/officeDocument/2006/relationships/notesMaster" Target="/ppt/notesMasters/notesMaster1.xml" Id="R120f81e863ef4e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6b5873e7cc4438" /><Relationship Type="http://schemas.openxmlformats.org/officeDocument/2006/relationships/notesMaster" Target="/ppt/notesMasters/notesMaster1.xml" Id="R3c3731d6935648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964d80e23241f5" /><Relationship Type="http://schemas.openxmlformats.org/officeDocument/2006/relationships/notesMaster" Target="/ppt/notesMasters/notesMaster1.xml" Id="R829bedb19fc34f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0edab59bce4293" /><Relationship Type="http://schemas.openxmlformats.org/officeDocument/2006/relationships/notesMaster" Target="/ppt/notesMasters/notesMaster1.xml" Id="Ref035202cbfe496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61590e4f704105" /><Relationship Type="http://schemas.openxmlformats.org/officeDocument/2006/relationships/notesMaster" Target="/ppt/notesMasters/notesMaster1.xml" Id="R2d8a274463344c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d10abaedc96439c" /><Relationship Type="http://schemas.openxmlformats.org/officeDocument/2006/relationships/notesMaster" Target="/ppt/notesMasters/notesMaster1.xml" Id="R1411ce1213a4423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2d01a1a7e374605" /><Relationship Type="http://schemas.openxmlformats.org/officeDocument/2006/relationships/notesMaster" Target="/ppt/notesMasters/notesMaster1.xml" Id="R6d0d655ce9e54b0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6baf75c6ddb4203" /><Relationship Type="http://schemas.openxmlformats.org/officeDocument/2006/relationships/notesMaster" Target="/ppt/notesMasters/notesMaster1.xml" Id="R5f614d3370224ec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8c11a058635487e" /><Relationship Type="http://schemas.openxmlformats.org/officeDocument/2006/relationships/notesMaster" Target="/ppt/notesMasters/notesMaster1.xml" Id="R0acacfd0bb124c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6493fb3f1174cc4" /><Relationship Type="http://schemas.openxmlformats.org/officeDocument/2006/relationships/notesMaster" Target="/ppt/notesMasters/notesMaster1.xml" Id="R4d7e528e3ebb43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246220e937d404e" /><Relationship Type="http://schemas.openxmlformats.org/officeDocument/2006/relationships/notesMaster" Target="/ppt/notesMasters/notesMaster1.xml" Id="R11d8c9796c954fa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bdc53763000477a" /><Relationship Type="http://schemas.openxmlformats.org/officeDocument/2006/relationships/notesMaster" Target="/ppt/notesMasters/notesMaster1.xml" Id="R97764006d1ad4a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labs/lab03/image/01-terminal.png.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labs/lab03/image/02-terminal.png.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labs/lab03/image/03-plot.png.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labs/lab03/image/04-plot.png.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labs/lab03/image/05-plot.png.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labs/lab03/image/11-plot.png, 14-plot.png.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labs/lab03/image/18-plot.png, 21-plot.png.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labs/lab03/image/19-plot.png.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labs/lab03/image/25-plot.png.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labs/lab03/image/02-plot.png.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labs/lab03/image/03-terminal.png.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Королькова А. В., Кулябов Д. С. Имитационное моделирование. Практикум. Глава 3, стр. 115–135.</a:t>
            </a:r>
          </a:p>
          <a:p xmlns:a="http://schemas.openxmlformats.org/drawingml/2006/main">
            <a:r>
              <a:t>Локальные исходники и измерения: labs/lab03/project/src, scripts, data и test/runtests.jl.</a:t>
            </a:r>
          </a:p>
          <a:p xmlns:a="http://schemas.openxmlformats.org/drawingml/2006/main">
            <a:r>
              <a:t>Иллюстрации: labs/lab03/image/.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Решётка 30×30; seed 165; четыре сочетания max_age={25,40}, init_white={0.2,0.8}. Точки t=0,5,45. Временные ряды по 1000 шагов. Один seed на набор; доверительные интервалы не оценивались.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81278f773543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ee806149844b91" /><Relationship Type="http://schemas.openxmlformats.org/officeDocument/2006/relationships/slideLayout" Target="/ppt/slideLayouts/slideLayout1.xml" Id="R670de6900c1e47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0de6900c1e47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683a1220c5de495a" /><Relationship Type="http://schemas.openxmlformats.org/officeDocument/2006/relationships/image" Target="/ppt/media/image.png" Id="Rbbccb1b4ee1149ea" /><Relationship Type="http://schemas.openxmlformats.org/officeDocument/2006/relationships/notesSlide" Target="/ppt/notesSlides/notesSlide1.xml" Id="R08d65fe4b1fe46ca" /></Relationships>
</file>

<file path=ppt/slides/_rels/slide2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3b1cda42dde942f6" /><Relationship Type="http://schemas.openxmlformats.org/officeDocument/2006/relationships/image" Target="/ppt/media/image2.png" Id="R9e2e6b1250134205" /><Relationship Type="http://schemas.openxmlformats.org/officeDocument/2006/relationships/notesSlide" Target="/ppt/notesSlides/notesSlide2.xml" Id="Ra829b3fa73f34a45" /></Relationships>
</file>

<file path=ppt/slides/_rels/slide3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7c37b310e4f74be9" /><Relationship Type="http://schemas.openxmlformats.org/officeDocument/2006/relationships/image" Target="/ppt/media/image3.png" Id="R4bca645af9f84632" /><Relationship Type="http://schemas.openxmlformats.org/officeDocument/2006/relationships/notesSlide" Target="/ppt/notesSlides/notesSlide3.xml" Id="Rb44fdafa242a4665" /></Relationships>
</file>

<file path=ppt/slides/_rels/slide4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285ce70869a34737" /><Relationship Type="http://schemas.openxmlformats.org/officeDocument/2006/relationships/image" Target="/ppt/media/image4.png" Id="Rcce37724eba44d11" /><Relationship Type="http://schemas.openxmlformats.org/officeDocument/2006/relationships/notesSlide" Target="/ppt/notesSlides/notesSlide4.xml" Id="R78b5ce363a5c4b9c" /></Relationships>
</file>

<file path=ppt/slides/_rels/slide5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072072d4ddfb4e5b" /><Relationship Type="http://schemas.openxmlformats.org/officeDocument/2006/relationships/image" Target="/ppt/media/image5.png" Id="Raed8c01321c84f03" /><Relationship Type="http://schemas.openxmlformats.org/officeDocument/2006/relationships/image" Target="/ppt/media/image6.png" Id="R4678707cb920498b" /><Relationship Type="http://schemas.openxmlformats.org/officeDocument/2006/relationships/notesSlide" Target="/ppt/notesSlides/notesSlide5.xml" Id="Rcaaf5e146cd543ae" /><Relationship Id="Lab3Slide5Picture1" Type="http://schemas.openxmlformats.org/officeDocument/2006/relationships/image" Target="/ppt/media/lab03-slide5-picture1.png"/></Relationships>
</file>

<file path=ppt/slides/_rels/slide6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e72695bc73414ad6" /><Relationship Type="http://schemas.openxmlformats.org/officeDocument/2006/relationships/image" Target="/ppt/media/image7.png" Id="Rabbedea6507f4308" /><Relationship Type="http://schemas.openxmlformats.org/officeDocument/2006/relationships/image" Target="/ppt/media/image8.png" Id="R30d99412032549c3" /><Relationship Type="http://schemas.openxmlformats.org/officeDocument/2006/relationships/notesSlide" Target="/ppt/notesSlides/notesSlide6.xml" Id="R35ad38b40e224757" /><Relationship Id="Lab3Slide6Picture1" Type="http://schemas.openxmlformats.org/officeDocument/2006/relationships/image" Target="/ppt/media/lab03-slide6-picture1.png"/></Relationships>
</file>

<file path=ppt/slides/_rels/slide7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0ebc6315b68f4073" /><Relationship Type="http://schemas.openxmlformats.org/officeDocument/2006/relationships/image" Target="/ppt/media/image9.png" Id="Redeafbc86a1e43ff" /><Relationship Type="http://schemas.openxmlformats.org/officeDocument/2006/relationships/image" Target="/ppt/media/image10.png" Id="R0d6954e7e9c14eb2" /><Relationship Type="http://schemas.openxmlformats.org/officeDocument/2006/relationships/notesSlide" Target="/ppt/notesSlides/notesSlide7.xml" Id="R9649f181fc56411c" /><Relationship Id="Lab3Slide7Picture1" Type="http://schemas.openxmlformats.org/officeDocument/2006/relationships/image" Target="/ppt/media/lab03-slide7-picture1.png"/></Relationships>
</file>

<file path=ppt/slides/_rels/slide8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51e18241a9e747e2" /><Relationship Type="http://schemas.openxmlformats.org/officeDocument/2006/relationships/image" Target="/ppt/media/image11.png" Id="R1f589b2d84174930" /><Relationship Type="http://schemas.openxmlformats.org/officeDocument/2006/relationships/image" Target="/ppt/media/image12.png" Id="R1d0141e5eafa4d67" /><Relationship Type="http://schemas.openxmlformats.org/officeDocument/2006/relationships/notesSlide" Target="/ppt/notesSlides/notesSlide8.xml" Id="R2110c9d091a54df4" /><Relationship Id="Lab3Slide8Picture1" Type="http://schemas.openxmlformats.org/officeDocument/2006/relationships/image" Target="/ppt/media/lab03-slide8-picture1.png"/></Relationships>
</file>

<file path=ppt/slides/_rels/slide9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bf51294e3bb746f9" /><Relationship Type="http://schemas.openxmlformats.org/officeDocument/2006/relationships/image" Target="/ppt/media/image11.png" Id="Red716e2f0c854bdd" /><Relationship Type="http://schemas.openxmlformats.org/officeDocument/2006/relationships/image" Target="/ppt/media/image12.png" Id="Re607d55fde6a4ca9" /><Relationship Type="http://schemas.openxmlformats.org/officeDocument/2006/relationships/notesSlide" Target="/ppt/notesSlides/notesSlide9.xml" Id="R44e6a9f111da40c0" /><Relationship Id="Lab3Slide9Picture1" Type="http://schemas.openxmlformats.org/officeDocument/2006/relationships/image" Target="/ppt/media/lab03-slide9-picture1.png"/></Relationships>
</file>

<file path=ppt/slides/_rels/slide10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31bd87c8358c4610" /><Relationship Type="http://schemas.openxmlformats.org/officeDocument/2006/relationships/image" Target="/ppt/media/image13.png" Id="Rd39118bad7664d62" /><Relationship Type="http://schemas.openxmlformats.org/officeDocument/2006/relationships/image" Target="/ppt/media/image14.png" Id="R11538171001041ea" /><Relationship Type="http://schemas.openxmlformats.org/officeDocument/2006/relationships/image" Target="/ppt/media/image15.png" Id="Rddb17f90259f4fab" /><Relationship Type="http://schemas.openxmlformats.org/officeDocument/2006/relationships/notesSlide" Target="/ppt/notesSlides/notesSlide10.xml" Id="R200cba99746d4f64" /><Relationship Id="Lab3Slide10Picture1" Type="http://schemas.openxmlformats.org/officeDocument/2006/relationships/image" Target="/ppt/media/lab03-slide10-picture1.png"/><Relationship Id="Lab3Slide10Picture2" Type="http://schemas.openxmlformats.org/officeDocument/2006/relationships/image" Target="/ppt/media/lab03-slide10-picture2.png"/></Relationships>
</file>

<file path=ppt/slides/_rels/slide11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134ca66a0b154af0" /><Relationship Type="http://schemas.openxmlformats.org/officeDocument/2006/relationships/image" Target="/ppt/media/image13.png" Id="Rf2763b767ea64541" /><Relationship Type="http://schemas.openxmlformats.org/officeDocument/2006/relationships/image" Target="/ppt/media/image14.png" Id="R57345b09d3624a77" /><Relationship Type="http://schemas.openxmlformats.org/officeDocument/2006/relationships/image" Target="/ppt/media/image15.png" Id="R18979233d9cf48e7" /><Relationship Type="http://schemas.openxmlformats.org/officeDocument/2006/relationships/notesSlide" Target="/ppt/notesSlides/notesSlide11.xml" Id="R15d71792f77c498f" /><Relationship Id="Lab3Slide11Picture1" Type="http://schemas.openxmlformats.org/officeDocument/2006/relationships/image" Target="/ppt/media/lab03-slide11-picture1.png"/><Relationship Id="Lab3Slide11Picture2" Type="http://schemas.openxmlformats.org/officeDocument/2006/relationships/image" Target="/ppt/media/lab03-slide11-picture2.png"/></Relationships>
</file>

<file path=ppt/slides/_rels/slide12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1589295556a243c1" /><Relationship Type="http://schemas.openxmlformats.org/officeDocument/2006/relationships/image" Target="/ppt/media/image16.png" Id="Rb3ab6192396f4773" /><Relationship Type="http://schemas.openxmlformats.org/officeDocument/2006/relationships/image" Target="/ppt/media/image17.png" Id="R3a841f20c0894ada" /><Relationship Type="http://schemas.openxmlformats.org/officeDocument/2006/relationships/notesSlide" Target="/ppt/notesSlides/notesSlide12.xml" Id="Rcc3b183e92a746c2" /><Relationship Id="Lab3Slide12Picture1" Type="http://schemas.openxmlformats.org/officeDocument/2006/relationships/image" Target="/ppt/media/lab03-slide12-picture1.png"/></Relationships>
</file>

<file path=ppt/slides/_rels/slide13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c93207be5121478d" /><Relationship Type="http://schemas.openxmlformats.org/officeDocument/2006/relationships/image" Target="/ppt/media/image18.png" Id="Rf17f48b9808046e3" /><Relationship Type="http://schemas.openxmlformats.org/officeDocument/2006/relationships/image" Target="/ppt/media/image19.png" Id="R5e5b02eed33e430d" /><Relationship Type="http://schemas.openxmlformats.org/officeDocument/2006/relationships/notesSlide" Target="/ppt/notesSlides/notesSlide13.xml" Id="Rf766d03d26cb415b" /><Relationship Id="Lab3Slide13Picture1" Type="http://schemas.openxmlformats.org/officeDocument/2006/relationships/image" Target="/ppt/media/lab03-slide13-picture1.png"/></Relationships>
</file>

<file path=ppt/slides/_rels/slide14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253b7afe61304ff1" /><Relationship Type="http://schemas.openxmlformats.org/officeDocument/2006/relationships/image" Target="/ppt/media/image18.png" Id="R69d412f297f14f6b" /><Relationship Type="http://schemas.openxmlformats.org/officeDocument/2006/relationships/image" Target="/ppt/media/image19.png" Id="Rba9d33e0a3134f15" /><Relationship Type="http://schemas.openxmlformats.org/officeDocument/2006/relationships/notesSlide" Target="/ppt/notesSlides/notesSlide14.xml" Id="Rb5d0f84b74c749da" /><Relationship Id="Lab3Slide14Picture1" Type="http://schemas.openxmlformats.org/officeDocument/2006/relationships/image" Target="/ppt/media/lab03-slide14-picture1.png"/></Relationships>
</file>

<file path=ppt/slides/_rels/slide15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8b93c05feb5a44c1" /><Relationship Type="http://schemas.openxmlformats.org/officeDocument/2006/relationships/image" Target="/ppt/media/image20.png" Id="R02d4760e6714495d" /><Relationship Type="http://schemas.openxmlformats.org/officeDocument/2006/relationships/image" Target="/ppt/media/image21.png" Id="Re4ae6d8896a54dff" /><Relationship Type="http://schemas.openxmlformats.org/officeDocument/2006/relationships/notesSlide" Target="/ppt/notesSlides/notesSlide15.xml" Id="R192a8f2a0d504519" /><Relationship Id="Lab3Slide15Picture1" Type="http://schemas.openxmlformats.org/officeDocument/2006/relationships/image" Target="/ppt/media/lab03-slide15-picture1.png"/></Relationships>
</file>

<file path=ppt/slides/_rels/slide16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2f08b8420db14d8a" /><Relationship Type="http://schemas.openxmlformats.org/officeDocument/2006/relationships/image" Target="/ppt/media/image22.png" Id="R69c51f929ff84ad4" /><Relationship Type="http://schemas.openxmlformats.org/officeDocument/2006/relationships/notesSlide" Target="/ppt/notesSlides/notesSlide16.xml" Id="R8db52a0de0974d9c" /></Relationships>
</file>

<file path=ppt/slides/_rels/slide17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e78d9e76aae84cdf" /><Relationship Type="http://schemas.openxmlformats.org/officeDocument/2006/relationships/image" Target="/ppt/media/image23.png" Id="R157de975e5a74182" /><Relationship Type="http://schemas.openxmlformats.org/officeDocument/2006/relationships/notesSlide" Target="/ppt/notesSlides/notesSlide17.xml" Id="R09418c08b67042d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3396A765-E720-4140-8F2A-9B2252C7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00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ccent-band">
            <a:extLst xmlns:a="http://schemas.openxmlformats.org/drawingml/2006/main">
              <a:ext uri="{FF2B5EF4-FFF2-40B4-BE49-F238E27FC236}">
                <a16:creationId xmlns:a16="http://schemas.microsoft.com/office/drawing/2014/main" id="{F0AA6C92-D1C5-4BD3-9709-9C06392C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cb1b4ee1149ea"/>
          <a:stretch xmlns:a="http://schemas.openxmlformats.org/drawingml/2006/main"/>
        </p:blipFill>
        <p:spPr>
          <a:xfrm xmlns:a="http://schemas.openxmlformats.org/drawingml/2006/main">
            <a:off x="457200" y="560369"/>
            <a:ext cx="1104900" cy="936661"/>
          </a:xfrm>
          <a:prstGeom xmlns:a="http://schemas.openxmlformats.org/drawingml/2006/main" prst="rect">
            <a:avLst/>
          </a:prstGeom>
        </p:spPr>
      </p:pic>
      <p:sp>
        <p:nvSpPr>
          <p:cNvPr id="4" name="course">
            <a:extLst xmlns:a="http://schemas.openxmlformats.org/drawingml/2006/main">
              <a:ext uri="{FF2B5EF4-FFF2-40B4-BE49-F238E27FC236}">
                <a16:creationId xmlns:a16="http://schemas.microsoft.com/office/drawing/2014/main" id="{5F81805C-F6B2-4923-AA28-EDF4ED91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914400"/>
            <a:ext cx="847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EA5"/>
                </a:solidFill>
              </a:defRPr>
            </a:pPr>
            <a:r>
              <a:rPr sz="1350" b="1">
                <a:solidFill>
                  <a:srgbClr val="176EA5"/>
                </a:solidFill>
              </a:rPr>
              <a:t>ИМИТАЦИОННОЕ МОДЕЛИРОВАНИЕ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045F79F-CBEE-46C7-8579-E321FAC8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562100"/>
            <a:ext cx="857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6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36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Лабораторная работа № 3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35432B33-C963-45BE-9D52-7A35D6A1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003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Daisyworld: популяции и температура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DDF11CD1-D867-493C-A776-41C0A6BC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956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C9EE01F2-1E06-4D5F-B59A-782D6429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19500"/>
            <a:ext cx="609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>Куокконен Дарина Андреевна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>НФИбд-01-23</a:t>
            </a:r>
          </a:p>
        </p:txBody>
      </p:sp>
      <p:sp>
        <p:nvSpPr>
          <p:cNvPr id="9" name="university">
            <a:extLst xmlns:a="http://schemas.openxmlformats.org/drawingml/2006/main">
              <a:ext uri="{FF2B5EF4-FFF2-40B4-BE49-F238E27FC236}">
                <a16:creationId xmlns:a16="http://schemas.microsoft.com/office/drawing/2014/main" id="{1E145EEC-F5DF-4FF7-9082-F8E82222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067300"/>
            <a:ext cx="781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675"/>
                </a:solidFill>
              </a:defRPr>
            </a:pPr>
            <a:r>
              <a:rPr sz="1350" b="0">
                <a:solidFill>
                  <a:srgbClr val="526675"/>
                </a:solidFill>
              </a:rPr>
              <a:t>Российский университет дружбы народов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675"/>
                </a:solidFill>
              </a:defRPr>
            </a:pPr>
            <a:r>
              <a:rPr sz="1350" b="0">
                <a:solidFill>
                  <a:srgbClr val="526675"/>
                </a:solidFill>
              </a:rPr>
              <a:t>имени Патриса Лумумбы · Москва · 2026</a:t>
            </a:r>
          </a:p>
        </p:txBody>
      </p:sp>
    </p:spTree>
    <p:extLst>
      <p:ext uri="{BB962C8B-B14F-4D97-AF65-F5344CB8AC3E}">
        <p14:creationId xmlns:p14="http://schemas.microsoft.com/office/powerpoint/2010/main" val="18911247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Daisyworld связывает растения и среду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e6b1250134205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Цель — исследовать, как альбедо растений меняет температуру и условия их собственного размножения.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построить пространственные состояния и анимацию;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проследить численности на 1000 шагах;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изменить солнечную светимость;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сравнить четыре набора параметров;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выполнить семь самостоятельных Julia-сценариев;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включить производные QMD и листинги в отчёт.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band">
            <a:extLst xmlns:a="http://schemas.openxmlformats.org/drawingml/2006/main">
              <a:ext uri="{FF2B5EF4-FFF2-40B4-BE49-F238E27FC236}">
                <a16:creationId xmlns:a16="http://schemas.microsoft.com/office/drawing/2014/main" id="{3EEA6B23-AFB4-4427-A475-AEF5DDAE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730A9777-4FA0-429D-8228-411BC965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6A3BF7-966F-458F-B59D-CE4CCF98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Альбедо определяет поглощение энергии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1C91618-2B9A-40EC-9AA7-257BA9B7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a645af9f84632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EAE11C7-4C12-40DF-87E8-6272C63C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DA091B3-20E5-4A17-8498-D902EADB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8" name="formula-bg">
            <a:extLst xmlns:a="http://schemas.openxmlformats.org/drawingml/2006/main">
              <a:ext uri="{FF2B5EF4-FFF2-40B4-BE49-F238E27FC236}">
                <a16:creationId xmlns:a16="http://schemas.microsoft.com/office/drawing/2014/main" id="{B1E9D04E-FA55-4CFF-8F43-F473404F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5048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9" name="sir-formulas">
            <a:extLst xmlns:a="http://schemas.openxmlformats.org/drawingml/2006/main">
              <a:ext uri="{FF2B5EF4-FFF2-40B4-BE49-F238E27FC236}">
                <a16:creationId xmlns:a16="http://schemas.microsoft.com/office/drawing/2014/main" id="{E62C42B5-3244-41DB-8CEC-D1C06B6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257300"/>
            <a:ext cx="433387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E = (1 − a)L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Tloc = 72 ln(E) + 80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T ← (T + Tloc) /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Диффузия: 8 соседей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Доля обмена: 0,5</a:t>
            </a:r>
          </a:p>
        </p:txBody>
      </p:sp>
      <p:sp>
        <p:nvSpPr>
          <p:cNvPr id="10" name="sir-meaning">
            <a:extLst xmlns:a="http://schemas.openxmlformats.org/drawingml/2006/main">
              <a:ext uri="{FF2B5EF4-FFF2-40B4-BE49-F238E27FC236}">
                <a16:creationId xmlns:a16="http://schemas.microsoft.com/office/drawing/2014/main" id="{41D19FF8-7068-4D04-B519-53E81611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81125"/>
            <a:ext cx="4762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Чёрные маргаритки нагревают поверхность сильнее белых.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Температура обновляется на месте, как в коде практикума.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Границы поля периодические.</a:t>
            </a:r>
          </a:p>
        </p:txBody>
      </p:sp>
      <p:sp>
        <p:nvSpPr>
          <p:cNvPr id="11" name="r0-bg">
            <a:extLst xmlns:a="http://schemas.openxmlformats.org/drawingml/2006/main">
              <a:ext uri="{FF2B5EF4-FFF2-40B4-BE49-F238E27FC236}">
                <a16:creationId xmlns:a16="http://schemas.microsoft.com/office/drawing/2014/main" id="{DDA48782-AECC-4910-B9D2-3F299558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2209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2" name="r0-value">
            <a:extLst xmlns:a="http://schemas.openxmlformats.org/drawingml/2006/main">
              <a:ext uri="{FF2B5EF4-FFF2-40B4-BE49-F238E27FC236}">
                <a16:creationId xmlns:a16="http://schemas.microsoft.com/office/drawing/2014/main" id="{B18707AA-ED3C-4619-A9B6-DFF0176B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9580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30 × 30</a:t>
            </a:r>
          </a:p>
        </p:txBody>
      </p:sp>
      <p:sp>
        <p:nvSpPr>
          <p:cNvPr id="13" name="r0-caption">
            <a:extLst xmlns:a="http://schemas.openxmlformats.org/drawingml/2006/main">
              <a:ext uri="{FF2B5EF4-FFF2-40B4-BE49-F238E27FC236}">
                <a16:creationId xmlns:a16="http://schemas.microsoft.com/office/drawing/2014/main" id="{A58DA480-4E37-4926-931E-A697D701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339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решётка</a:t>
            </a:r>
          </a:p>
        </p:txBody>
      </p:sp>
      <p:sp>
        <p:nvSpPr>
          <p:cNvPr id="14" name="peak-bg">
            <a:extLst xmlns:a="http://schemas.openxmlformats.org/drawingml/2006/main">
              <a:ext uri="{FF2B5EF4-FFF2-40B4-BE49-F238E27FC236}">
                <a16:creationId xmlns:a16="http://schemas.microsoft.com/office/drawing/2014/main" id="{057DFCE5-9E6A-4EC5-AF80-3D23DC91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400550"/>
            <a:ext cx="2209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5" name="peak-value">
            <a:extLst xmlns:a="http://schemas.openxmlformats.org/drawingml/2006/main">
              <a:ext uri="{FF2B5EF4-FFF2-40B4-BE49-F238E27FC236}">
                <a16:creationId xmlns:a16="http://schemas.microsoft.com/office/drawing/2014/main" id="{25877720-9526-4D97-B9EA-1C32D0D9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9580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0,25 / 0,75</a:t>
            </a:r>
          </a:p>
        </p:txBody>
      </p:sp>
      <p:sp>
        <p:nvSpPr>
          <p:cNvPr id="16" name="peak-caption">
            <a:extLst xmlns:a="http://schemas.openxmlformats.org/drawingml/2006/main">
              <a:ext uri="{FF2B5EF4-FFF2-40B4-BE49-F238E27FC236}">
                <a16:creationId xmlns:a16="http://schemas.microsoft.com/office/drawing/2014/main" id="{7005C71B-CBA1-467E-AD9C-32FB3711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339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альбедо видов</a:t>
            </a:r>
          </a:p>
        </p:txBody>
      </p:sp>
    </p:spTree>
    <p:extLst>
      <p:ext uri="{BB962C8B-B14F-4D97-AF65-F5344CB8AC3E}">
        <p14:creationId xmlns:p14="http://schemas.microsoft.com/office/powerpoint/2010/main" val="15847899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band">
            <a:extLst xmlns:a="http://schemas.openxmlformats.org/drawingml/2006/main">
              <a:ext uri="{FF2B5EF4-FFF2-40B4-BE49-F238E27FC236}">
                <a16:creationId xmlns:a16="http://schemas.microsoft.com/office/drawing/2014/main" id="{AE851876-E4F3-42CF-B13E-732A4074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77E9EA1-240A-4A9D-86B1-E823F2BC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0A880F-EB7A-4877-9F48-C43A30B7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Температура влияет на появление потомства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6CD5096-7B1C-4E38-99C6-492D6625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e37724eba44d11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F236ABF-78D3-494B-BC1F-3BF65D25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704435-51D2-43C5-A95D-8BBA6679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8" name="formula-bg">
            <a:extLst xmlns:a="http://schemas.openxmlformats.org/drawingml/2006/main">
              <a:ext uri="{FF2B5EF4-FFF2-40B4-BE49-F238E27FC236}">
                <a16:creationId xmlns:a16="http://schemas.microsoft.com/office/drawing/2014/main" id="{A1154276-9ACC-4D1B-9A5B-D59D1047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52197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9" name="lv-formulas">
            <a:extLst xmlns:a="http://schemas.openxmlformats.org/drawingml/2006/main">
              <a:ext uri="{FF2B5EF4-FFF2-40B4-BE49-F238E27FC236}">
                <a16:creationId xmlns:a16="http://schemas.microsoft.com/office/drawing/2014/main" id="{ED5EE27F-E01E-4EF1-A773-EDE1C307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285875"/>
            <a:ext cx="46482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p(T) = clamp(f(T), 0, 1)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f(T) = 0,1457T</a:t>
            </a:r>
          </a:p>
          <a:p xmlns:a="http://schemas.openxmlformats.org/drawingml/2006/main">
            <a:pPr algn="ctr"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       − 0,0032T² − 0,6443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</a:defRPr>
            </a:pPr>
            <a:r>
              <a:rPr sz="2025" b="1">
                <a:solidFill>
                  <a:srgbClr val="0B4778"/>
                </a:solidFill>
              </a:rPr>
              <a:t/>
            </a:r>
          </a:p>
          <a:p xmlns:a="http://schemas.openxmlformats.org/drawingml/2006/main">
            <a:pPr algn="ctr"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Возраст ≥ max_age → гибель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</a:defRPr>
            </a:pPr>
            <a:r>
              <a:rPr sz="2025" b="1">
                <a:solidFill>
                  <a:srgbClr val="0B4778"/>
                </a:solidFill>
              </a:rPr>
              <a:t/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Потомок → свободный сосед</a:t>
            </a:r>
          </a:p>
        </p:txBody>
      </p:sp>
      <p:sp>
        <p:nvSpPr>
          <p:cNvPr id="10" name="lv-meaning">
            <a:extLst xmlns:a="http://schemas.openxmlformats.org/drawingml/2006/main">
              <a:ext uri="{FF2B5EF4-FFF2-40B4-BE49-F238E27FC236}">
                <a16:creationId xmlns:a16="http://schemas.microsoft.com/office/drawing/2014/main" id="{98E47E58-19B5-4074-9F5D-48CFF71D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381125"/>
            <a:ext cx="4667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 начале — по 180 растений каждого вида.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Потомок наследует вид и альбедо.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Саморегуляция возникает из обратной связи, а не из заданной температуры.</a:t>
            </a:r>
          </a:p>
        </p:txBody>
      </p:sp>
      <p:sp>
        <p:nvSpPr>
          <p:cNvPr id="11" name="period-bg">
            <a:extLst xmlns:a="http://schemas.openxmlformats.org/drawingml/2006/main">
              <a:ext uri="{FF2B5EF4-FFF2-40B4-BE49-F238E27FC236}">
                <a16:creationId xmlns:a16="http://schemas.microsoft.com/office/drawing/2014/main" id="{0511A5E7-A74F-4703-ABCA-9BD93745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4577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2" name="period-value">
            <a:extLst xmlns:a="http://schemas.openxmlformats.org/drawingml/2006/main">
              <a:ext uri="{FF2B5EF4-FFF2-40B4-BE49-F238E27FC236}">
                <a16:creationId xmlns:a16="http://schemas.microsoft.com/office/drawing/2014/main" id="{FDB99F33-5682-4C0B-8DB3-C5B8B0B1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52950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3" name="period-caption">
            <a:extLst xmlns:a="http://schemas.openxmlformats.org/drawingml/2006/main">
              <a:ext uri="{FF2B5EF4-FFF2-40B4-BE49-F238E27FC236}">
                <a16:creationId xmlns:a16="http://schemas.microsoft.com/office/drawing/2014/main" id="{BBEDD93C-B6F0-4B1F-8435-EB94DA0A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911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предельный возраст</a:t>
            </a:r>
          </a:p>
        </p:txBody>
      </p:sp>
      <p:sp>
        <p:nvSpPr>
          <p:cNvPr id="14" name="drift-bg">
            <a:extLst xmlns:a="http://schemas.openxmlformats.org/drawingml/2006/main">
              <a:ext uri="{FF2B5EF4-FFF2-40B4-BE49-F238E27FC236}">
                <a16:creationId xmlns:a16="http://schemas.microsoft.com/office/drawing/2014/main" id="{235B091A-44CB-4BDC-98CB-501D4314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577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5" name="drift-value">
            <a:extLst xmlns:a="http://schemas.openxmlformats.org/drawingml/2006/main">
              <a:ext uri="{FF2B5EF4-FFF2-40B4-BE49-F238E27FC236}">
                <a16:creationId xmlns:a16="http://schemas.microsoft.com/office/drawing/2014/main" id="{9BC52E5B-F448-4230-B5FE-9C7B6737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52950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6EA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76EA5"/>
                </a:solidFill>
                <a:latin typeface="Calibri"/>
                <a:ea typeface="Calibri"/>
                <a:cs typeface="Calibri"/>
              </a:rPr>
              <a:t>165</a:t>
            </a:r>
          </a:p>
        </p:txBody>
      </p:sp>
      <p:sp>
        <p:nvSpPr>
          <p:cNvPr id="16" name="drift-caption">
            <a:extLst xmlns:a="http://schemas.openxmlformats.org/drawingml/2006/main">
              <a:ext uri="{FF2B5EF4-FFF2-40B4-BE49-F238E27FC236}">
                <a16:creationId xmlns:a16="http://schemas.microsoft.com/office/drawing/2014/main" id="{9F3E1B8F-C766-47FC-8FE0-8FCB35E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9911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seed модели</a:t>
            </a:r>
          </a:p>
        </p:txBody>
      </p:sp>
    </p:spTree>
    <p:extLst>
      <p:ext uri="{BB962C8B-B14F-4D97-AF65-F5344CB8AC3E}">
        <p14:creationId xmlns:p14="http://schemas.microsoft.com/office/powerpoint/2010/main" val="2357031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F6DA7DFC-D303-45C7-932C-2B94A3AE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E13BE153-F224-4FFB-A6F8-60B72D8F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8A92CE-6E00-4040-9EA3-57F7709C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Семь сценариев используют одно окружение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FAC0AB2-F232-4224-990D-03B69F9F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8c01321c84f03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F67D68B-5FBC-4A0B-927B-439ED043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6334E4-9415-4008-9646-364F276B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pic>
        <p:nvPicPr>
          <p:cNvPr id="21" name="01-terminal.png" descr="01-terminal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5Picture1"/>
          <a:stretch xmlns:a="http://schemas.openxmlformats.org/drawingml/2006/main"/>
        </p:blipFill>
        <p:spPr>
          <a:xfrm xmlns:a="http://schemas.openxmlformats.org/drawingml/2006/main">
            <a:off x="552450" y="1267420"/>
            <a:ext cx="7143749" cy="4018359"/>
          </a:xfrm>
          <a:prstGeom xmlns:a="http://schemas.openxmlformats.org/drawingml/2006/main" prst="rect">
            <a:avLst/>
          </a:prstGeom>
        </p:spPr>
      </p:pic>
      <p:sp>
        <p:nvSpPr>
          <p:cNvPr id="9" name="pipeline">
            <a:extLst xmlns:a="http://schemas.openxmlformats.org/drawingml/2006/main">
              <a:ext uri="{FF2B5EF4-FFF2-40B4-BE49-F238E27FC236}">
                <a16:creationId xmlns:a16="http://schemas.microsoft.com/office/drawing/2014/main" id="{A132DAB6-9E24-4B67-8EEE-3D0F2420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066800"/>
            <a:ext cx="3524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</a:defRPr>
            </a:pPr>
            <a:r>
              <a:rPr sz="1650" b="1">
                <a:solidFill>
                  <a:srgbClr val="0B4778"/>
                </a:solidFill>
              </a:rPr>
              <a:t>Literate.jl → Julia → Jupyter → Quarto → Git</a:t>
            </a:r>
          </a:p>
        </p:txBody>
      </p:sp>
      <p:sp>
        <p:nvSpPr>
          <p:cNvPr id="10" name="versions">
            <a:extLst xmlns:a="http://schemas.openxmlformats.org/drawingml/2006/main">
              <a:ext uri="{FF2B5EF4-FFF2-40B4-BE49-F238E27FC236}">
                <a16:creationId xmlns:a16="http://schemas.microsoft.com/office/drawing/2014/main" id="{A0225854-4DE9-4CAF-B50B-6816A356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95500"/>
            <a:ext cx="31051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Julia 1.11.9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Agents.jl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CairoMakie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DrWatson.jl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Literate.jl и IJulia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Project.toml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Manifest.toml</a:t>
            </a:r>
          </a:p>
        </p:txBody>
      </p:sp>
    </p:spTree>
    <p:extLst>
      <p:ext uri="{BB962C8B-B14F-4D97-AF65-F5344CB8AC3E}">
        <p14:creationId xmlns:p14="http://schemas.microsoft.com/office/powerpoint/2010/main" val="12214848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949485B2-FD7F-457C-A990-0BB86779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D7C26137-CE0A-4B86-96E0-EBB94362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D5031-7004-4AB6-8C31-931DE09E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Общий модуль задаёт все правила модели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40A8A3C-B0DD-46BD-9E70-45B7F4CB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bedea6507f4308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A2F3A184-AB98-438B-87C3-A6BD103F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EAD69D-9D4F-4807-ADC8-EF8BFF3C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>
        <p:nvPicPr>
          <p:cNvPr id="20" name="02-terminal.png" descr="02-terminal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6Picture1"/>
          <a:stretch xmlns:a="http://schemas.openxmlformats.org/drawingml/2006/main"/>
        </p:blipFill>
        <p:spPr>
          <a:xfrm xmlns:a="http://schemas.openxmlformats.org/drawingml/2006/main">
            <a:off x="533400" y="1231106"/>
            <a:ext cx="7543800" cy="4243388"/>
          </a:xfrm>
          <a:prstGeom xmlns:a="http://schemas.openxmlformats.org/drawingml/2006/main" prst="rect">
            <a:avLst/>
          </a:prstGeom>
        </p:spPr>
      </p:pic>
      <p:sp>
        <p:nvSpPr>
          <p:cNvPr id="9" name="module-list">
            <a:extLst xmlns:a="http://schemas.openxmlformats.org/drawingml/2006/main">
              <a:ext uri="{FF2B5EF4-FFF2-40B4-BE49-F238E27FC236}">
                <a16:creationId xmlns:a16="http://schemas.microsoft.com/office/drawing/2014/main" id="{BCDC27FB-957B-4F11-B9CA-95792447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181100"/>
            <a:ext cx="304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src/daisyworld.jl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инициализация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старение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нагрев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диффузия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размножение</a:t>
            </a:r>
          </a:p>
          <a:p xmlns:a="http://schemas.openxmlformats.org/drawingml/2006/main">
            <a:pPr algn="l"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светимость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</a:defRPr>
            </a:pPr>
            <a:r>
              <a:rPr sz="165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Один генератор случайных чисел модели.</a:t>
            </a:r>
          </a:p>
        </p:txBody>
      </p:sp>
    </p:spTree>
    <p:extLst>
      <p:ext uri="{BB962C8B-B14F-4D97-AF65-F5344CB8AC3E}">
        <p14:creationId xmlns:p14="http://schemas.microsoft.com/office/powerpoint/2010/main" val="2981600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band">
            <a:extLst xmlns:a="http://schemas.openxmlformats.org/drawingml/2006/main">
              <a:ext uri="{FF2B5EF4-FFF2-40B4-BE49-F238E27FC236}">
                <a16:creationId xmlns:a16="http://schemas.microsoft.com/office/drawing/2014/main" id="{F74FD5CC-8C38-411D-852B-0B386649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04E7823-61B5-47C3-B669-C35B8872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DD099D-979B-4597-9650-C67ED027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К шагу 45 поле почти полностью занято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F46DE4-DC52-45DC-98B8-BF3E30BE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afbc86a1e43ff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CA48063-C26A-4267-AF5D-F662627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3554BD-DC5A-4F9E-A33E-16ACB139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>
        <p:nvPicPr>
          <p:cNvPr id="29" name="03-plot.png" descr="03-plot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7Picture1"/>
          <a:stretch xmlns:a="http://schemas.openxmlformats.org/drawingml/2006/main"/>
        </p:blipFill>
        <p:spPr>
          <a:xfrm xmlns:a="http://schemas.openxmlformats.org/drawingml/2006/main">
            <a:off x="1425144" y="1105853"/>
            <a:ext cx="5665062" cy="4665345"/>
          </a:xfrm>
          <a:prstGeom xmlns:a="http://schemas.openxmlformats.org/drawingml/2006/main" prst="rect">
            <a:avLst/>
          </a:prstGeom>
        </p:spPr>
      </p:pic>
      <p:sp>
        <p:nvSpPr>
          <p:cNvPr id="9" name="imax-bg">
            <a:extLst xmlns:a="http://schemas.openxmlformats.org/drawingml/2006/main">
              <a:ext uri="{FF2B5EF4-FFF2-40B4-BE49-F238E27FC236}">
                <a16:creationId xmlns:a16="http://schemas.microsoft.com/office/drawing/2014/main" id="{23FB6D0B-5E2B-4B1C-B750-E19EAA83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1049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0" name="imax-value">
            <a:extLst xmlns:a="http://schemas.openxmlformats.org/drawingml/2006/main">
              <a:ext uri="{FF2B5EF4-FFF2-40B4-BE49-F238E27FC236}">
                <a16:creationId xmlns:a16="http://schemas.microsoft.com/office/drawing/2014/main" id="{B29A502F-6BBC-4C15-80AF-7B56141F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2001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450</a:t>
            </a:r>
          </a:p>
        </p:txBody>
      </p:sp>
      <p:sp>
        <p:nvSpPr>
          <p:cNvPr id="11" name="imax-caption">
            <a:extLst xmlns:a="http://schemas.openxmlformats.org/drawingml/2006/main">
              <a:ext uri="{FF2B5EF4-FFF2-40B4-BE49-F238E27FC236}">
                <a16:creationId xmlns:a16="http://schemas.microsoft.com/office/drawing/2014/main" id="{EAFCEBFD-3EED-4A83-91F8-2D01A6C5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383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чёрных маргариток</a:t>
            </a:r>
          </a:p>
        </p:txBody>
      </p:sp>
      <p:sp>
        <p:nvSpPr>
          <p:cNvPr id="12" name="tpeak-bg">
            <a:extLst xmlns:a="http://schemas.openxmlformats.org/drawingml/2006/main">
              <a:ext uri="{FF2B5EF4-FFF2-40B4-BE49-F238E27FC236}">
                <a16:creationId xmlns:a16="http://schemas.microsoft.com/office/drawing/2014/main" id="{CB68471B-DC2C-40D6-8738-71969ACC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3" name="tpeak-value">
            <a:extLst xmlns:a="http://schemas.openxmlformats.org/drawingml/2006/main">
              <a:ext uri="{FF2B5EF4-FFF2-40B4-BE49-F238E27FC236}">
                <a16:creationId xmlns:a16="http://schemas.microsoft.com/office/drawing/2014/main" id="{C9732CBD-5B35-4487-81E3-94F91DA2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435</a:t>
            </a:r>
          </a:p>
        </p:txBody>
      </p:sp>
      <p:sp>
        <p:nvSpPr>
          <p:cNvPr id="14" name="tpeak-caption">
            <a:extLst xmlns:a="http://schemas.openxmlformats.org/drawingml/2006/main">
              <a:ext uri="{FF2B5EF4-FFF2-40B4-BE49-F238E27FC236}">
                <a16:creationId xmlns:a16="http://schemas.microsoft.com/office/drawing/2014/main" id="{6422106B-D159-415D-9E44-6C792AC7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белых маргариток</a:t>
            </a:r>
          </a:p>
        </p:txBody>
      </p:sp>
      <p:sp>
        <p:nvSpPr>
          <p:cNvPr id="15" name="rend-bg">
            <a:extLst xmlns:a="http://schemas.openxmlformats.org/drawingml/2006/main">
              <a:ext uri="{FF2B5EF4-FFF2-40B4-BE49-F238E27FC236}">
                <a16:creationId xmlns:a16="http://schemas.microsoft.com/office/drawing/2014/main" id="{04381D42-5BF5-4983-B4EB-47C62156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290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6" name="rend-value">
            <a:extLst xmlns:a="http://schemas.openxmlformats.org/drawingml/2006/main">
              <a:ext uri="{FF2B5EF4-FFF2-40B4-BE49-F238E27FC236}">
                <a16:creationId xmlns:a16="http://schemas.microsoft.com/office/drawing/2014/main" id="{EC23F540-774E-44A3-BED8-2FFF4B9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242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20,13</a:t>
            </a:r>
          </a:p>
        </p:txBody>
      </p:sp>
      <p:sp>
        <p:nvSpPr>
          <p:cNvPr id="17" name="rend-caption">
            <a:extLst xmlns:a="http://schemas.openxmlformats.org/drawingml/2006/main">
              <a:ext uri="{FF2B5EF4-FFF2-40B4-BE49-F238E27FC236}">
                <a16:creationId xmlns:a16="http://schemas.microsoft.com/office/drawing/2014/main" id="{BA2CD5D3-B265-4D73-B512-FE1B1471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624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средняя температура</a:t>
            </a:r>
          </a:p>
        </p:txBody>
      </p:sp>
      <p:sp>
        <p:nvSpPr>
          <p:cNvPr id="18" name="drift">
            <a:extLst xmlns:a="http://schemas.openxmlformats.org/drawingml/2006/main">
              <a:ext uri="{FF2B5EF4-FFF2-40B4-BE49-F238E27FC236}">
                <a16:creationId xmlns:a16="http://schemas.microsoft.com/office/drawing/2014/main" id="{5C0C9BC5-8FBE-41DE-AA12-9933C1D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006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Пять шагов, затем ещё сорок: t = 45.</a:t>
            </a:r>
          </a:p>
        </p:txBody>
      </p:sp>
    </p:spTree>
    <p:extLst>
      <p:ext uri="{BB962C8B-B14F-4D97-AF65-F5344CB8AC3E}">
        <p14:creationId xmlns:p14="http://schemas.microsoft.com/office/powerpoint/2010/main" val="15480199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97E662BC-85D8-46EB-A645-0207A7B6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AECACF40-E972-4C5C-9D82-E920C434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A0F080-7270-4A74-97C7-3BCD4C00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При L = 1 оба вида сохраняются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9DCE7D4-1781-4F89-BA7A-98A6C868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589b2d84174930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81C67C-2B86-4F50-BF31-D7FC4B3C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A6D7F7-B636-4BA1-A9D4-58AD51F8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>
        <p:nvPicPr>
          <p:cNvPr id="21" name="04-plot.png" descr="04-plot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8Picture1"/>
          <a:stretch xmlns:a="http://schemas.openxmlformats.org/drawingml/2006/main"/>
        </p:blipFill>
        <p:spPr>
          <a:xfrm xmlns:a="http://schemas.openxmlformats.org/drawingml/2006/main">
            <a:off x="457200" y="1331595"/>
            <a:ext cx="7696200" cy="4232910"/>
          </a:xfrm>
          <a:prstGeom xmlns:a="http://schemas.openxmlformats.org/drawingml/2006/main" prst="rect">
            <a:avLst/>
          </a:prstGeom>
        </p:spPr>
      </p:pic>
      <p:sp>
        <p:nvSpPr>
          <p:cNvPr id="9" name="lv-metrics">
            <a:extLst xmlns:a="http://schemas.openxmlformats.org/drawingml/2006/main">
              <a:ext uri="{FF2B5EF4-FFF2-40B4-BE49-F238E27FC236}">
                <a16:creationId xmlns:a16="http://schemas.microsoft.com/office/drawing/2014/main" id="{8F200868-6BF2-4C9D-9209-E1DB3409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447800"/>
            <a:ext cx="2609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1000 шагов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Чёрных: 604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Белых: 287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Температура: 34,75</a:t>
            </a:r>
          </a:p>
        </p:txBody>
      </p:sp>
      <p:sp>
        <p:nvSpPr>
          <p:cNvPr id="10" name="lv-takeaway">
            <a:extLst xmlns:a="http://schemas.openxmlformats.org/drawingml/2006/main">
              <a:ext uri="{FF2B5EF4-FFF2-40B4-BE49-F238E27FC236}">
                <a16:creationId xmlns:a16="http://schemas.microsoft.com/office/drawing/2014/main" id="{9DB94CF0-4DC2-4C75-A4FE-51097031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05300"/>
            <a:ext cx="3086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Численности колеблются. Одна конечная точка не является стационарным решением.</a:t>
            </a:r>
          </a:p>
        </p:txBody>
      </p:sp>
    </p:spTree>
    <p:extLst>
      <p:ext uri="{BB962C8B-B14F-4D97-AF65-F5344CB8AC3E}">
        <p14:creationId xmlns:p14="http://schemas.microsoft.com/office/powerpoint/2010/main" val="6571162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97E662BC-85D8-46EB-A645-0207A7B6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AECACF40-E972-4C5C-9D82-E920C434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A0F080-7270-4A74-97C7-3BCD4C00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Рост светимости вытесняет чёрные растения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9DCE7D4-1781-4F89-BA7A-98A6C868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716e2f0c854bdd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81C67C-2B86-4F50-BF31-D7FC4B3C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A6D7F7-B636-4BA1-A9D4-58AD51F8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>
        <p:nvPicPr>
          <p:cNvPr id="21" name="05-plot.png" descr="05-plot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9Picture1"/>
          <a:stretch xmlns:a="http://schemas.openxmlformats.org/drawingml/2006/main"/>
        </p:blipFill>
        <p:spPr>
          <a:xfrm xmlns:a="http://schemas.openxmlformats.org/drawingml/2006/main">
            <a:off x="1919478" y="1062228"/>
            <a:ext cx="4771644" cy="4771644"/>
          </a:xfrm>
          <a:prstGeom xmlns:a="http://schemas.openxmlformats.org/drawingml/2006/main" prst="rect">
            <a:avLst/>
          </a:prstGeom>
        </p:spPr>
      </p:pic>
      <p:sp>
        <p:nvSpPr>
          <p:cNvPr id="9" name="lv-metrics">
            <a:extLst xmlns:a="http://schemas.openxmlformats.org/drawingml/2006/main">
              <a:ext uri="{FF2B5EF4-FFF2-40B4-BE49-F238E27FC236}">
                <a16:creationId xmlns:a16="http://schemas.microsoft.com/office/drawing/2014/main" id="{8F200868-6BF2-4C9D-9209-E1DB3409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447800"/>
            <a:ext cx="2609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L: 1 → 2 → 1,375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Чёрные исчезают:</a:t>
            </a:r>
          </a:p>
          <a:p xmlns:a="http://schemas.openxmlformats.org/drawingml/2006/main">
            <a:pPr algn="l">
              <a:defRPr sz="1725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t = 310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defRPr sz="1725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 конце: 892 белых</a:t>
            </a:r>
          </a:p>
        </p:txBody>
      </p:sp>
      <p:sp>
        <p:nvSpPr>
          <p:cNvPr id="10" name="lv-takeaway">
            <a:extLst xmlns:a="http://schemas.openxmlformats.org/drawingml/2006/main">
              <a:ext uri="{FF2B5EF4-FFF2-40B4-BE49-F238E27FC236}">
                <a16:creationId xmlns:a16="http://schemas.microsoft.com/office/drawing/2014/main" id="{9DB94CF0-4DC2-4C75-A4FE-51097031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05300"/>
            <a:ext cx="3086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После исчезновения вид не восстанавливается: внешнего заселения в модели нет.</a:t>
            </a:r>
          </a:p>
        </p:txBody>
      </p:sp>
    </p:spTree>
    <p:extLst>
      <p:ext uri="{BB962C8B-B14F-4D97-AF65-F5344CB8AC3E}">
        <p14:creationId xmlns:p14="http://schemas.microsoft.com/office/powerpoint/2010/main" val="6571162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band">
            <a:extLst xmlns:a="http://schemas.openxmlformats.org/drawingml/2006/main">
              <a:ext uri="{FF2B5EF4-FFF2-40B4-BE49-F238E27FC236}">
                <a16:creationId xmlns:a16="http://schemas.microsoft.com/office/drawing/2014/main" id="{3E922C0C-ABB8-4B25-8B75-A2281600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7EE8CE78-6CCA-4896-BD8F-45BAF943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2500AA-CE4D-4C73-B451-CD3F2446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Начальная доля и возраст меняют структуру поля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E879AF2-EE9B-4B99-8FB6-38FBBBE2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118bad7664d62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A40E70F6-15AE-4FE5-833C-900EFC80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A4FA70-3A89-465E-95C3-6070F9DE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pic>
        <p:nvPicPr>
          <p:cNvPr id="23" name="11-plot.png" descr="11-plot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10Picture1"/>
          <a:stretch xmlns:a="http://schemas.openxmlformats.org/drawingml/2006/main"/>
        </p:blipFill>
        <p:spPr>
          <a:xfrm xmlns:a="http://schemas.openxmlformats.org/drawingml/2006/main">
            <a:off x="572316" y="1062990"/>
            <a:ext cx="5237117" cy="4312920"/>
          </a:xfrm>
          <a:prstGeom xmlns:a="http://schemas.openxmlformats.org/drawingml/2006/main" prst="rect">
            <a:avLst/>
          </a:prstGeom>
        </p:spPr>
      </p:pic>
      <p:pic>
        <p:nvPicPr>
          <p:cNvPr id="24" name="14-plot.png" descr="14-plot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10Picture2"/>
          <a:stretch xmlns:a="http://schemas.openxmlformats.org/drawingml/2006/main"/>
        </p:blipFill>
        <p:spPr>
          <a:xfrm xmlns:a="http://schemas.openxmlformats.org/drawingml/2006/main">
            <a:off x="6952692" y="1548194"/>
            <a:ext cx="4058766" cy="3342513"/>
          </a:xfrm>
          <a:prstGeom xmlns:a="http://schemas.openxmlformats.org/drawingml/2006/main" prst="rect">
            <a:avLst/>
          </a:prstGeom>
        </p:spPr>
      </p:pic>
      <p:sp>
        <p:nvSpPr>
          <p:cNvPr id="10" name="phase-caption">
            <a:extLst xmlns:a="http://schemas.openxmlformats.org/drawingml/2006/main">
              <a:ext uri="{FF2B5EF4-FFF2-40B4-BE49-F238E27FC236}">
                <a16:creationId xmlns:a16="http://schemas.microsoft.com/office/drawing/2014/main" id="{2D71CC65-DF69-40A8-BF29-AE487CD7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466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Возраст 25; белых в начале 80%</a:t>
            </a:r>
          </a:p>
        </p:txBody>
      </p:sp>
      <p:sp>
        <p:nvSpPr>
          <p:cNvPr id="11" name="inv-caption">
            <a:extLst xmlns:a="http://schemas.openxmlformats.org/drawingml/2006/main">
              <a:ext uri="{FF2B5EF4-FFF2-40B4-BE49-F238E27FC236}">
                <a16:creationId xmlns:a16="http://schemas.microsoft.com/office/drawing/2014/main" id="{D6659F4D-F984-4216-9789-5FB1AF7A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619750"/>
            <a:ext cx="4629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Возраст 40; белых в начале 20%</a:t>
            </a:r>
          </a:p>
        </p:txBody>
      </p:sp>
    </p:spTree>
    <p:extLst>
      <p:ext uri="{BB962C8B-B14F-4D97-AF65-F5344CB8AC3E}">
        <p14:creationId xmlns:p14="http://schemas.microsoft.com/office/powerpoint/2010/main" val="8245661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band">
            <a:extLst xmlns:a="http://schemas.openxmlformats.org/drawingml/2006/main">
              <a:ext uri="{FF2B5EF4-FFF2-40B4-BE49-F238E27FC236}">
                <a16:creationId xmlns:a16="http://schemas.microsoft.com/office/drawing/2014/main" id="{3E922C0C-ABB8-4B25-8B75-A2281600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7EE8CE78-6CCA-4896-BD8F-45BAF943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2500AA-CE4D-4C73-B451-CD3F2446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Четыре опыта сохраняют сосуществование при L = 1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E879AF2-EE9B-4B99-8FB6-38FBBBE2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763b767ea64541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A40E70F6-15AE-4FE5-833C-900EFC80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A4FA70-3A89-465E-95C3-6070F9DE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>
        <p:nvPicPr>
          <p:cNvPr id="23" name="18-plot.png" descr="18-plot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11Picture1"/>
          <a:stretch xmlns:a="http://schemas.openxmlformats.org/drawingml/2006/main"/>
        </p:blipFill>
        <p:spPr>
          <a:xfrm xmlns:a="http://schemas.openxmlformats.org/drawingml/2006/main">
            <a:off x="495300" y="1736884"/>
            <a:ext cx="5391150" cy="2965133"/>
          </a:xfrm>
          <a:prstGeom xmlns:a="http://schemas.openxmlformats.org/drawingml/2006/main" prst="rect">
            <a:avLst/>
          </a:prstGeom>
        </p:spPr>
      </p:pic>
      <p:pic>
        <p:nvPicPr>
          <p:cNvPr id="24" name="21-plot.png" descr="21-plot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11Picture2"/>
          <a:stretch xmlns:a="http://schemas.openxmlformats.org/drawingml/2006/main"/>
        </p:blipFill>
        <p:spPr>
          <a:xfrm xmlns:a="http://schemas.openxmlformats.org/drawingml/2006/main">
            <a:off x="6286500" y="1736884"/>
            <a:ext cx="5391150" cy="2965133"/>
          </a:xfrm>
          <a:prstGeom xmlns:a="http://schemas.openxmlformats.org/drawingml/2006/main" prst="rect">
            <a:avLst/>
          </a:prstGeom>
        </p:spPr>
      </p:pic>
      <p:sp>
        <p:nvSpPr>
          <p:cNvPr id="10" name="phase-caption">
            <a:extLst xmlns:a="http://schemas.openxmlformats.org/drawingml/2006/main">
              <a:ext uri="{FF2B5EF4-FFF2-40B4-BE49-F238E27FC236}">
                <a16:creationId xmlns:a16="http://schemas.microsoft.com/office/drawing/2014/main" id="{2D71CC65-DF69-40A8-BF29-AE487CD7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466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Возраст 25; белых в начале 20%</a:t>
            </a:r>
          </a:p>
        </p:txBody>
      </p:sp>
      <p:sp>
        <p:nvSpPr>
          <p:cNvPr id="11" name="inv-caption">
            <a:extLst xmlns:a="http://schemas.openxmlformats.org/drawingml/2006/main">
              <a:ext uri="{FF2B5EF4-FFF2-40B4-BE49-F238E27FC236}">
                <a16:creationId xmlns:a16="http://schemas.microsoft.com/office/drawing/2014/main" id="{D6659F4D-F984-4216-9789-5FB1AF7A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619750"/>
            <a:ext cx="4629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Возраст 40; белых в начале 80%</a:t>
            </a:r>
          </a:p>
        </p:txBody>
      </p:sp>
    </p:spTree>
    <p:extLst>
      <p:ext uri="{BB962C8B-B14F-4D97-AF65-F5344CB8AC3E}">
        <p14:creationId xmlns:p14="http://schemas.microsoft.com/office/powerpoint/2010/main" val="8245661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B71F5F6-248A-493A-BFF4-DB5B4A22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BB5CB7FF-FF77-40E6-A4F7-D6586C90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042EA1-0509-47F7-86ED-55527639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Конечные численности зависят от параметров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DFCD4F-FB53-4C73-8295-9DB007A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ab6192396f4773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8B0EB-4DA1-4111-8E40-6CB1D9B0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622E43-05B3-40DE-ABF3-C0322559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pic>
        <p:nvPicPr>
          <p:cNvPr id="21" name="19-plot.png" descr="19-plot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12Picture1"/>
          <a:stretch xmlns:a="http://schemas.openxmlformats.org/drawingml/2006/main"/>
        </p:blipFill>
        <p:spPr>
          <a:xfrm xmlns:a="http://schemas.openxmlformats.org/drawingml/2006/main">
            <a:off x="476250" y="1368029"/>
            <a:ext cx="7477125" cy="4112419"/>
          </a:xfrm>
          <a:prstGeom xmlns:a="http://schemas.openxmlformats.org/drawingml/2006/main" prst="rect">
            <a:avLst/>
          </a:prstGeom>
        </p:spPr>
      </p:pic>
      <p:sp>
        <p:nvSpPr>
          <p:cNvPr id="9" name="scan-table">
            <a:extLst xmlns:a="http://schemas.openxmlformats.org/drawingml/2006/main">
              <a:ext uri="{FF2B5EF4-FFF2-40B4-BE49-F238E27FC236}">
                <a16:creationId xmlns:a16="http://schemas.microsoft.com/office/drawing/2014/main" id="{B690B6A6-A35B-4EFA-A6BD-EF554132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257300"/>
            <a:ext cx="26860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Возраст  Белые₀  Ч/Б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25          0,2      604/287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25          0,8      503/394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40          0,2      498/393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40          0,8      483/416</a:t>
            </a:r>
          </a:p>
        </p:txBody>
      </p:sp>
      <p:sp>
        <p:nvSpPr>
          <p:cNvPr id="10" name="scan-takeaway">
            <a:extLst xmlns:a="http://schemas.openxmlformats.org/drawingml/2006/main">
              <a:ext uri="{FF2B5EF4-FFF2-40B4-BE49-F238E27FC236}">
                <a16:creationId xmlns:a16="http://schemas.microsoft.com/office/drawing/2014/main" id="{8005A1C6-3D7F-4B44-8EF5-7DFA0DF1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0050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Один seed на набор: устойчивость результата для ансамбля миров не оценивалась.</a:t>
            </a:r>
          </a:p>
        </p:txBody>
      </p:sp>
    </p:spTree>
    <p:extLst>
      <p:ext uri="{BB962C8B-B14F-4D97-AF65-F5344CB8AC3E}">
        <p14:creationId xmlns:p14="http://schemas.microsoft.com/office/powerpoint/2010/main" val="157533289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4B4A040E-4FA4-4C92-9639-20B50A1D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E2760E0-2BFB-41A3-B4B9-FC44F2B8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12DDF8-2FD0-4D82-98E2-44AD868D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 ramp чёрные исчезают во всех четырёх опытах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5E0F864-667E-4385-A6F2-CC1F5D66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7f48b9808046e3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83CD01B-7F94-4DBC-84F5-40CECFAF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C7CEEC-053D-4D70-931C-82E3AD18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>
        <p:nvPicPr>
          <p:cNvPr id="20" name="25-plot.png" descr="25-plot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13Picture1"/>
          <a:stretch xmlns:a="http://schemas.openxmlformats.org/drawingml/2006/main"/>
        </p:blipFill>
        <p:spPr>
          <a:xfrm xmlns:a="http://schemas.openxmlformats.org/drawingml/2006/main">
            <a:off x="1833563" y="895350"/>
            <a:ext cx="5095875" cy="5095875"/>
          </a:xfrm>
          <a:prstGeom xmlns:a="http://schemas.openxmlformats.org/drawingml/2006/main" prst="rect">
            <a:avLst/>
          </a:prstGeom>
        </p:spPr>
      </p:pic>
      <p:sp>
        <p:nvSpPr>
          <p:cNvPr id="9" name="states">
            <a:extLst xmlns:a="http://schemas.openxmlformats.org/drawingml/2006/main">
              <a:ext uri="{FF2B5EF4-FFF2-40B4-BE49-F238E27FC236}">
                <a16:creationId xmlns:a16="http://schemas.microsoft.com/office/drawing/2014/main" id="{14E3F9B0-44C3-4EC1-8902-2CA766B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219200"/>
            <a:ext cx="255270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Белых при t = 1000: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25 / 0,2 → 892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25 / 0,8 → 864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40 / 0,2 → 892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40 / 0,8 → 882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Возраст / доля белых в начале.</a:t>
            </a:r>
          </a:p>
        </p:txBody>
      </p:sp>
    </p:spTree>
    <p:extLst>
      <p:ext uri="{BB962C8B-B14F-4D97-AF65-F5344CB8AC3E}">
        <p14:creationId xmlns:p14="http://schemas.microsoft.com/office/powerpoint/2010/main" val="158619124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4B4A040E-4FA4-4C92-9639-20B50A1D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E2760E0-2BFB-41A3-B4B9-FC44F2B8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12DDF8-2FD0-4D82-98E2-44AD868D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Анимация сохраняет последовательность состояний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5E0F864-667E-4385-A6F2-CC1F5D66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412f297f14f6b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83CD01B-7F94-4DBC-84F5-40CECFAF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C7CEEC-053D-4D70-931C-82E3AD18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pic>
        <p:nvPicPr>
          <p:cNvPr id="20" name="02-plot.png" descr="02-plot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14Picture1"/>
          <a:stretch xmlns:a="http://schemas.openxmlformats.org/drawingml/2006/main"/>
        </p:blipFill>
        <p:spPr>
          <a:xfrm xmlns:a="http://schemas.openxmlformats.org/drawingml/2006/main">
            <a:off x="1287576" y="895350"/>
            <a:ext cx="6187848" cy="5095875"/>
          </a:xfrm>
          <a:prstGeom xmlns:a="http://schemas.openxmlformats.org/drawingml/2006/main" prst="rect">
            <a:avLst/>
          </a:prstGeom>
        </p:spPr>
      </p:pic>
      <p:sp>
        <p:nvSpPr>
          <p:cNvPr id="9" name="states">
            <a:extLst xmlns:a="http://schemas.openxmlformats.org/drawingml/2006/main">
              <a:ext uri="{FF2B5EF4-FFF2-40B4-BE49-F238E27FC236}">
                <a16:creationId xmlns:a16="http://schemas.microsoft.com/office/drawing/2014/main" id="{14E3F9B0-44C3-4EC1-8902-2CA766B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219200"/>
            <a:ext cx="255270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60 кадров: t = 0…59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10 кадров/с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</a:defRPr>
            </a:pPr>
            <a:r>
              <a:rPr sz="165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image/01-animation.gif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</a:defRPr>
            </a:pPr>
            <a:r>
              <a:rPr sz="165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 frames.csv сохранены время и численности каждого кадра.</a:t>
            </a:r>
          </a:p>
        </p:txBody>
      </p:sp>
    </p:spTree>
    <p:extLst>
      <p:ext uri="{BB962C8B-B14F-4D97-AF65-F5344CB8AC3E}">
        <p14:creationId xmlns:p14="http://schemas.microsoft.com/office/powerpoint/2010/main" val="15861912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6D573241-9EE9-4DF9-8086-F9A4F38D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F6378DF-5E8F-4722-97E0-1107CA5B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DD81CC7-CBD2-4703-970A-156532EF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 тестов проверяют правила и повторяемость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606674E-824A-4C30-AC07-9394E7D2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d4760e6714495d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B26CBF1-396E-4033-AAF9-48927138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5627C61-6ADF-48E9-A24A-976D6E94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>
        <p:nvPicPr>
          <p:cNvPr id="20" name="03-terminal.png" descr="03-terminal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Lab3Slide15Picture1"/>
          <a:stretch xmlns:a="http://schemas.openxmlformats.org/drawingml/2006/main"/>
        </p:blipFill>
        <p:spPr>
          <a:xfrm xmlns:a="http://schemas.openxmlformats.org/drawingml/2006/main">
            <a:off x="514350" y="1241822"/>
            <a:ext cx="7200900" cy="4050506"/>
          </a:xfrm>
          <a:prstGeom xmlns:a="http://schemas.openxmlformats.org/drawingml/2006/main" prst="rect">
            <a:avLst/>
          </a:prstGeom>
        </p:spPr>
      </p:pic>
      <p:sp>
        <p:nvSpPr>
          <p:cNvPr id="9" name="test-list">
            <a:extLst xmlns:a="http://schemas.openxmlformats.org/drawingml/2006/main">
              <a:ext uri="{FF2B5EF4-FFF2-40B4-BE49-F238E27FC236}">
                <a16:creationId xmlns:a16="http://schemas.microsoft.com/office/drawing/2014/main" id="{C4D7CFCF-E677-40A4-ABD8-F9C618B5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57300"/>
            <a:ext cx="321945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7 — инициализация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7 — динамика и seed</a:t>
            </a:r>
          </a:p>
          <a:p xmlns:a="http://schemas.openxmlformats.org/drawingml/2006/main">
            <a:pPr algn="l"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5 — светимость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</a:defRPr>
            </a:pPr>
            <a:r>
              <a:rPr sz="165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вместимость решётки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возраст и температура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повторяемость траектории</a:t>
            </a:r>
          </a:p>
          <a:p xmlns:a="http://schemas.openxmlformats.org/drawingml/2006/main">
            <a:pPr algn="l"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границы ramp</a:t>
            </a:r>
          </a:p>
        </p:txBody>
      </p:sp>
    </p:spTree>
    <p:extLst>
      <p:ext uri="{BB962C8B-B14F-4D97-AF65-F5344CB8AC3E}">
        <p14:creationId xmlns:p14="http://schemas.microsoft.com/office/powerpoint/2010/main" val="6067828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9734C38-27F5-41E9-AE40-B2280B0B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AC85DC4D-DCA4-478D-8970-A99DD113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3DF33A-E339-44DE-836A-AA0421DD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Из каждого сценария получены все форматы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263D394-B9E4-46CD-B043-C08BCA04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c51f929ff84ad4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A96F062-4599-4561-8DB8-BFB6CD2D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3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35FBE1-4001-4D2A-A44F-90B33D24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8" name="command-bg">
            <a:extLst xmlns:a="http://schemas.openxmlformats.org/drawingml/2006/main">
              <a:ext uri="{FF2B5EF4-FFF2-40B4-BE49-F238E27FC236}">
                <a16:creationId xmlns:a16="http://schemas.microsoft.com/office/drawing/2014/main" id="{FB589B73-FEBA-46DB-9E20-5C028F93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4762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9525">
            <a:solidFill>
              <a:srgbClr val="263442"/>
            </a:solidFill>
            <a:prstDash val="solid"/>
          </a:ln>
        </p:spPr>
      </p:sp>
      <p:sp>
        <p:nvSpPr>
          <p:cNvPr id="9" name="commands">
            <a:extLst xmlns:a="http://schemas.openxmlformats.org/drawingml/2006/main">
              <a:ext uri="{FF2B5EF4-FFF2-40B4-BE49-F238E27FC236}">
                <a16:creationId xmlns:a16="http://schemas.microsoft.com/office/drawing/2014/main" id="{9E3F3B85-21F1-4785-B94A-290C8777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333500"/>
            <a:ext cx="39052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D8DEE9"/>
                </a:solidFill>
              </a:defRPr>
            </a:pPr>
            <a:r>
              <a:rPr sz="2025" b="1">
                <a:solidFill>
                  <a:srgbClr val="D8DEE9"/>
                </a:solidFill>
              </a:rPr>
              <a:t>$ make tangle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D8DEE9"/>
                </a:solidFill>
              </a:defRPr>
            </a:pPr>
            <a:r>
              <a:rPr sz="2025" b="1">
                <a:solidFill>
                  <a:srgbClr val="D8DEE9"/>
                </a:solidFill>
              </a:rPr>
              <a:t>$ make run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D8DEE9"/>
                </a:solidFill>
              </a:defRPr>
            </a:pPr>
            <a:r>
              <a:rPr sz="2025" b="1">
                <a:solidFill>
                  <a:srgbClr val="D8DEE9"/>
                </a:solidFill>
              </a:rPr>
              <a:t>$ make notebooks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D8DEE9"/>
                </a:solidFill>
              </a:defRPr>
            </a:pPr>
            <a:r>
              <a:rPr sz="2025" b="1">
                <a:solidFill>
                  <a:srgbClr val="D8DEE9"/>
                </a:solidFill>
              </a:rPr>
              <a:t>$ make docs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D8DEE9"/>
                </a:solidFill>
              </a:defRPr>
            </a:pPr>
            <a:r>
              <a:rPr sz="2025" b="1">
                <a:solidFill>
                  <a:srgbClr val="D8DEE9"/>
                </a:solidFill>
              </a:rPr>
              <a:t>$ make test</a:t>
            </a:r>
          </a:p>
        </p:txBody>
      </p:sp>
      <p:sp>
        <p:nvSpPr>
          <p:cNvPr id="10" name="outputs">
            <a:extLst xmlns:a="http://schemas.openxmlformats.org/drawingml/2006/main">
              <a:ext uri="{FF2B5EF4-FFF2-40B4-BE49-F238E27FC236}">
                <a16:creationId xmlns:a16="http://schemas.microsoft.com/office/drawing/2014/main" id="{5A56D3BE-9E70-48FC-9478-9913FE81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66800"/>
            <a:ext cx="4476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Семь литературных исходников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чистый Julia-код;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семь выполненных IPYNB;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QMD и HTML-документация;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25 рисунков и анимация;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CSV временных рядов;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отчёт DOCX и PDF;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презентация HTML и PPTX.</a:t>
            </a:r>
          </a:p>
        </p:txBody>
      </p:sp>
    </p:spTree>
    <p:extLst>
      <p:ext uri="{BB962C8B-B14F-4D97-AF65-F5344CB8AC3E}">
        <p14:creationId xmlns:p14="http://schemas.microsoft.com/office/powerpoint/2010/main" val="155256769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de975e5a74182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Обратная связь меняет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состав популяции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При постоянной светимости сохраняются оба вида.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Рост светимости приводит к исчезновению чёрных растений.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Возраст и начальный состав меняют численные траектории.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Семь сценариев покрывают главу 3 практикума.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Выводы ограничены выбранной сеткой и одним seed.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3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2026-08-31T12:59:55.9050000Z</dcterms:created>
  <dcterms:modified xsi:type="dcterms:W3CDTF">2026-08-31T12:59:55.9050000Z</dcterms:modified>
</coreProperties>
</file>