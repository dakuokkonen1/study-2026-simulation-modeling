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8acac593c3413e" /><Relationship Type="http://schemas.openxmlformats.org/officeDocument/2006/relationships/extended-properties" Target="/docProps/app.xml" Id="R72512aeeb2084f10" /><Relationship Type="http://schemas.openxmlformats.org/officeDocument/2006/relationships/officeDocument" Target="/ppt/presentation.xml" Id="R70c8a2770edd42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da3211a5f46eb"/>
  </p:sldMasterIdLst>
  <p:notesMasterIdLst>
    <p:notesMasterId xmlns:r="http://schemas.openxmlformats.org/officeDocument/2006/relationships" r:id="Ra5ad523b67204939"/>
  </p:notesMasterIdLst>
  <p:sldIdLst>
    <p:sldId xmlns:r="http://schemas.openxmlformats.org/officeDocument/2006/relationships" id="256" r:id="R1f7e40ab4b864697"/>
    <p:sldId xmlns:r="http://schemas.openxmlformats.org/officeDocument/2006/relationships" id="257" r:id="R668e3d58982a4b35"/>
    <p:sldId xmlns:r="http://schemas.openxmlformats.org/officeDocument/2006/relationships" id="258" r:id="R445ffbfdab6541bc"/>
    <p:sldId xmlns:r="http://schemas.openxmlformats.org/officeDocument/2006/relationships" id="259" r:id="R0fac2ce8884047e2"/>
    <p:sldId xmlns:r="http://schemas.openxmlformats.org/officeDocument/2006/relationships" id="260" r:id="R5e4749dccb2a458e"/>
    <p:sldId xmlns:r="http://schemas.openxmlformats.org/officeDocument/2006/relationships" id="261" r:id="R3a7a10a328cd4d04"/>
    <p:sldId xmlns:r="http://schemas.openxmlformats.org/officeDocument/2006/relationships" id="262" r:id="R17e56ba90118499c"/>
    <p:sldId xmlns:r="http://schemas.openxmlformats.org/officeDocument/2006/relationships" id="263" r:id="R66d805e978a14bf5"/>
    <p:sldId xmlns:r="http://schemas.openxmlformats.org/officeDocument/2006/relationships" id="264" r:id="R0924cf9cfa7a4383"/>
    <p:sldId xmlns:r="http://schemas.openxmlformats.org/officeDocument/2006/relationships" id="265" r:id="R87f1cfb264464ee3"/>
    <p:sldId xmlns:r="http://schemas.openxmlformats.org/officeDocument/2006/relationships" id="266" r:id="Rbe4c346ce7ab4426"/>
    <p:sldId xmlns:r="http://schemas.openxmlformats.org/officeDocument/2006/relationships" id="267" r:id="R6da3d8d3188b4c03"/>
    <p:sldId xmlns:r="http://schemas.openxmlformats.org/officeDocument/2006/relationships" id="268" r:id="R159e42a9d9c4455d"/>
    <p:sldId xmlns:r="http://schemas.openxmlformats.org/officeDocument/2006/relationships" id="269" r:id="R7e9a0d94d5594245"/>
    <p:sldId xmlns:r="http://schemas.openxmlformats.org/officeDocument/2006/relationships" id="270" r:id="Rd3139161427b41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dd770c69bc4156" /><Relationship Type="http://schemas.openxmlformats.org/officeDocument/2006/relationships/slideMaster" Target="/ppt/slideMasters/slideMaster1.xml" Id="R2d1da3211a5f46eb" /><Relationship Type="http://schemas.openxmlformats.org/officeDocument/2006/relationships/notesMaster" Target="/ppt/notesMasters/notesMaster1.xml" Id="Ra5ad523b67204939" /><Relationship Type="http://schemas.openxmlformats.org/officeDocument/2006/relationships/presProps" Target="/ppt/presProps.xml" Id="Rb84196066e7341d3" /><Relationship Type="http://schemas.openxmlformats.org/officeDocument/2006/relationships/tableStyles" Target="/ppt/tableStyles.xml" Id="R61ac249e542e47e1" /><Relationship Type="http://schemas.openxmlformats.org/officeDocument/2006/relationships/slide" Target="/ppt/slides/slide1.xml" Id="R1f7e40ab4b864697" /><Relationship Type="http://schemas.openxmlformats.org/officeDocument/2006/relationships/slide" Target="/ppt/slides/slide2.xml" Id="R668e3d58982a4b35" /><Relationship Type="http://schemas.openxmlformats.org/officeDocument/2006/relationships/slide" Target="/ppt/slides/slide3.xml" Id="R445ffbfdab6541bc" /><Relationship Type="http://schemas.openxmlformats.org/officeDocument/2006/relationships/slide" Target="/ppt/slides/slide4.xml" Id="R0fac2ce8884047e2" /><Relationship Type="http://schemas.openxmlformats.org/officeDocument/2006/relationships/slide" Target="/ppt/slides/slide5.xml" Id="R5e4749dccb2a458e" /><Relationship Type="http://schemas.openxmlformats.org/officeDocument/2006/relationships/slide" Target="/ppt/slides/slide6.xml" Id="R3a7a10a328cd4d04" /><Relationship Type="http://schemas.openxmlformats.org/officeDocument/2006/relationships/slide" Target="/ppt/slides/slide7.xml" Id="R17e56ba90118499c" /><Relationship Type="http://schemas.openxmlformats.org/officeDocument/2006/relationships/slide" Target="/ppt/slides/slide8.xml" Id="R66d805e978a14bf5" /><Relationship Type="http://schemas.openxmlformats.org/officeDocument/2006/relationships/slide" Target="/ppt/slides/slide9.xml" Id="R0924cf9cfa7a4383" /><Relationship Type="http://schemas.openxmlformats.org/officeDocument/2006/relationships/slide" Target="/ppt/slides/slide10.xml" Id="R87f1cfb264464ee3" /><Relationship Type="http://schemas.openxmlformats.org/officeDocument/2006/relationships/slide" Target="/ppt/slides/slide11.xml" Id="Rbe4c346ce7ab4426" /><Relationship Type="http://schemas.openxmlformats.org/officeDocument/2006/relationships/slide" Target="/ppt/slides/slide12.xml" Id="R6da3d8d3188b4c03" /><Relationship Type="http://schemas.openxmlformats.org/officeDocument/2006/relationships/slide" Target="/ppt/slides/slide13.xml" Id="R159e42a9d9c4455d" /><Relationship Type="http://schemas.openxmlformats.org/officeDocument/2006/relationships/slide" Target="/ppt/slides/slide14.xml" Id="R7e9a0d94d5594245" /><Relationship Type="http://schemas.openxmlformats.org/officeDocument/2006/relationships/slide" Target="/ppt/slides/slide15.xml" Id="Rd3139161427b41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effd627e7a4c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da1f2c22ba4057" /><Relationship Type="http://schemas.openxmlformats.org/officeDocument/2006/relationships/notesMaster" Target="/ppt/notesMasters/notesMaster1.xml" Id="R2805aa48698a42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5380332a14f4a" /><Relationship Type="http://schemas.openxmlformats.org/officeDocument/2006/relationships/notesMaster" Target="/ppt/notesMasters/notesMaster1.xml" Id="Rd9cf7457e4b4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1eb074801746bf" /><Relationship Type="http://schemas.openxmlformats.org/officeDocument/2006/relationships/notesMaster" Target="/ppt/notesMasters/notesMaster1.xml" Id="R3426dbea64f149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fe753c2a19487e" /><Relationship Type="http://schemas.openxmlformats.org/officeDocument/2006/relationships/notesMaster" Target="/ppt/notesMasters/notesMaster1.xml" Id="Re5ffab2bdd9441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dd32d185c54790" /><Relationship Type="http://schemas.openxmlformats.org/officeDocument/2006/relationships/notesMaster" Target="/ppt/notesMasters/notesMaster1.xml" Id="R29ad984524624b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e53b5274c54284" /><Relationship Type="http://schemas.openxmlformats.org/officeDocument/2006/relationships/notesMaster" Target="/ppt/notesMasters/notesMaster1.xml" Id="R56ba69bb0a6c4b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5be9b30234211" /><Relationship Type="http://schemas.openxmlformats.org/officeDocument/2006/relationships/notesMaster" Target="/ppt/notesMasters/notesMaster1.xml" Id="Reb7ca69382f446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3390c59168496f" /><Relationship Type="http://schemas.openxmlformats.org/officeDocument/2006/relationships/notesMaster" Target="/ppt/notesMasters/notesMaster1.xml" Id="R28885d2d151f4e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78d5362acf4ff9" /><Relationship Type="http://schemas.openxmlformats.org/officeDocument/2006/relationships/notesMaster" Target="/ppt/notesMasters/notesMaster1.xml" Id="R89f68d826d9c49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c892829fed44fe" /><Relationship Type="http://schemas.openxmlformats.org/officeDocument/2006/relationships/notesMaster" Target="/ppt/notesMasters/notesMaster1.xml" Id="Rbdc340a1b2e14b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dc4d9e95544119" /><Relationship Type="http://schemas.openxmlformats.org/officeDocument/2006/relationships/notesMaster" Target="/ppt/notesMasters/notesMaster1.xml" Id="Rbfcd251d863248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328612d1704a6a" /><Relationship Type="http://schemas.openxmlformats.org/officeDocument/2006/relationships/notesMaster" Target="/ppt/notesMasters/notesMaster1.xml" Id="Rafbe2bdedbd04d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373dc1878041e8" /><Relationship Type="http://schemas.openxmlformats.org/officeDocument/2006/relationships/notesMaster" Target="/ppt/notesMasters/notesMaster1.xml" Id="Re6a47523f21249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a10e5687384291" /><Relationship Type="http://schemas.openxmlformats.org/officeDocument/2006/relationships/notesMaster" Target="/ppt/notesMasters/notesMaster1.xml" Id="R9b8cb7d41c4341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6a1061bdf6415b" /><Relationship Type="http://schemas.openxmlformats.org/officeDocument/2006/relationships/notesMaster" Target="/ppt/notesMasters/notesMaster1.xml" Id="Rde4c037294e149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labs/lab03/image/01-terminal.png.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labs/lab03/image/02-terminal.png.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labs/lab03/image/01-plot.png.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labs/lab03/image/03-plot.png.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labs/lab03/image/02-plot.png.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labs/lab03/image/04-plot.png, 05-plot.png.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labs/lab03/image/04-plot.png.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labs/lab03/image/01-jupyter.png, 02-jupyter.png.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labs/lab03/image/03-terminal.png.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Локальные исходники: labs/lab03/project/src, scripts, data и test/runtests.jl.</a:t>
            </a:r>
          </a:p>
          <a:p xmlns:a="http://schemas.openxmlformats.org/drawingml/2006/main">
            <a:r>
              <a:t>Иллюстрации: labs/lab03/image/.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Средние серии: 30 прогонов, горизонт 1500. Базовый опыт: горизонт 1000, seed 202603. Доверительные интервалы не оценивались.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91100a3bf4d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b51d1599924f94" /><Relationship Type="http://schemas.openxmlformats.org/officeDocument/2006/relationships/slideLayout" Target="/ppt/slideLayouts/slideLayout1.xml" Id="R9bdbc31b262f48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dbc31b262f48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1f931025a410f" /><Relationship Type="http://schemas.openxmlformats.org/officeDocument/2006/relationships/image" Target="/ppt/media/image.png" Id="R501461387d9142b2" /><Relationship Type="http://schemas.openxmlformats.org/officeDocument/2006/relationships/notesSlide" Target="/ppt/notesSlides/notesSlide1.xml" Id="R98acc9274d6b4c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b23c0e6da4e3a" /><Relationship Type="http://schemas.openxmlformats.org/officeDocument/2006/relationships/image" Target="/ppt/media/image2.png" Id="Rd134555106a7434b" /><Relationship Type="http://schemas.openxmlformats.org/officeDocument/2006/relationships/notesSlide" Target="/ppt/notesSlides/notesSlide2.xml" Id="Rb4e5e16cbd924a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bb3c1c2094167" /><Relationship Type="http://schemas.openxmlformats.org/officeDocument/2006/relationships/image" Target="/ppt/media/image3.png" Id="R5c1c9fb4b4944cdd" /><Relationship Type="http://schemas.openxmlformats.org/officeDocument/2006/relationships/notesSlide" Target="/ppt/notesSlides/notesSlide3.xml" Id="Rc913f58c33874d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8086f1455407e" /><Relationship Type="http://schemas.openxmlformats.org/officeDocument/2006/relationships/image" Target="/ppt/media/image4.png" Id="R9fbe2de2d93e4f38" /><Relationship Type="http://schemas.openxmlformats.org/officeDocument/2006/relationships/notesSlide" Target="/ppt/notesSlides/notesSlide4.xml" Id="R32ced513bb35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b7281822a4f84" /><Relationship Type="http://schemas.openxmlformats.org/officeDocument/2006/relationships/image" Target="/ppt/media/image5.png" Id="Re46f3dfeb2164b7a" /><Relationship Type="http://schemas.openxmlformats.org/officeDocument/2006/relationships/image" Target="/ppt/media/image6.png" Id="R70c909e8aa9446c0" /><Relationship Type="http://schemas.openxmlformats.org/officeDocument/2006/relationships/notesSlide" Target="/ppt/notesSlides/notesSlide5.xml" Id="R3631c4b428f049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36eb0681f4dbf" /><Relationship Type="http://schemas.openxmlformats.org/officeDocument/2006/relationships/image" Target="/ppt/media/image7.png" Id="R30ebaf4961e84225" /><Relationship Type="http://schemas.openxmlformats.org/officeDocument/2006/relationships/image" Target="/ppt/media/image8.png" Id="R8cd080a71aaf4ef0" /><Relationship Type="http://schemas.openxmlformats.org/officeDocument/2006/relationships/notesSlide" Target="/ppt/notesSlides/notesSlide6.xml" Id="R8946ac3ec7b843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f773f63ad4836" /><Relationship Type="http://schemas.openxmlformats.org/officeDocument/2006/relationships/image" Target="/ppt/media/image9.png" Id="Rf6e7dd8e322a4d2f" /><Relationship Type="http://schemas.openxmlformats.org/officeDocument/2006/relationships/image" Target="/ppt/media/image10.png" Id="R18b8417ee6a84ac0" /><Relationship Type="http://schemas.openxmlformats.org/officeDocument/2006/relationships/notesSlide" Target="/ppt/notesSlides/notesSlide7.xml" Id="R5f1c8329286347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98ba07c184b51" /><Relationship Type="http://schemas.openxmlformats.org/officeDocument/2006/relationships/image" Target="/ppt/media/image11.png" Id="Rb3ca8391570d4ea2" /><Relationship Type="http://schemas.openxmlformats.org/officeDocument/2006/relationships/image" Target="/ppt/media/image12.png" Id="Rfb58260b9f2c4214" /><Relationship Type="http://schemas.openxmlformats.org/officeDocument/2006/relationships/notesSlide" Target="/ppt/notesSlides/notesSlide8.xml" Id="R62fea54edbda4b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b5c73931944a1" /><Relationship Type="http://schemas.openxmlformats.org/officeDocument/2006/relationships/image" Target="/ppt/media/image13.png" Id="Rc1ac562470f0419b" /><Relationship Type="http://schemas.openxmlformats.org/officeDocument/2006/relationships/image" Target="/ppt/media/image14.png" Id="R2776390ecc1e4833" /><Relationship Type="http://schemas.openxmlformats.org/officeDocument/2006/relationships/notesSlide" Target="/ppt/notesSlides/notesSlide9.xml" Id="Rfd2ab894a7714a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364e860f74bcb" /><Relationship Type="http://schemas.openxmlformats.org/officeDocument/2006/relationships/image" Target="/ppt/media/image15.png" Id="Rc44ad38ec9ff498a" /><Relationship Type="http://schemas.openxmlformats.org/officeDocument/2006/relationships/image" Target="/ppt/media/image16.png" Id="Rbca0660eba4746cf" /><Relationship Type="http://schemas.openxmlformats.org/officeDocument/2006/relationships/image" Target="/ppt/media/image17.png" Id="R0ccb6c6fcf284b53" /><Relationship Type="http://schemas.openxmlformats.org/officeDocument/2006/relationships/notesSlide" Target="/ppt/notesSlides/notesSlide10.xml" Id="R0c534df4058d41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38a5a9e1749dc" /><Relationship Type="http://schemas.openxmlformats.org/officeDocument/2006/relationships/image" Target="/ppt/media/image18.png" Id="Rc40f0be5a2c04676" /><Relationship Type="http://schemas.openxmlformats.org/officeDocument/2006/relationships/image" Target="/ppt/media/image19.png" Id="R1444af1c9ab94cb2" /><Relationship Type="http://schemas.openxmlformats.org/officeDocument/2006/relationships/notesSlide" Target="/ppt/notesSlides/notesSlide11.xml" Id="R5b05331ea11740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a2aa677524d36" /><Relationship Type="http://schemas.openxmlformats.org/officeDocument/2006/relationships/image" Target="/ppt/media/image20.png" Id="Rfdc00f9d323f4dc8" /><Relationship Type="http://schemas.openxmlformats.org/officeDocument/2006/relationships/image" Target="/ppt/media/image.jpeg" Id="Rf3fdc1d4b08541ea" /><Relationship Type="http://schemas.openxmlformats.org/officeDocument/2006/relationships/image" Target="/ppt/media/image2.jpeg" Id="Rf77ea66aac7d4c41" /><Relationship Type="http://schemas.openxmlformats.org/officeDocument/2006/relationships/notesSlide" Target="/ppt/notesSlides/notesSlide12.xml" Id="R0f04c426358942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a74020fe04045" /><Relationship Type="http://schemas.openxmlformats.org/officeDocument/2006/relationships/image" Target="/ppt/media/image21.png" Id="Ra3e7a58168e6487d" /><Relationship Type="http://schemas.openxmlformats.org/officeDocument/2006/relationships/image" Target="/ppt/media/image22.png" Id="Rc9ba074a9c2c4d2d" /><Relationship Type="http://schemas.openxmlformats.org/officeDocument/2006/relationships/notesSlide" Target="/ppt/notesSlides/notesSlide13.xml" Id="R1fb6ec4ae2204c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592db513342c0" /><Relationship Type="http://schemas.openxmlformats.org/officeDocument/2006/relationships/image" Target="/ppt/media/image23.png" Id="R9e55e0e042a84df7" /><Relationship Type="http://schemas.openxmlformats.org/officeDocument/2006/relationships/notesSlide" Target="/ppt/notesSlides/notesSlide14.xml" Id="R0822e02f61a74a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12b4838444a36" /><Relationship Type="http://schemas.openxmlformats.org/officeDocument/2006/relationships/image" Target="/ppt/media/image24.png" Id="Ra24b3c91a8d3448c" /><Relationship Type="http://schemas.openxmlformats.org/officeDocument/2006/relationships/notesSlide" Target="/ppt/notesSlides/notesSlide15.xml" Id="R1172f3ebafe744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3396A765-E720-4140-8F2A-9B2252C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F0AA6C92-D1C5-4BD3-9709-9C06392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461387d9142b2"/>
          <a:stretch xmlns:a="http://schemas.openxmlformats.org/drawingml/2006/main"/>
        </p:blipFill>
        <p:spPr>
          <a:xfrm xmlns:a="http://schemas.openxmlformats.org/drawingml/2006/main">
            <a:off x="457200" y="560369"/>
            <a:ext cx="1104900" cy="936661"/>
          </a:xfrm>
          <a:prstGeom xmlns:a="http://schemas.openxmlformats.org/drawingml/2006/main" prst="rect">
            <a:avLst/>
          </a:prstGeom>
        </p:spPr>
      </p:pic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5F81805C-F6B2-4923-AA28-EDF4ED9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144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EA5"/>
                </a:solidFill>
              </a:defRPr>
            </a:pPr>
            <a:r>
              <a:rPr sz="1350" b="1">
                <a:solidFill>
                  <a:srgbClr val="176EA5"/>
                </a:solidFill>
              </a:rPr>
              <a:t>ИМИТАЦИОННОЕ МОДЕЛИРОВАНИЕ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45F79F-CBEE-46C7-8579-E321FAC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621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Лабораторная работа № 3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5432B33-C963-45BE-9D52-7A35D6A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Дискретно-событийная модель M/M/1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DF11CD1-D867-493C-A776-41C0A6B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thor">
            <a:extLst xmlns:a="http://schemas.openxmlformats.org/drawingml/2006/main">
              <a:ext uri="{FF2B5EF4-FFF2-40B4-BE49-F238E27FC236}">
                <a16:creationId xmlns:a16="http://schemas.microsoft.com/office/drawing/2014/main" id="{C9EE01F2-1E06-4D5F-B59A-782D642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Куокконен Дарина Андреевна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НФИбд-01-23</a:t>
            </a:r>
          </a:p>
        </p:txBody>
      </p:sp>
      <p:sp>
        <p:nvSpPr>
          <p:cNvPr id="9" name="university">
            <a:extLst xmlns:a="http://schemas.openxmlformats.org/drawingml/2006/main">
              <a:ext uri="{FF2B5EF4-FFF2-40B4-BE49-F238E27FC236}">
                <a16:creationId xmlns:a16="http://schemas.microsoft.com/office/drawing/2014/main" id="{1E145EEC-F5DF-4FF7-9082-F8E8222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Российский университет дружбы народов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имени Патриса Лумумбы · Москва · 2026</a:t>
            </a:r>
          </a:p>
        </p:txBody>
      </p:sp>
    </p:spTree>
    <p:extLst>
      <p:ext uri="{BB962C8B-B14F-4D97-AF65-F5344CB8AC3E}">
        <p14:creationId xmlns:p14="http://schemas.microsoft.com/office/powerpoint/2010/main" val="189112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Событийная модель проверяется по формулам M/M/1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4555106a7434b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2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Цель — реализовать одноканальную очередь и сопоставить имитационные оценки со стационарной теорией.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задать потоки прихода и обслуживания;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реализовать календарь событий и дисциплину FIFO;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измерить загрузку, длины и времена ожидания;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исследовать семь уровней нагрузки;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сохранить таблицы, графики и блокноты;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проверить формулы и статистики тестами.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3EEA6B23-AFB4-4427-A475-AEF5DDA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0A9777-4FA0-429D-8228-411BC96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A3BF7-966F-458F-B59D-CE4CCF9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Стационарный режим существует только при ρ &lt; 1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C91618-2B9A-40EC-9AA7-257BA9B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c9fb4b4944cdd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E11C7-4C12-40DF-87E8-6272C63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091B3-20E5-4A17-8498-D902EAD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3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B1E9D04E-FA55-4CFF-8F43-F47340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sir-formulas">
            <a:extLst xmlns:a="http://schemas.openxmlformats.org/drawingml/2006/main">
              <a:ext uri="{FF2B5EF4-FFF2-40B4-BE49-F238E27FC236}">
                <a16:creationId xmlns:a16="http://schemas.microsoft.com/office/drawing/2014/main" id="{E62C42B5-3244-41DB-8CEC-D1C06B6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333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ρ = λ/μ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L = ρ/(1 − ρ)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Lq = ρ²/(1 − ρ)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W = 1/(μ − λ)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Wq = ρ/(μ − λ)</a:t>
            </a:r>
          </a:p>
        </p:txBody>
      </p:sp>
      <p:sp>
        <p:nvSpPr>
          <p:cNvPr id="10" name="sir-meaning">
            <a:extLst xmlns:a="http://schemas.openxmlformats.org/drawingml/2006/main">
              <a:ext uri="{FF2B5EF4-FFF2-40B4-BE49-F238E27FC236}">
                <a16:creationId xmlns:a16="http://schemas.microsoft.com/office/drawing/2014/main" id="{41D19FF8-7068-4D04-B519-53E8161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Приход — пуассоновский.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Время обслуживания — экспоненциальное.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Один прибор, очередь FIFO, начальное состояние пустое.</a:t>
            </a:r>
          </a:p>
        </p:txBody>
      </p:sp>
      <p:sp>
        <p:nvSpPr>
          <p:cNvPr id="11" name="r0-bg">
            <a:extLst xmlns:a="http://schemas.openxmlformats.org/drawingml/2006/main">
              <a:ext uri="{FF2B5EF4-FFF2-40B4-BE49-F238E27FC236}">
                <a16:creationId xmlns:a16="http://schemas.microsoft.com/office/drawing/2014/main" id="{DDA48782-AECC-4910-B9D2-3F29955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r0-value">
            <a:extLst xmlns:a="http://schemas.openxmlformats.org/drawingml/2006/main">
              <a:ext uri="{FF2B5EF4-FFF2-40B4-BE49-F238E27FC236}">
                <a16:creationId xmlns:a16="http://schemas.microsoft.com/office/drawing/2014/main" id="{B18707AA-ED3C-4619-A9B6-DFF017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λ = 30</a:t>
            </a:r>
          </a:p>
        </p:txBody>
      </p:sp>
      <p:sp>
        <p:nvSpPr>
          <p:cNvPr id="13" name="r0-caption">
            <a:extLst xmlns:a="http://schemas.openxmlformats.org/drawingml/2006/main">
              <a:ext uri="{FF2B5EF4-FFF2-40B4-BE49-F238E27FC236}">
                <a16:creationId xmlns:a16="http://schemas.microsoft.com/office/drawing/2014/main" id="{A58DA480-4E37-4926-931E-A697D70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интенсивность прихода</a:t>
            </a:r>
          </a:p>
        </p:txBody>
      </p:sp>
      <p:sp>
        <p:nvSpPr>
          <p:cNvPr id="14" name="peak-bg">
            <a:extLst xmlns:a="http://schemas.openxmlformats.org/drawingml/2006/main">
              <a:ext uri="{FF2B5EF4-FFF2-40B4-BE49-F238E27FC236}">
                <a16:creationId xmlns:a16="http://schemas.microsoft.com/office/drawing/2014/main" id="{057DFCE5-9E6A-4EC5-AF80-3D23DC9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peak-value">
            <a:extLst xmlns:a="http://schemas.openxmlformats.org/drawingml/2006/main">
              <a:ext uri="{FF2B5EF4-FFF2-40B4-BE49-F238E27FC236}">
                <a16:creationId xmlns:a16="http://schemas.microsoft.com/office/drawing/2014/main" id="{25877720-9526-4D97-B9EA-1C32D0D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μ = 33</a:t>
            </a:r>
          </a:p>
        </p:txBody>
      </p:sp>
      <p:sp>
        <p:nvSpPr>
          <p:cNvPr id="16" name="peak-caption">
            <a:extLst xmlns:a="http://schemas.openxmlformats.org/drawingml/2006/main">
              <a:ext uri="{FF2B5EF4-FFF2-40B4-BE49-F238E27FC236}">
                <a16:creationId xmlns:a16="http://schemas.microsoft.com/office/drawing/2014/main" id="{7005C71B-CBA1-467E-AD9C-32FB371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обслуживание</a:t>
            </a:r>
          </a:p>
        </p:txBody>
      </p:sp>
    </p:spTree>
    <p:extLst>
      <p:ext uri="{BB962C8B-B14F-4D97-AF65-F5344CB8AC3E}">
        <p14:creationId xmlns:p14="http://schemas.microsoft.com/office/powerpoint/2010/main" val="1584789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AE851876-E4F3-42CF-B13E-732A407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77E9EA1-240A-4A9D-86B1-E823F2B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A880F-EB7A-4877-9F48-C43A30B7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Время перескакивает к ближайшему событию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CD5096-7B1C-4E38-99C6-492D662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e2de2d93e4f38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F236ABF-78D3-494B-BC1F-3BF65D25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704435-51D2-43C5-A95D-8BBA6679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4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A1154276-9ACC-4D1B-9A5B-D59D104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219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lv-formulas">
            <a:extLst xmlns:a="http://schemas.openxmlformats.org/drawingml/2006/main">
              <a:ext uri="{FF2B5EF4-FFF2-40B4-BE49-F238E27FC236}">
                <a16:creationId xmlns:a16="http://schemas.microsoft.com/office/drawing/2014/main" id="{ED5EE27F-E01E-4EF1-A773-EDE1C30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85875"/>
            <a:ext cx="464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t = min(tприход, tуход)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L ≈ Σ N(t)Δt / 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Lq ≈ Σ Q(t)Δt / 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ρ ≈ Σ 1[N(t)&gt;0]Δt / T</a:t>
            </a:r>
          </a:p>
        </p:txBody>
      </p:sp>
      <p:sp>
        <p:nvSpPr>
          <p:cNvPr id="10" name="lv-meaning">
            <a:extLst xmlns:a="http://schemas.openxmlformats.org/drawingml/2006/main">
              <a:ext uri="{FF2B5EF4-FFF2-40B4-BE49-F238E27FC236}">
                <a16:creationId xmlns:a16="http://schemas.microsoft.com/office/drawing/2014/main" id="{98E47E58-19B5-4074-9F5D-48CFF71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8112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Между событиями состояние постоянно.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До обновления очереди накапливаются площади.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Последний интервал до T учитывается отдельно.</a:t>
            </a:r>
          </a:p>
        </p:txBody>
      </p:sp>
      <p:sp>
        <p:nvSpPr>
          <p:cNvPr id="11" name="period-bg">
            <a:extLst xmlns:a="http://schemas.openxmlformats.org/drawingml/2006/main">
              <a:ext uri="{FF2B5EF4-FFF2-40B4-BE49-F238E27FC236}">
                <a16:creationId xmlns:a16="http://schemas.microsoft.com/office/drawing/2014/main" id="{0511A5E7-A74F-4703-ABCA-9BD9374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period-value">
            <a:extLst xmlns:a="http://schemas.openxmlformats.org/drawingml/2006/main">
              <a:ext uri="{FF2B5EF4-FFF2-40B4-BE49-F238E27FC236}">
                <a16:creationId xmlns:a16="http://schemas.microsoft.com/office/drawing/2014/main" id="{FDB99F33-5682-4C0B-8DB3-C5B8B0B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FIFO</a:t>
            </a:r>
          </a:p>
        </p:txBody>
      </p:sp>
      <p:sp>
        <p:nvSpPr>
          <p:cNvPr id="13" name="period-caption">
            <a:extLst xmlns:a="http://schemas.openxmlformats.org/drawingml/2006/main">
              <a:ext uri="{FF2B5EF4-FFF2-40B4-BE49-F238E27FC236}">
                <a16:creationId xmlns:a16="http://schemas.microsoft.com/office/drawing/2014/main" id="{BBEDD93C-B6F0-4B1F-8435-EB94DA0A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дисциплина очереди</a:t>
            </a:r>
          </a:p>
        </p:txBody>
      </p:sp>
      <p:sp>
        <p:nvSpPr>
          <p:cNvPr id="14" name="drift-bg">
            <a:extLst xmlns:a="http://schemas.openxmlformats.org/drawingml/2006/main">
              <a:ext uri="{FF2B5EF4-FFF2-40B4-BE49-F238E27FC236}">
                <a16:creationId xmlns:a16="http://schemas.microsoft.com/office/drawing/2014/main" id="{235B091A-44CB-4BDC-98CB-501D4314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drift-value">
            <a:extLst xmlns:a="http://schemas.openxmlformats.org/drawingml/2006/main">
              <a:ext uri="{FF2B5EF4-FFF2-40B4-BE49-F238E27FC236}">
                <a16:creationId xmlns:a16="http://schemas.microsoft.com/office/drawing/2014/main" id="{9BC52E5B-F448-4230-B5FE-9C7B673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6EA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6EA5"/>
                </a:solidFill>
                <a:latin typeface="Calibri"/>
                <a:ea typeface="Calibri"/>
                <a:cs typeface="Calibri"/>
              </a:rPr>
              <a:t>seed</a:t>
            </a:r>
          </a:p>
        </p:txBody>
      </p:sp>
      <p:sp>
        <p:nvSpPr>
          <p:cNvPr id="16" name="drift-caption">
            <a:extLst xmlns:a="http://schemas.openxmlformats.org/drawingml/2006/main">
              <a:ext uri="{FF2B5EF4-FFF2-40B4-BE49-F238E27FC236}">
                <a16:creationId xmlns:a16="http://schemas.microsoft.com/office/drawing/2014/main" id="{9F3E1B8F-C766-47FC-8FE0-8FCB35E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202603</a:t>
            </a:r>
          </a:p>
        </p:txBody>
      </p:sp>
    </p:spTree>
    <p:extLst>
      <p:ext uri="{BB962C8B-B14F-4D97-AF65-F5344CB8AC3E}">
        <p14:creationId xmlns:p14="http://schemas.microsoft.com/office/powerpoint/2010/main" val="235703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F6DA7DFC-D303-45C7-932C-2B94A3A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3BE153-F224-4FFB-A6F8-60B72D8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A92CE-6E00-4040-9EA3-57F7709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Окружение и структура сохранены по образцу № 1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AC0AB2-F232-4224-990D-03B69F9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f3dfeb2164b7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67D68B-5FBC-4A0B-927B-439ED04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6334E4-9415-4008-9646-364F276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909e8aa9446c0"/>
          <a:stretch xmlns:a="http://schemas.openxmlformats.org/drawingml/2006/main"/>
        </p:blipFill>
        <p:spPr>
          <a:xfrm xmlns:a="http://schemas.openxmlformats.org/drawingml/2006/main">
            <a:off x="552450" y="1267420"/>
            <a:ext cx="7143749" cy="4018359"/>
          </a:xfrm>
          <a:prstGeom xmlns:a="http://schemas.openxmlformats.org/drawingml/2006/main" prst="rect">
            <a:avLst/>
          </a:prstGeom>
        </p:spPr>
      </p:pic>
      <p:sp>
        <p:nvSpPr>
          <p:cNvPr id="9" name="pipeline">
            <a:extLst xmlns:a="http://schemas.openxmlformats.org/drawingml/2006/main">
              <a:ext uri="{FF2B5EF4-FFF2-40B4-BE49-F238E27FC236}">
                <a16:creationId xmlns:a16="http://schemas.microsoft.com/office/drawing/2014/main" id="{A132DAB6-9E24-4B67-8EEE-3D0F242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</a:defRPr>
            </a:pPr>
            <a:r>
              <a:rPr sz="1650" b="1">
                <a:solidFill>
                  <a:srgbClr val="0B4778"/>
                </a:solidFill>
              </a:rPr>
              <a:t>Literate.jl → Julia → Jupyter → Quarto → Git</a:t>
            </a:r>
          </a:p>
        </p:txBody>
      </p:sp>
      <p:sp>
        <p:nvSpPr>
          <p:cNvPr id="10" name="versions">
            <a:extLst xmlns:a="http://schemas.openxmlformats.org/drawingml/2006/main">
              <a:ext uri="{FF2B5EF4-FFF2-40B4-BE49-F238E27FC236}">
                <a16:creationId xmlns:a16="http://schemas.microsoft.com/office/drawing/2014/main" id="{A0225854-4DE9-4CAF-B50B-6816A35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1051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Julia 1.11.9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DrWatson.jl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CSV.jl и DataFrames.jl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Plots.jl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Literate.jl и IJulia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Версии — в Manifest.toml.</a:t>
            </a:r>
          </a:p>
        </p:txBody>
      </p:sp>
    </p:spTree>
    <p:extLst>
      <p:ext uri="{BB962C8B-B14F-4D97-AF65-F5344CB8AC3E}">
        <p14:creationId xmlns:p14="http://schemas.microsoft.com/office/powerpoint/2010/main" val="1221484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949485B2-FD7F-457C-A990-0BB8677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7C26137-CE0A-4B86-96E0-EBB94362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BD5031-7004-4AB6-8C31-931DE09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Формулы и симуляция находятся в общем модуле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40A8A3C-B0DD-46BD-9E70-45B7F4C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baf4961e84225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2F3A184-AB98-438B-87C3-A6BD103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EAD69D-9D4F-4807-ADC8-EF8BFF3C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080a71aaf4ef0"/>
          <a:stretch xmlns:a="http://schemas.openxmlformats.org/drawingml/2006/main"/>
        </p:blipFill>
        <p:spPr>
          <a:xfrm xmlns:a="http://schemas.openxmlformats.org/drawingml/2006/main">
            <a:off x="533400" y="1231106"/>
            <a:ext cx="7543800" cy="4243388"/>
          </a:xfrm>
          <a:prstGeom xmlns:a="http://schemas.openxmlformats.org/drawingml/2006/main" prst="rect">
            <a:avLst/>
          </a:prstGeom>
        </p:spPr>
      </p:pic>
      <p:sp>
        <p:nvSpPr>
          <p:cNvPr id="9" name="module-list">
            <a:extLst xmlns:a="http://schemas.openxmlformats.org/drawingml/2006/main">
              <a:ext uri="{FF2B5EF4-FFF2-40B4-BE49-F238E27FC236}">
                <a16:creationId xmlns:a16="http://schemas.microsoft.com/office/drawing/2014/main" id="{BCDC27FB-957B-4F11-B9CA-9579244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81100"/>
            <a:ext cx="304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QueueingModels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MM1Result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формулы M/M/1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simulate_mm1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Два сценария и тесты обращаются к одному модулю.</a:t>
            </a:r>
          </a:p>
        </p:txBody>
      </p:sp>
    </p:spTree>
    <p:extLst>
      <p:ext uri="{BB962C8B-B14F-4D97-AF65-F5344CB8AC3E}">
        <p14:creationId xmlns:p14="http://schemas.microsoft.com/office/powerpoint/2010/main" val="298160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Базовый прогон: 29 825 заявок без потерь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7dd8e322a4d2f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8417ee6a84ac0"/>
          <a:stretch xmlns:a="http://schemas.openxmlformats.org/drawingml/2006/main"/>
        </p:blipFill>
        <p:spPr>
          <a:xfrm xmlns:a="http://schemas.openxmlformats.org/drawingml/2006/main">
            <a:off x="495300" y="1105853"/>
            <a:ext cx="7524750" cy="4665345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29 825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поступило и обслужено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1000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горизонт модели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0,9146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измеренная загрузка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Теоретическая загрузка — 0,9091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Ошибка базовых оценок не превышает 5,29%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a8391570d4ea2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8260b9f2c4214"/>
          <a:stretch xmlns:a="http://schemas.openxmlformats.org/drawingml/2006/main"/>
        </p:blipFill>
        <p:spPr>
          <a:xfrm xmlns:a="http://schemas.openxmlformats.org/drawingml/2006/main">
            <a:off x="476250" y="1106329"/>
            <a:ext cx="7477125" cy="4635818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Теория → модель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L: 10,00 → 9,52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Lq: 9,09 → 8,61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W: 0,333 → 0,319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Wq: 0,303 → 0,289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Один конечный случайный прогон даёт приближённые оценки.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97E662BC-85D8-46EB-A645-0207A7B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CACF40-E972-4C5C-9D82-E920C43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0F080-7270-4A74-97C7-3BCD4C0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У времени ожидания выражен правый хвост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DCE7D4-1781-4F89-BA7A-98A6C86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c562470f0419b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81C67C-2B86-4F50-BF31-D7FC4B3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A6D7F7-B636-4BA1-A9D4-58AD51F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6390ecc1e4833"/>
          <a:stretch xmlns:a="http://schemas.openxmlformats.org/drawingml/2006/main"/>
        </p:blipFill>
        <p:spPr>
          <a:xfrm xmlns:a="http://schemas.openxmlformats.org/drawingml/2006/main">
            <a:off x="457200" y="1062228"/>
            <a:ext cx="7696200" cy="4771644"/>
          </a:xfrm>
          <a:prstGeom xmlns:a="http://schemas.openxmlformats.org/drawingml/2006/main" prst="rect">
            <a:avLst/>
          </a:prstGeom>
        </p:spPr>
      </p:pic>
      <p:sp>
        <p:nvSpPr>
          <p:cNvPr id="9" name="lv-metrics">
            <a:extLst xmlns:a="http://schemas.openxmlformats.org/drawingml/2006/main">
              <a:ext uri="{FF2B5EF4-FFF2-40B4-BE49-F238E27FC236}">
                <a16:creationId xmlns:a16="http://schemas.microsoft.com/office/drawing/2014/main" id="{8F200868-6BF2-4C9D-9209-E1DB340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47800"/>
            <a:ext cx="2609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Среднее Wq: 0,2887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Теория Wq: 0,3030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Ошибка: 4,73%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Выборка: 29 825 заявок</a:t>
            </a:r>
          </a:p>
        </p:txBody>
      </p:sp>
      <p:sp>
        <p:nvSpPr>
          <p:cNvPr id="10" name="lv-takeaway">
            <a:extLst xmlns:a="http://schemas.openxmlformats.org/drawingml/2006/main">
              <a:ext uri="{FF2B5EF4-FFF2-40B4-BE49-F238E27FC236}">
                <a16:creationId xmlns:a16="http://schemas.microsoft.com/office/drawing/2014/main" id="{9DB94CF0-4DC2-4C75-A4FE-5109703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Ожидания усредняются по обслуженным заявкам; очередь — по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657116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3E922C0C-ABB8-4B25-8B75-A2281600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EE8CE78-6CCA-4896-BD8F-45BAF94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2500AA-CE4D-4C73-B451-CD3F244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Приближение к насыщению резко увеличивает задержку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E879AF2-EE9B-4B99-8FB6-38FBBBE2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d38ec9ff498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40E70F6-15AE-4FE5-833C-900EFC8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A4FA70-3A89-465E-95C3-6070F9D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0660eba4746cf"/>
          <a:stretch xmlns:a="http://schemas.openxmlformats.org/drawingml/2006/main"/>
        </p:blipFill>
        <p:spPr>
          <a:xfrm xmlns:a="http://schemas.openxmlformats.org/drawingml/2006/main">
            <a:off x="495300" y="1548194"/>
            <a:ext cx="5391150" cy="3342513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b6c6fcf284b53"/>
          <a:stretch xmlns:a="http://schemas.openxmlformats.org/drawingml/2006/main"/>
        </p:blipFill>
        <p:spPr>
          <a:xfrm xmlns:a="http://schemas.openxmlformats.org/drawingml/2006/main">
            <a:off x="6286500" y="1548194"/>
            <a:ext cx="5391150" cy="3342513"/>
          </a:xfrm>
          <a:prstGeom xmlns:a="http://schemas.openxmlformats.org/drawingml/2006/main" prst="rect">
            <a:avLst/>
          </a:prstGeom>
        </p:spPr>
      </p:pic>
      <p:sp>
        <p:nvSpPr>
          <p:cNvPr id="10" name="phase-caption">
            <a:extLst xmlns:a="http://schemas.openxmlformats.org/drawingml/2006/main">
              <a:ext uri="{FF2B5EF4-FFF2-40B4-BE49-F238E27FC236}">
                <a16:creationId xmlns:a16="http://schemas.microsoft.com/office/drawing/2014/main" id="{2D71CC65-DF69-40A8-BF29-AE487CD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Средняя длина очереди Lq</a:t>
            </a:r>
          </a:p>
        </p:txBody>
      </p:sp>
      <p:sp>
        <p:nvSpPr>
          <p:cNvPr id="11" name="inv-caption">
            <a:extLst xmlns:a="http://schemas.openxmlformats.org/drawingml/2006/main">
              <a:ext uri="{FF2B5EF4-FFF2-40B4-BE49-F238E27FC236}">
                <a16:creationId xmlns:a16="http://schemas.microsoft.com/office/drawing/2014/main" id="{D6659F4D-F984-4216-9789-5FB1AF7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Среднее время ожидания Wq</a:t>
            </a:r>
          </a:p>
        </p:txBody>
      </p:sp>
    </p:spTree>
    <p:extLst>
      <p:ext uri="{BB962C8B-B14F-4D97-AF65-F5344CB8AC3E}">
        <p14:creationId xmlns:p14="http://schemas.microsoft.com/office/powerpoint/2010/main" val="824566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4B4A040E-4FA4-4C92-9639-20B50A1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E2760E0-2BFB-41A3-B4B9-FC44F2B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2DDF8-2FD0-4D82-98E2-44AD868D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Серия из 30 прогонов отделена от базового опыта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E0F864-667E-4385-A6F2-CC1F5D66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f0be5a2c04676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83CD01B-7F94-4DBC-84F5-40CECFA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7CEEC-053D-4D70-931C-82E3AD1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4af1c9ab94cb2"/>
          <a:stretch xmlns:a="http://schemas.openxmlformats.org/drawingml/2006/main"/>
        </p:blipFill>
        <p:spPr>
          <a:xfrm xmlns:a="http://schemas.openxmlformats.org/drawingml/2006/main">
            <a:off x="1196578" y="1468636"/>
            <a:ext cx="6369844" cy="3949303"/>
          </a:xfrm>
          <a:prstGeom xmlns:a="http://schemas.openxmlformats.org/drawingml/2006/main" prst="rect">
            <a:avLst/>
          </a:prstGeom>
        </p:spPr>
      </p:pic>
      <p:sp>
        <p:nvSpPr>
          <p:cNvPr id="9" name="states">
            <a:extLst xmlns:a="http://schemas.openxmlformats.org/drawingml/2006/main">
              <a:ext uri="{FF2B5EF4-FFF2-40B4-BE49-F238E27FC236}">
                <a16:creationId xmlns:a16="http://schemas.microsoft.com/office/drawing/2014/main" id="{14E3F9B0-44C3-4EC1-8902-2CA766BD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5527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Для каждого λ: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30 прогонов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T = 1500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разные seed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При ρ = 0,9091: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Lq = 9,0916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При ρ = 0,9848: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Lq = 65,3523</a:t>
            </a:r>
          </a:p>
        </p:txBody>
      </p:sp>
    </p:spTree>
    <p:extLst>
      <p:ext uri="{BB962C8B-B14F-4D97-AF65-F5344CB8AC3E}">
        <p14:creationId xmlns:p14="http://schemas.microsoft.com/office/powerpoint/2010/main" val="1586191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AF2585DF-AC5B-4323-9E8D-F5DD6AD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61FBD9-A3D3-4B4D-8148-6A8EA05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B50FA-2F33-49D5-92A3-2006E35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Выполненные блокноты сохраняют результаты расчёта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24C76B-A866-4FC3-BD4F-676A5F4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00f9d323f4dc8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359995-F295-4F48-BFC9-5FDCEDF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8B0D7C-16CB-40EC-970C-B3565A5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dc1d4b08541ea"/>
          <a:stretch xmlns:a="http://schemas.openxmlformats.org/drawingml/2006/main"/>
        </p:blipFill>
        <p:spPr>
          <a:xfrm xmlns:a="http://schemas.openxmlformats.org/drawingml/2006/main">
            <a:off x="495300" y="1640086"/>
            <a:ext cx="5429250" cy="3053953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ea66aac7d4c41"/>
          <a:stretch xmlns:a="http://schemas.openxmlformats.org/drawingml/2006/main"/>
        </p:blipFill>
        <p:spPr>
          <a:xfrm xmlns:a="http://schemas.openxmlformats.org/drawingml/2006/main">
            <a:off x="6267450" y="1640086"/>
            <a:ext cx="5429250" cy="3053953"/>
          </a:xfrm>
          <a:prstGeom xmlns:a="http://schemas.openxmlformats.org/drawingml/2006/main" prst="rect">
            <a:avLst/>
          </a:prstGeom>
        </p:spPr>
      </p:pic>
      <p:sp>
        <p:nvSpPr>
          <p:cNvPr id="10" name="sir-label">
            <a:extLst xmlns:a="http://schemas.openxmlformats.org/drawingml/2006/main">
              <a:ext uri="{FF2B5EF4-FFF2-40B4-BE49-F238E27FC236}">
                <a16:creationId xmlns:a16="http://schemas.microsoft.com/office/drawing/2014/main" id="{2E8BCE43-1A01-4261-B5EA-2E52C71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Базовый эксперимент M/M/1</a:t>
            </a:r>
          </a:p>
        </p:txBody>
      </p:sp>
      <p:sp>
        <p:nvSpPr>
          <p:cNvPr id="11" name="lv-label">
            <a:extLst xmlns:a="http://schemas.openxmlformats.org/drawingml/2006/main">
              <a:ext uri="{FF2B5EF4-FFF2-40B4-BE49-F238E27FC236}">
                <a16:creationId xmlns:a16="http://schemas.microsoft.com/office/drawing/2014/main" id="{9A8A30A9-3164-4FDB-BCBF-1144A37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Серия по интенсивности прихода</a:t>
            </a:r>
          </a:p>
        </p:txBody>
      </p:sp>
    </p:spTree>
    <p:extLst>
      <p:ext uri="{BB962C8B-B14F-4D97-AF65-F5344CB8AC3E}">
        <p14:creationId xmlns:p14="http://schemas.microsoft.com/office/powerpoint/2010/main" val="4138984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6D573241-9EE9-4DF9-8086-F9A4F38D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F6378DF-5E8F-4722-97E0-1107CA5B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81CC7-CBD2-4703-970A-156532E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Одиннадцать тестов проверяют формулы и статистики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06674E-824A-4C30-AC07-9394E7D2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7a58168e6487d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B26CBF1-396E-4033-AAF9-48927138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627C61-6ADF-48E9-A24A-976D6E94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a074a9c2c4d2d"/>
          <a:stretch xmlns:a="http://schemas.openxmlformats.org/drawingml/2006/main"/>
        </p:blipFill>
        <p:spPr>
          <a:xfrm xmlns:a="http://schemas.openxmlformats.org/drawingml/2006/main">
            <a:off x="514350" y="1241822"/>
            <a:ext cx="7200900" cy="4050506"/>
          </a:xfrm>
          <a:prstGeom xmlns:a="http://schemas.openxmlformats.org/drawingml/2006/main" prst="rect">
            <a:avLst/>
          </a:prstGeom>
        </p:spPr>
      </p:pic>
      <p:sp>
        <p:nvSpPr>
          <p:cNvPr id="9" name="test-list">
            <a:extLst xmlns:a="http://schemas.openxmlformats.org/drawingml/2006/main">
              <a:ext uri="{FF2B5EF4-FFF2-40B4-BE49-F238E27FC236}">
                <a16:creationId xmlns:a16="http://schemas.microsoft.com/office/drawing/2014/main" id="{C4D7CFCF-E677-40A4-ABD8-F9C618B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321945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5 проверок формул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6 проверок имитации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загрузка и среднее 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неотрицательность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число обслуженных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отсутствие потерь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Тестовый seed — 42.</a:t>
            </a:r>
          </a:p>
        </p:txBody>
      </p:sp>
    </p:spTree>
    <p:extLst>
      <p:ext uri="{BB962C8B-B14F-4D97-AF65-F5344CB8AC3E}">
        <p14:creationId xmlns:p14="http://schemas.microsoft.com/office/powerpoint/2010/main" val="60678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9734C38-27F5-41E9-AE40-B2280B0B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C85DC4D-DCA4-478D-8970-A99DD113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3DF33A-E339-44DE-836A-AA0421DD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Расчёты и документы собираются из своих каталогов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63D394-B9E4-46CD-B043-C08BCA04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5e0e042a84df7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A96F062-4599-4561-8DB8-BFB6CD2D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3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35FBE1-4001-4D2A-A44F-90B33D24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14</a:t>
            </a:r>
          </a:p>
        </p:txBody>
      </p:sp>
      <p:sp>
        <p:nvSpPr>
          <p:cNvPr id="8" name="command-bg">
            <a:extLst xmlns:a="http://schemas.openxmlformats.org/drawingml/2006/main">
              <a:ext uri="{FF2B5EF4-FFF2-40B4-BE49-F238E27FC236}">
                <a16:creationId xmlns:a16="http://schemas.microsoft.com/office/drawing/2014/main" id="{FB589B73-FEBA-46DB-9E20-5C028F93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263442"/>
            </a:solidFill>
            <a:prstDash val="solid"/>
          </a:ln>
        </p:spPr>
      </p:sp>
      <p:sp>
        <p:nvSpPr>
          <p:cNvPr id="9" name="commands">
            <a:extLst xmlns:a="http://schemas.openxmlformats.org/drawingml/2006/main">
              <a:ext uri="{FF2B5EF4-FFF2-40B4-BE49-F238E27FC236}">
                <a16:creationId xmlns:a16="http://schemas.microsoft.com/office/drawing/2014/main" id="{9E3F3B85-21F1-4785-B94A-290C8777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33500"/>
            <a:ext cx="3905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tangle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notebooks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docs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test</a:t>
            </a:r>
          </a:p>
        </p:txBody>
      </p:sp>
      <p:sp>
        <p:nvSpPr>
          <p:cNvPr id="10" name="outputs">
            <a:extLst xmlns:a="http://schemas.openxmlformats.org/drawingml/2006/main">
              <a:ext uri="{FF2B5EF4-FFF2-40B4-BE49-F238E27FC236}">
                <a16:creationId xmlns:a16="http://schemas.microsoft.com/office/drawing/2014/main" id="{5A56D3BE-9E70-48FC-9478-9913FE81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66800"/>
            <a:ext cx="4476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 project: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сценарии Julia;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CSV и графики;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выполненные IPYNB;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HTML расчётов.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</a:defRPr>
            </a:pPr>
            <a:r>
              <a:rPr sz="180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 report: make all → DOCX/PDF.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 presentation: make all → HTML.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PPTX редактируется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552567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b3c91a8d3448c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Теория и имитация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показывают рост очереди при ρ → 1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В базовом опыте максимальная ошибка составляет 5,29%.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При ρ = 0,9848 средняя очередь достигает 65,35 заявки.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Временные средние учитывают интервалы между событиями.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Seed фиксирован; доверительные интервалы не оценивались.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Получены таблицы, графики, блокноты и 11 пройденных тестов.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3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2026-08-30T23:50:59.8480000Z</dcterms:created>
  <dcterms:modified xsi:type="dcterms:W3CDTF">2026-08-30T23:50:59.8480000Z</dcterms:modified>
</coreProperties>
</file>