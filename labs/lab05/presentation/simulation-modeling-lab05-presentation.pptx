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d7c03522c443d4" /><Relationship Type="http://schemas.openxmlformats.org/officeDocument/2006/relationships/extended-properties" Target="/docProps/app.xml" Id="R90e04fd4a6e3455d" /><Relationship Type="http://schemas.openxmlformats.org/officeDocument/2006/relationships/officeDocument" Target="/ppt/presentation.xml" Id="R254c2f78678643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ee21e7ee684fb2"/>
  </p:sldMasterIdLst>
  <p:notesMasterIdLst>
    <p:notesMasterId xmlns:r="http://schemas.openxmlformats.org/officeDocument/2006/relationships" r:id="R13fc5bd1119b4deb"/>
  </p:notesMasterIdLst>
  <p:sldIdLst>
    <p:sldId xmlns:r="http://schemas.openxmlformats.org/officeDocument/2006/relationships" id="256" r:id="R91437a2a20ed491f"/>
    <p:sldId xmlns:r="http://schemas.openxmlformats.org/officeDocument/2006/relationships" id="257" r:id="Rb5b362bf1d764007"/>
    <p:sldId xmlns:r="http://schemas.openxmlformats.org/officeDocument/2006/relationships" id="258" r:id="Rb00ddd382a804ef0"/>
    <p:sldId xmlns:r="http://schemas.openxmlformats.org/officeDocument/2006/relationships" id="259" r:id="R18168f42a2ff423f"/>
    <p:sldId xmlns:r="http://schemas.openxmlformats.org/officeDocument/2006/relationships" id="260" r:id="R29e622af0273455b"/>
    <p:sldId xmlns:r="http://schemas.openxmlformats.org/officeDocument/2006/relationships" id="261" r:id="R01497d3c7d2443e3"/>
    <p:sldId xmlns:r="http://schemas.openxmlformats.org/officeDocument/2006/relationships" id="262" r:id="R3276b0ce6e194517"/>
    <p:sldId xmlns:r="http://schemas.openxmlformats.org/officeDocument/2006/relationships" id="263" r:id="R888ba0497a844ef8"/>
    <p:sldId xmlns:r="http://schemas.openxmlformats.org/officeDocument/2006/relationships" id="264" r:id="Re070a2a9fc5f4e96"/>
    <p:sldId xmlns:r="http://schemas.openxmlformats.org/officeDocument/2006/relationships" id="265" r:id="Re292bd8baabb4212"/>
    <p:sldId xmlns:r="http://schemas.openxmlformats.org/officeDocument/2006/relationships" id="266" r:id="Rc1ad5a5a7c814b9a"/>
    <p:sldId xmlns:r="http://schemas.openxmlformats.org/officeDocument/2006/relationships" id="267" r:id="R82f9874aca1e46c5"/>
    <p:sldId xmlns:r="http://schemas.openxmlformats.org/officeDocument/2006/relationships" id="268" r:id="Rd989058050834aee"/>
    <p:sldId xmlns:r="http://schemas.openxmlformats.org/officeDocument/2006/relationships" id="269" r:id="Rf38c5b3be6104767"/>
    <p:sldId xmlns:r="http://schemas.openxmlformats.org/officeDocument/2006/relationships" id="270" r:id="R6e1c71b392c143c2"/>
    <p:sldId xmlns:r="http://schemas.openxmlformats.org/officeDocument/2006/relationships" id="271" r:id="Rb5c6ff5046f44fe8"/>
    <p:sldId xmlns:r="http://schemas.openxmlformats.org/officeDocument/2006/relationships" id="272" r:id="R500f4448d0914b98"/>
    <p:sldId xmlns:r="http://schemas.openxmlformats.org/officeDocument/2006/relationships" id="273" r:id="Rc95bdff2898b4c57"/>
    <p:sldId xmlns:r="http://schemas.openxmlformats.org/officeDocument/2006/relationships" id="274" r:id="R8f2c447570534c2e"/>
    <p:sldId xmlns:r="http://schemas.openxmlformats.org/officeDocument/2006/relationships" id="275" r:id="R837f393bccd74e2c"/>
    <p:sldId xmlns:r="http://schemas.openxmlformats.org/officeDocument/2006/relationships" id="276" r:id="R6d868ad8efbd4553"/>
    <p:sldId xmlns:r="http://schemas.openxmlformats.org/officeDocument/2006/relationships" id="277" r:id="Rbda0b955d514448b"/>
    <p:sldId xmlns:r="http://schemas.openxmlformats.org/officeDocument/2006/relationships" id="278" r:id="R6fe32089e2b44e7a"/>
    <p:sldId xmlns:r="http://schemas.openxmlformats.org/officeDocument/2006/relationships" id="279" r:id="R767ac92d27fa45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1579dafd244880" /><Relationship Type="http://schemas.openxmlformats.org/officeDocument/2006/relationships/slideMaster" Target="/ppt/slideMasters/slideMaster1.xml" Id="Rd1ee21e7ee684fb2" /><Relationship Type="http://schemas.openxmlformats.org/officeDocument/2006/relationships/notesMaster" Target="/ppt/notesMasters/notesMaster1.xml" Id="R13fc5bd1119b4deb" /><Relationship Type="http://schemas.openxmlformats.org/officeDocument/2006/relationships/presProps" Target="/ppt/presProps.xml" Id="R5e3fe0b3aa5c43b6" /><Relationship Type="http://schemas.openxmlformats.org/officeDocument/2006/relationships/tableStyles" Target="/ppt/tableStyles.xml" Id="R766fa49fb45e44d8" /><Relationship Type="http://schemas.openxmlformats.org/officeDocument/2006/relationships/slide" Target="/ppt/slides/slide1.xml" Id="R91437a2a20ed491f" /><Relationship Type="http://schemas.openxmlformats.org/officeDocument/2006/relationships/slide" Target="/ppt/slides/slide2.xml" Id="Rb5b362bf1d764007" /><Relationship Type="http://schemas.openxmlformats.org/officeDocument/2006/relationships/slide" Target="/ppt/slides/slide3.xml" Id="Rb00ddd382a804ef0" /><Relationship Type="http://schemas.openxmlformats.org/officeDocument/2006/relationships/slide" Target="/ppt/slides/slide4.xml" Id="R18168f42a2ff423f" /><Relationship Type="http://schemas.openxmlformats.org/officeDocument/2006/relationships/slide" Target="/ppt/slides/slide5.xml" Id="R29e622af0273455b" /><Relationship Type="http://schemas.openxmlformats.org/officeDocument/2006/relationships/slide" Target="/ppt/slides/slide6.xml" Id="R01497d3c7d2443e3" /><Relationship Type="http://schemas.openxmlformats.org/officeDocument/2006/relationships/slide" Target="/ppt/slides/slide7.xml" Id="R3276b0ce6e194517" /><Relationship Type="http://schemas.openxmlformats.org/officeDocument/2006/relationships/slide" Target="/ppt/slides/slide8.xml" Id="R888ba0497a844ef8" /><Relationship Type="http://schemas.openxmlformats.org/officeDocument/2006/relationships/slide" Target="/ppt/slides/slide9.xml" Id="Re070a2a9fc5f4e96" /><Relationship Type="http://schemas.openxmlformats.org/officeDocument/2006/relationships/slide" Target="/ppt/slides/slide10.xml" Id="Re292bd8baabb4212" /><Relationship Type="http://schemas.openxmlformats.org/officeDocument/2006/relationships/slide" Target="/ppt/slides/slide11.xml" Id="Rc1ad5a5a7c814b9a" /><Relationship Type="http://schemas.openxmlformats.org/officeDocument/2006/relationships/slide" Target="/ppt/slides/slide12.xml" Id="R82f9874aca1e46c5" /><Relationship Type="http://schemas.openxmlformats.org/officeDocument/2006/relationships/slide" Target="/ppt/slides/slide13.xml" Id="Rd989058050834aee" /><Relationship Type="http://schemas.openxmlformats.org/officeDocument/2006/relationships/slide" Target="/ppt/slides/slide14.xml" Id="Rf38c5b3be6104767" /><Relationship Type="http://schemas.openxmlformats.org/officeDocument/2006/relationships/slide" Target="/ppt/slides/slide15.xml" Id="R6e1c71b392c143c2" /><Relationship Type="http://schemas.openxmlformats.org/officeDocument/2006/relationships/slide" Target="/ppt/slides/slide16.xml" Id="Rb5c6ff5046f44fe8" /><Relationship Type="http://schemas.openxmlformats.org/officeDocument/2006/relationships/slide" Target="/ppt/slides/slide17.xml" Id="R500f4448d0914b98" /><Relationship Type="http://schemas.openxmlformats.org/officeDocument/2006/relationships/slide" Target="/ppt/slides/slide18.xml" Id="Rc95bdff2898b4c57" /><Relationship Type="http://schemas.openxmlformats.org/officeDocument/2006/relationships/slide" Target="/ppt/slides/slide19.xml" Id="R8f2c447570534c2e" /><Relationship Type="http://schemas.openxmlformats.org/officeDocument/2006/relationships/slide" Target="/ppt/slides/slide20.xml" Id="R837f393bccd74e2c" /><Relationship Type="http://schemas.openxmlformats.org/officeDocument/2006/relationships/slide" Target="/ppt/slides/slide21.xml" Id="R6d868ad8efbd4553" /><Relationship Type="http://schemas.openxmlformats.org/officeDocument/2006/relationships/slide" Target="/ppt/slides/slide22.xml" Id="Rbda0b955d514448b" /><Relationship Type="http://schemas.openxmlformats.org/officeDocument/2006/relationships/slide" Target="/ppt/slides/slide23.xml" Id="R6fe32089e2b44e7a" /><Relationship Type="http://schemas.openxmlformats.org/officeDocument/2006/relationships/slide" Target="/ppt/slides/slide24.xml" Id="R767ac92d27fa45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5faad6ae1147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4238d006b64db2" /><Relationship Type="http://schemas.openxmlformats.org/officeDocument/2006/relationships/notesMaster" Target="/ppt/notesMasters/notesMaster1.xml" Id="R70f90da5723c40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b344262baf4200" /><Relationship Type="http://schemas.openxmlformats.org/officeDocument/2006/relationships/notesMaster" Target="/ppt/notesMasters/notesMaster1.xml" Id="R5683f8e006ab42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e1364074d54c5a" /><Relationship Type="http://schemas.openxmlformats.org/officeDocument/2006/relationships/notesMaster" Target="/ppt/notesMasters/notesMaster1.xml" Id="R417dd9e704074a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1bf25dad0042e7" /><Relationship Type="http://schemas.openxmlformats.org/officeDocument/2006/relationships/notesMaster" Target="/ppt/notesMasters/notesMaster1.xml" Id="Re7f8ad8d59aa49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5d999421f841db" /><Relationship Type="http://schemas.openxmlformats.org/officeDocument/2006/relationships/notesMaster" Target="/ppt/notesMasters/notesMaster1.xml" Id="R913c175b9db14d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942b6258044a86" /><Relationship Type="http://schemas.openxmlformats.org/officeDocument/2006/relationships/notesMaster" Target="/ppt/notesMasters/notesMaster1.xml" Id="Re69db34f424f4b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8dc5d1bce949ab" /><Relationship Type="http://schemas.openxmlformats.org/officeDocument/2006/relationships/notesMaster" Target="/ppt/notesMasters/notesMaster1.xml" Id="Rd7bf7ef2823b46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1cf39e2c9d4b45" /><Relationship Type="http://schemas.openxmlformats.org/officeDocument/2006/relationships/notesMaster" Target="/ppt/notesMasters/notesMaster1.xml" Id="R36332ef8482446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22262d52b2494e" /><Relationship Type="http://schemas.openxmlformats.org/officeDocument/2006/relationships/notesMaster" Target="/ppt/notesMasters/notesMaster1.xml" Id="R76dbcba3a1334d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408da223a04fc6" /><Relationship Type="http://schemas.openxmlformats.org/officeDocument/2006/relationships/notesMaster" Target="/ppt/notesMasters/notesMaster1.xml" Id="R43700d3858a24e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a45493dc904afd" /><Relationship Type="http://schemas.openxmlformats.org/officeDocument/2006/relationships/notesMaster" Target="/ppt/notesMasters/notesMaster1.xml" Id="R6a2c838a93b849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a6e394dd724054" /><Relationship Type="http://schemas.openxmlformats.org/officeDocument/2006/relationships/notesMaster" Target="/ppt/notesMasters/notesMaster1.xml" Id="Rca1d825f693e49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46d452f230484b" /><Relationship Type="http://schemas.openxmlformats.org/officeDocument/2006/relationships/notesMaster" Target="/ppt/notesMasters/notesMaster1.xml" Id="Rb79e8329c44344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e6a77583ad4863" /><Relationship Type="http://schemas.openxmlformats.org/officeDocument/2006/relationships/notesMaster" Target="/ppt/notesMasters/notesMaster1.xml" Id="R0eedfe09a63c4a2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959cfc1d564208" /><Relationship Type="http://schemas.openxmlformats.org/officeDocument/2006/relationships/notesMaster" Target="/ppt/notesMasters/notesMaster1.xml" Id="Rd8ed826c88874c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1dd931c925b4519" /><Relationship Type="http://schemas.openxmlformats.org/officeDocument/2006/relationships/notesMaster" Target="/ppt/notesMasters/notesMaster1.xml" Id="R2d920062d8f242c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43e93c9dcb74c30" /><Relationship Type="http://schemas.openxmlformats.org/officeDocument/2006/relationships/notesMaster" Target="/ppt/notesMasters/notesMaster1.xml" Id="R8623132daed4407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8bcbae25e804d99" /><Relationship Type="http://schemas.openxmlformats.org/officeDocument/2006/relationships/notesMaster" Target="/ppt/notesMasters/notesMaster1.xml" Id="R79ef742cdecf416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9fde7021a854a97" /><Relationship Type="http://schemas.openxmlformats.org/officeDocument/2006/relationships/notesMaster" Target="/ppt/notesMasters/notesMaster1.xml" Id="R3dcbd32cb65f4a1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47372b6e1e492b" /><Relationship Type="http://schemas.openxmlformats.org/officeDocument/2006/relationships/notesMaster" Target="/ppt/notesMasters/notesMaster1.xml" Id="Red69706d29684b2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90fb97d64b0478f" /><Relationship Type="http://schemas.openxmlformats.org/officeDocument/2006/relationships/notesMaster" Target="/ppt/notesMasters/notesMaster1.xml" Id="R90fb980c0c7e450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46e0a8d2f5048b6" /><Relationship Type="http://schemas.openxmlformats.org/officeDocument/2006/relationships/notesMaster" Target="/ppt/notesMasters/notesMaster1.xml" Id="R52ac03c5442d4b1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db31ccd69a6462f" /><Relationship Type="http://schemas.openxmlformats.org/officeDocument/2006/relationships/notesMaster" Target="/ppt/notesMasters/notesMaster1.xml" Id="R2b7bb1bd75bd4e5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e0099d350c74ba3" /><Relationship Type="http://schemas.openxmlformats.org/officeDocument/2006/relationships/notesMaster" Target="/ppt/notesMasters/notesMaster1.xml" Id="Rb9ca9b992dfd40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Иллюстрации: 05-plot.png.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Иллюстрации: 02-terminal.png.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Иллюстрации: 01-plot.png.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Иллюстрации: 02-plot.png.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Иллюстрации: 03-plot.png.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Иллюстрации: 04-plot.png.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Иллюстрации: 06-plot.png.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Иллюстрации: 07-plot.png.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Иллюстрации: 01-jupyter.png, 02-jupyter.png.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Иллюстрации: 03-terminal.png.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№ 5. Численные результаты относятся к горизонту 50 и фиксированным начальным состояниям генератора. Доля блокировок — наблюдаемая частота в выполненной серии.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simulation-modeling-lab.pdf — глава «Аппарат сетей Петри».</a:t>
            </a:r>
          </a:p>
          <a:p xmlns:a="http://schemas.openxmlformats.org/drawingml/2006/main">
            <a:r>
              <a:t>- labs/lab05/project/src/dining_philosophers.jl — модель и алгоритмы.</a:t>
            </a:r>
          </a:p>
          <a:p xmlns:a="http://schemas.openxmlformats.org/drawingml/2006/main">
            <a:r>
              <a:t>- labs/lab05/project/scripts/01_dining_philosophers.jl — базовый эксперимент.</a:t>
            </a:r>
          </a:p>
          <a:p xmlns:a="http://schemas.openxmlformats.org/drawingml/2006/main">
            <a:r>
              <a:t>- labs/lab05/project/scripts/02_parameter_scan.jl — параметрическое исследование.</a:t>
            </a:r>
          </a:p>
          <a:p xmlns:a="http://schemas.openxmlformats.org/drawingml/2006/main">
            <a:r>
              <a:t>- labs/lab05/project/data — результаты вычислений.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ac9fc1ecd041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1b9374110e4f97" /><Relationship Type="http://schemas.openxmlformats.org/officeDocument/2006/relationships/slideLayout" Target="/ppt/slideLayouts/slideLayout1.xml" Id="Rae6c41bfe1ed4d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6c41bfe1ed4d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af9258ba34a84" /><Relationship Type="http://schemas.openxmlformats.org/officeDocument/2006/relationships/image" Target="/ppt/media/image.png" Id="R74c76afb7a8b4009" /><Relationship Type="http://schemas.openxmlformats.org/officeDocument/2006/relationships/notesSlide" Target="/ppt/notesSlides/notesSlide1.xml" Id="R63d39dcda68a4b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8827964154dfc" /><Relationship Type="http://schemas.openxmlformats.org/officeDocument/2006/relationships/image" Target="/ppt/media/image2.png" Id="R0c704e0af6df47a0" /><Relationship Type="http://schemas.openxmlformats.org/officeDocument/2006/relationships/notesSlide" Target="/ppt/notesSlides/notesSlide2.xml" Id="R398162ed183d4f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a35263c7949fa" /><Relationship Type="http://schemas.openxmlformats.org/officeDocument/2006/relationships/image" Target="/ppt/media/image3.png" Id="Rb25ce708cc4c49ea" /><Relationship Type="http://schemas.openxmlformats.org/officeDocument/2006/relationships/notesSlide" Target="/ppt/notesSlides/notesSlide3.xml" Id="R5d448e0dd20947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5ac6e7c3f4b0d" /><Relationship Type="http://schemas.openxmlformats.org/officeDocument/2006/relationships/image" Target="/ppt/media/image4.png" Id="R046b65d7e5394adf" /><Relationship Type="http://schemas.openxmlformats.org/officeDocument/2006/relationships/notesSlide" Target="/ppt/notesSlides/notesSlide4.xml" Id="R28a1d8118cf94b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8d7cb659241b8" /><Relationship Type="http://schemas.openxmlformats.org/officeDocument/2006/relationships/image" Target="/ppt/media/image3.png" Id="R1174d220ee704f9d" /><Relationship Type="http://schemas.openxmlformats.org/officeDocument/2006/relationships/notesSlide" Target="/ppt/notesSlides/notesSlide5.xml" Id="R79afe8d3fcd740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f32eaef4743e4" /><Relationship Type="http://schemas.openxmlformats.org/officeDocument/2006/relationships/image" Target="/ppt/media/image2.png" Id="R5ec2107ffea046fc" /><Relationship Type="http://schemas.openxmlformats.org/officeDocument/2006/relationships/notesSlide" Target="/ppt/notesSlides/notesSlide6.xml" Id="R4f30b680c0084f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5cd6910a1400a" /><Relationship Type="http://schemas.openxmlformats.org/officeDocument/2006/relationships/image" Target="/ppt/media/image5.png" Id="Rc4ebf709517e4613" /><Relationship Type="http://schemas.openxmlformats.org/officeDocument/2006/relationships/notesSlide" Target="/ppt/notesSlides/notesSlide7.xml" Id="Rf878050bcd8748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eb37706f8443e" /><Relationship Type="http://schemas.openxmlformats.org/officeDocument/2006/relationships/image" Target="/ppt/media/image5.png" Id="Re29bb13e62b24a2a" /><Relationship Type="http://schemas.openxmlformats.org/officeDocument/2006/relationships/notesSlide" Target="/ppt/notesSlides/notesSlide8.xml" Id="Rd53ce58b5ba441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528f20b8a401e" /><Relationship Type="http://schemas.openxmlformats.org/officeDocument/2006/relationships/image" Target="/ppt/media/image6.png" Id="R31fec0ede30948bb" /><Relationship Type="http://schemas.openxmlformats.org/officeDocument/2006/relationships/image" Target="/ppt/media/image7.png" Id="R39ef5d68561f45e2" /><Relationship Type="http://schemas.openxmlformats.org/officeDocument/2006/relationships/notesSlide" Target="/ppt/notesSlides/notesSlide9.xml" Id="Rb577ff62c80845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c89ba0366482a" /><Relationship Type="http://schemas.openxmlformats.org/officeDocument/2006/relationships/image" Target="/ppt/media/image4.png" Id="Rf6c106d26f234caa" /><Relationship Type="http://schemas.openxmlformats.org/officeDocument/2006/relationships/notesSlide" Target="/ppt/notesSlides/notesSlide10.xml" Id="R45c12b602bd940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fca42ed2847f2" /><Relationship Type="http://schemas.openxmlformats.org/officeDocument/2006/relationships/image" Target="/ppt/media/image8.png" Id="Rc9b74c183fbc4419" /><Relationship Type="http://schemas.openxmlformats.org/officeDocument/2006/relationships/image" Target="/ppt/media/image.jpeg" Id="Rfeaa4c96a3154fef" /><Relationship Type="http://schemas.openxmlformats.org/officeDocument/2006/relationships/notesSlide" Target="/ppt/notesSlides/notesSlide11.xml" Id="Rc79fa79c26464e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54e5fdc9d4c9e" /><Relationship Type="http://schemas.openxmlformats.org/officeDocument/2006/relationships/image" Target="/ppt/media/image2.png" Id="R3aa691d686d744b2" /><Relationship Type="http://schemas.openxmlformats.org/officeDocument/2006/relationships/notesSlide" Target="/ppt/notesSlides/notesSlide12.xml" Id="R857ec86218d945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3d6c2d77549c1" /><Relationship Type="http://schemas.openxmlformats.org/officeDocument/2006/relationships/image" Target="/ppt/media/image3.png" Id="Rd8ad8bb55a224afa" /><Relationship Type="http://schemas.openxmlformats.org/officeDocument/2006/relationships/notesSlide" Target="/ppt/notesSlides/notesSlide13.xml" Id="R4293d37edd5c4b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349fe0a5343c1" /><Relationship Type="http://schemas.openxmlformats.org/officeDocument/2006/relationships/image" Target="/ppt/media/image9.png" Id="Rd0525358ec124954" /><Relationship Type="http://schemas.openxmlformats.org/officeDocument/2006/relationships/image" Target="/ppt/media/image10.png" Id="R9648903fef4a4f4a" /><Relationship Type="http://schemas.openxmlformats.org/officeDocument/2006/relationships/notesSlide" Target="/ppt/notesSlides/notesSlide14.xml" Id="R24b3c48722c244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5c28e1b4e4435" /><Relationship Type="http://schemas.openxmlformats.org/officeDocument/2006/relationships/image" Target="/ppt/media/image9.png" Id="R1dc4ea7781b64b58" /><Relationship Type="http://schemas.openxmlformats.org/officeDocument/2006/relationships/image" Target="/ppt/media/image10.png" Id="Re283afa425074494" /><Relationship Type="http://schemas.openxmlformats.org/officeDocument/2006/relationships/notesSlide" Target="/ppt/notesSlides/notesSlide15.xml" Id="R4c9ba265a6c147b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57be8f61a4a2f" /><Relationship Type="http://schemas.openxmlformats.org/officeDocument/2006/relationships/image" Target="/ppt/media/image11.png" Id="R73eac3cde11549bf" /><Relationship Type="http://schemas.openxmlformats.org/officeDocument/2006/relationships/image" Target="/ppt/media/image12.png" Id="R33d89feaa15c472c" /><Relationship Type="http://schemas.openxmlformats.org/officeDocument/2006/relationships/notesSlide" Target="/ppt/notesSlides/notesSlide16.xml" Id="R489e73e45e9446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1b35876dc4516" /><Relationship Type="http://schemas.openxmlformats.org/officeDocument/2006/relationships/image" Target="/ppt/media/image6.png" Id="Rf3cfab885ef44d9b" /><Relationship Type="http://schemas.openxmlformats.org/officeDocument/2006/relationships/image" Target="/ppt/media/image7.png" Id="R4607f276d484401c" /><Relationship Type="http://schemas.openxmlformats.org/officeDocument/2006/relationships/notesSlide" Target="/ppt/notesSlides/notesSlide17.xml" Id="R3ef7bf17e8a64bb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0cf3fdcd24f80" /><Relationship Type="http://schemas.openxmlformats.org/officeDocument/2006/relationships/image" Target="/ppt/media/image3.png" Id="R120579d1b98243b4" /><Relationship Type="http://schemas.openxmlformats.org/officeDocument/2006/relationships/notesSlide" Target="/ppt/notesSlides/notesSlide18.xml" Id="Rfb6481e002b44bb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fe4c4a082420a" /><Relationship Type="http://schemas.openxmlformats.org/officeDocument/2006/relationships/image" Target="/ppt/media/image13.png" Id="R766bfd89d49d4e12" /><Relationship Type="http://schemas.openxmlformats.org/officeDocument/2006/relationships/image" Target="/ppt/media/image14.png" Id="Rc187308455aa49c9" /><Relationship Type="http://schemas.openxmlformats.org/officeDocument/2006/relationships/notesSlide" Target="/ppt/notesSlides/notesSlide19.xml" Id="Ra6c4c6e0bffb461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bc75e355d4cf1" /><Relationship Type="http://schemas.openxmlformats.org/officeDocument/2006/relationships/image" Target="/ppt/media/image13.png" Id="R16b3cb994a934173" /><Relationship Type="http://schemas.openxmlformats.org/officeDocument/2006/relationships/image" Target="/ppt/media/image14.png" Id="Raa7e41dc71154b80" /><Relationship Type="http://schemas.openxmlformats.org/officeDocument/2006/relationships/notesSlide" Target="/ppt/notesSlides/notesSlide20.xml" Id="R06e5b52521184cd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0a44d430c4d5a" /><Relationship Type="http://schemas.openxmlformats.org/officeDocument/2006/relationships/image" Target="/ppt/media/image15.png" Id="R25ed79029fbb4c5b" /><Relationship Type="http://schemas.openxmlformats.org/officeDocument/2006/relationships/image" Target="/ppt/media/image16.png" Id="Ra3fa54a79a1a4895" /><Relationship Type="http://schemas.openxmlformats.org/officeDocument/2006/relationships/image" Target="/ppt/media/image17.png" Id="R71f52d2fde4c4e74" /><Relationship Type="http://schemas.openxmlformats.org/officeDocument/2006/relationships/notesSlide" Target="/ppt/notesSlides/notesSlide21.xml" Id="Rb0b1b4906f4a49c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256a4cdd7426c" /><Relationship Type="http://schemas.openxmlformats.org/officeDocument/2006/relationships/image" Target="/ppt/media/image18.png" Id="R20fbeeffce924ec7" /><Relationship Type="http://schemas.openxmlformats.org/officeDocument/2006/relationships/image" Target="/ppt/media/image2.jpeg" Id="R336b46161f8444de" /><Relationship Type="http://schemas.openxmlformats.org/officeDocument/2006/relationships/notesSlide" Target="/ppt/notesSlides/notesSlide22.xml" Id="Rf3337328f74148d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47732d8ea49de" /><Relationship Type="http://schemas.openxmlformats.org/officeDocument/2006/relationships/image" Target="/ppt/media/image2.png" Id="R8f15656585e74b47" /><Relationship Type="http://schemas.openxmlformats.org/officeDocument/2006/relationships/notesSlide" Target="/ppt/notesSlides/notesSlide23.xml" Id="R0c25f9b62bde41a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d586d55334b96" /><Relationship Type="http://schemas.openxmlformats.org/officeDocument/2006/relationships/image" Target="/ppt/media/image2.png" Id="R134ab77165cc4fad" /><Relationship Type="http://schemas.openxmlformats.org/officeDocument/2006/relationships/notesSlide" Target="/ppt/notesSlides/notesSlide24.xml" Id="Recd83d7b24cc4a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ft-band">
            <a:extLst xmlns:a="http://schemas.openxmlformats.org/drawingml/2006/main">
              <a:ext uri="{FF2B5EF4-FFF2-40B4-BE49-F238E27FC236}">
                <a16:creationId xmlns:a16="http://schemas.microsoft.com/office/drawing/2014/main" id="{3396A765-E720-4140-8F2A-9B2252C7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band">
            <a:extLst xmlns:a="http://schemas.openxmlformats.org/drawingml/2006/main">
              <a:ext uri="{FF2B5EF4-FFF2-40B4-BE49-F238E27FC236}">
                <a16:creationId xmlns:a16="http://schemas.microsoft.com/office/drawing/2014/main" id="{F0AA6C92-D1C5-4BD3-9709-9C06392C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76afb7a8b4009"/>
          <a:stretch xmlns:a="http://schemas.openxmlformats.org/drawingml/2006/main"/>
        </p:blipFill>
        <p:spPr>
          <a:xfrm xmlns:a="http://schemas.openxmlformats.org/drawingml/2006/main">
            <a:off x="457200" y="560369"/>
            <a:ext cx="1104900" cy="936661"/>
          </a:xfrm>
          <a:prstGeom xmlns:a="http://schemas.openxmlformats.org/drawingml/2006/main" prst="rect">
            <a:avLst/>
          </a:prstGeom>
        </p:spPr>
      </p:pic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5F81805C-F6B2-4923-AA28-EDF4ED91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9144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EA5"/>
                </a:solidFill>
              </a:defRPr>
            </a:pPr>
            <a:r>
              <a:rPr sz="1350" b="1">
                <a:solidFill>
                  <a:srgbClr val="176EA5"/>
                </a:solidFill>
              </a:rPr>
              <a:t>ИМИТАЦИОННОЕ МОДЕЛИРОВАНИЕ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45F79F-CBEE-46C7-8579-E321FAC8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5621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36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Лабораторная работа № 5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5432B33-C963-45BE-9D52-7A35D6A1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003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Сети Петри и задача обедающих философов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DDF11CD1-D867-493C-A776-41C0A6BC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956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uthor">
            <a:extLst xmlns:a="http://schemas.openxmlformats.org/drawingml/2006/main">
              <a:ext uri="{FF2B5EF4-FFF2-40B4-BE49-F238E27FC236}">
                <a16:creationId xmlns:a16="http://schemas.microsoft.com/office/drawing/2014/main" id="{C9EE01F2-1E06-4D5F-B59A-782D6429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195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Куокконен Дарина Андреевна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НФИбд-01-23</a:t>
            </a:r>
          </a:p>
        </p:txBody>
      </p:sp>
      <p:sp>
        <p:nvSpPr>
          <p:cNvPr id="9" name="university">
            <a:extLst xmlns:a="http://schemas.openxmlformats.org/drawingml/2006/main">
              <a:ext uri="{FF2B5EF4-FFF2-40B4-BE49-F238E27FC236}">
                <a16:creationId xmlns:a16="http://schemas.microsoft.com/office/drawing/2014/main" id="{1E145EEC-F5DF-4FF7-9082-F8E8222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673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675"/>
                </a:solidFill>
              </a:defRPr>
            </a:pPr>
            <a:r>
              <a:rPr sz="1350" b="0">
                <a:solidFill>
                  <a:srgbClr val="526675"/>
                </a:solidFill>
              </a:rPr>
              <a:t>Российский университет дружбы народов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675"/>
                </a:solidFill>
              </a:defRPr>
            </a:pPr>
            <a:r>
              <a:rPr sz="1350" b="0">
                <a:solidFill>
                  <a:srgbClr val="526675"/>
                </a:solidFill>
              </a:rPr>
              <a:t>имени Патриса Лумумбы · Москва · 2026</a:t>
            </a:r>
          </a:p>
        </p:txBody>
      </p:sp>
    </p:spTree>
    <p:extLst>
      <p:ext uri="{BB962C8B-B14F-4D97-AF65-F5344CB8AC3E}">
        <p14:creationId xmlns:p14="http://schemas.microsoft.com/office/powerpoint/2010/main" val="1891124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04e0af6df47a0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Вводная часть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Конкурентный доступ к ограниченным ресурсам.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Формализм позиций, переходов и маркировок.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Классическая задача обедающих философов.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5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Цель — исследовать и предотвратить deadlock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ce708cc4c49ea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5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Сравнить две сети Петри и проверить влияние арбитра на активность системы.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построить сети для пяти философов;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реализовать алгоритм Гиллеспи;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получить детерминированную аппроксимацию;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измерить число приёмов пищи и равномерность;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выполнить серию из 960 траекторий;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проверить модель автоматическими тестами.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band">
            <a:extLst xmlns:a="http://schemas.openxmlformats.org/drawingml/2006/main">
              <a:ext uri="{FF2B5EF4-FFF2-40B4-BE49-F238E27FC236}">
                <a16:creationId xmlns:a16="http://schemas.microsoft.com/office/drawing/2014/main" id="{3EEA6B23-AFB4-4427-A475-AEF5DDAE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30A9777-4FA0-429D-8228-411BC965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6A3BF7-966F-458F-B59D-CE4CCF98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Сеть Петри задаёт ресурсы и атомарные события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1C91618-2B9A-40EC-9AA7-257BA9B7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b65d7e5394adf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EAE11C7-4C12-40DF-87E8-6272C63C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5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A091B3-20E5-4A17-8498-D902EADB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8" name="formula-bg">
            <a:extLst xmlns:a="http://schemas.openxmlformats.org/drawingml/2006/main">
              <a:ext uri="{FF2B5EF4-FFF2-40B4-BE49-F238E27FC236}">
                <a16:creationId xmlns:a16="http://schemas.microsoft.com/office/drawing/2014/main" id="{B1E9D04E-FA55-4CFF-8F43-F473404F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5048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9" name="sir-formulas">
            <a:extLst xmlns:a="http://schemas.openxmlformats.org/drawingml/2006/main">
              <a:ext uri="{FF2B5EF4-FFF2-40B4-BE49-F238E27FC236}">
                <a16:creationId xmlns:a16="http://schemas.microsoft.com/office/drawing/2014/main" id="{E62C42B5-3244-41DB-8CEC-D1C06B6D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43338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N = (P, T, F, M₀)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C = I⁺ − I⁻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M ≥ I⁻[:, j]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M′ = M + C[:, j]</a:t>
            </a:r>
          </a:p>
        </p:txBody>
      </p:sp>
      <p:sp>
        <p:nvSpPr>
          <p:cNvPr id="10" name="sir-meaning">
            <a:extLst xmlns:a="http://schemas.openxmlformats.org/drawingml/2006/main">
              <a:ext uri="{FF2B5EF4-FFF2-40B4-BE49-F238E27FC236}">
                <a16:creationId xmlns:a16="http://schemas.microsoft.com/office/drawing/2014/main" id="{41D19FF8-7068-4D04-B519-53E81611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81125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P — позиции; T — переходы.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Фишки обозначают доступные ресурсы и состояния.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Разрешённый переход изменяет маркировку атомарно.</a:t>
            </a:r>
          </a:p>
        </p:txBody>
      </p:sp>
      <p:sp>
        <p:nvSpPr>
          <p:cNvPr id="11" name="r0-bg">
            <a:extLst xmlns:a="http://schemas.openxmlformats.org/drawingml/2006/main">
              <a:ext uri="{FF2B5EF4-FFF2-40B4-BE49-F238E27FC236}">
                <a16:creationId xmlns:a16="http://schemas.microsoft.com/office/drawing/2014/main" id="{DDA48782-AECC-4910-B9D2-3F299558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2209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2" name="r0-value">
            <a:extLst xmlns:a="http://schemas.openxmlformats.org/drawingml/2006/main">
              <a:ext uri="{FF2B5EF4-FFF2-40B4-BE49-F238E27FC236}">
                <a16:creationId xmlns:a16="http://schemas.microsoft.com/office/drawing/2014/main" id="{B18707AA-ED3C-4619-A9B6-DFF0176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95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M₀</a:t>
            </a:r>
          </a:p>
        </p:txBody>
      </p:sp>
      <p:sp>
        <p:nvSpPr>
          <p:cNvPr id="13" name="r0-caption">
            <a:extLst xmlns:a="http://schemas.openxmlformats.org/drawingml/2006/main">
              <a:ext uri="{FF2B5EF4-FFF2-40B4-BE49-F238E27FC236}">
                <a16:creationId xmlns:a16="http://schemas.microsoft.com/office/drawing/2014/main" id="{A58DA480-4E37-4926-931E-A697D701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339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начальная маркировка</a:t>
            </a:r>
          </a:p>
        </p:txBody>
      </p:sp>
      <p:sp>
        <p:nvSpPr>
          <p:cNvPr id="14" name="peak-bg">
            <a:extLst xmlns:a="http://schemas.openxmlformats.org/drawingml/2006/main">
              <a:ext uri="{FF2B5EF4-FFF2-40B4-BE49-F238E27FC236}">
                <a16:creationId xmlns:a16="http://schemas.microsoft.com/office/drawing/2014/main" id="{057DFCE5-9E6A-4EC5-AF80-3D23DC91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00550"/>
            <a:ext cx="2209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5" name="peak-value">
            <a:extLst xmlns:a="http://schemas.openxmlformats.org/drawingml/2006/main">
              <a:ext uri="{FF2B5EF4-FFF2-40B4-BE49-F238E27FC236}">
                <a16:creationId xmlns:a16="http://schemas.microsoft.com/office/drawing/2014/main" id="{25877720-9526-4D97-B9EA-1C32D0D9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16" name="peak-caption">
            <a:extLst xmlns:a="http://schemas.openxmlformats.org/drawingml/2006/main">
              <a:ext uri="{FF2B5EF4-FFF2-40B4-BE49-F238E27FC236}">
                <a16:creationId xmlns:a16="http://schemas.microsoft.com/office/drawing/2014/main" id="{7005C71B-CBA1-467E-AD9C-32FB3711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339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матрица изменений</a:t>
            </a:r>
          </a:p>
        </p:txBody>
      </p:sp>
    </p:spTree>
    <p:extLst>
      <p:ext uri="{BB962C8B-B14F-4D97-AF65-F5344CB8AC3E}">
        <p14:creationId xmlns:p14="http://schemas.microsoft.com/office/powerpoint/2010/main" val="15847899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Философу нужны две соседние вилки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74d220ee704f9d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5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Пять философов чередуют размышление, ожидание второй вилки и приём пищи.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Thinkᵢ — философ размышляет;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Hungryᵢ — удерживает левую вилку;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Eatᵢ — удерживает обе вилки;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Forkᵢ — вилка свободна;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GetLeftᵢ и GetRightᵢ захватывают вилки;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PutForksᵢ возвращает обе вилки.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2107ffea046fc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Модели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Классическая сеть допускает циклическое ожидание.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Арбитр ограничивает число начавших захват ресурсов.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Обе сети используют один алгоритм событий.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5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band">
            <a:extLst xmlns:a="http://schemas.openxmlformats.org/drawingml/2006/main">
              <a:ext uri="{FF2B5EF4-FFF2-40B4-BE49-F238E27FC236}">
                <a16:creationId xmlns:a16="http://schemas.microsoft.com/office/drawing/2014/main" id="{AE851876-E4F3-42CF-B13E-732A4074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77E9EA1-240A-4A9D-86B1-E823F2B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0A880F-EB7A-4877-9F48-C43A30B7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Классическая сеть может потерять активность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6CD5096-7B1C-4E38-99C6-492D6625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bf709517e4613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F236ABF-78D3-494B-BC1F-3BF65D25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5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704435-51D2-43C5-A95D-8BBA6679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8" name="formula-bg">
            <a:extLst xmlns:a="http://schemas.openxmlformats.org/drawingml/2006/main">
              <a:ext uri="{FF2B5EF4-FFF2-40B4-BE49-F238E27FC236}">
                <a16:creationId xmlns:a16="http://schemas.microsoft.com/office/drawing/2014/main" id="{A1154276-9ACC-4D1B-9A5B-D59D1047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5219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9" name="lv-formulas">
            <a:extLst xmlns:a="http://schemas.openxmlformats.org/drawingml/2006/main">
              <a:ext uri="{FF2B5EF4-FFF2-40B4-BE49-F238E27FC236}">
                <a16:creationId xmlns:a16="http://schemas.microsoft.com/office/drawing/2014/main" id="{ED5EE27F-E01E-4EF1-A773-EDE1C307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85875"/>
            <a:ext cx="46482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Thinkᵢ + Forkᵢ</a:t>
            </a:r>
          </a:p>
          <a:p xmlns:a="http://schemas.openxmlformats.org/drawingml/2006/main">
            <a:pPr algn="ctr">
              <a:defRPr sz="202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      → Hungryᵢ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B4778"/>
                </a:solidFill>
              </a:defRPr>
            </a:pPr>
            <a:r>
              <a:rPr sz="2025" b="1">
                <a:solidFill>
                  <a:srgbClr val="0B4778"/>
                </a:solidFill>
              </a:rPr>
              <a:t/>
            </a:r>
          </a:p>
          <a:p xmlns:a="http://schemas.openxmlformats.org/drawingml/2006/main">
            <a:pPr algn="ctr">
              <a:defRPr sz="202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Hungryᵢ + Forkᵢ₊₁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      → Eatᵢ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Eatᵢ → Thinkᵢ + Forkᵢ + Forkᵢ₊₁</a:t>
            </a:r>
          </a:p>
        </p:txBody>
      </p:sp>
      <p:sp>
        <p:nvSpPr>
          <p:cNvPr id="10" name="lv-meaning">
            <a:extLst xmlns:a="http://schemas.openxmlformats.org/drawingml/2006/main">
              <a:ext uri="{FF2B5EF4-FFF2-40B4-BE49-F238E27FC236}">
                <a16:creationId xmlns:a16="http://schemas.microsoft.com/office/drawing/2014/main" id="{98E47E58-19B5-4074-9F5D-48CFF71D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81125"/>
            <a:ext cx="4667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Если каждый философ удерживает левую вилку, свободных вилок не остаётся.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Ни один GetRightᵢ не разрешён.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Сеть попадает в глобальный deadlock.</a:t>
            </a:r>
          </a:p>
        </p:txBody>
      </p:sp>
      <p:sp>
        <p:nvSpPr>
          <p:cNvPr id="11" name="period-bg">
            <a:extLst xmlns:a="http://schemas.openxmlformats.org/drawingml/2006/main">
              <a:ext uri="{FF2B5EF4-FFF2-40B4-BE49-F238E27FC236}">
                <a16:creationId xmlns:a16="http://schemas.microsoft.com/office/drawing/2014/main" id="{0511A5E7-A74F-4703-ABCA-9BD93745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2" name="period-value">
            <a:extLst xmlns:a="http://schemas.openxmlformats.org/drawingml/2006/main">
              <a:ext uri="{FF2B5EF4-FFF2-40B4-BE49-F238E27FC236}">
                <a16:creationId xmlns:a16="http://schemas.microsoft.com/office/drawing/2014/main" id="{FDB99F33-5682-4C0B-8DB3-C5B8B0B1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8A5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D8A5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3" name="period-caption">
            <a:extLst xmlns:a="http://schemas.openxmlformats.org/drawingml/2006/main">
              <a:ext uri="{FF2B5EF4-FFF2-40B4-BE49-F238E27FC236}">
                <a16:creationId xmlns:a16="http://schemas.microsoft.com/office/drawing/2014/main" id="{BBEDD93C-B6F0-4B1F-8435-EB94DA0A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911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занятых вилок</a:t>
            </a:r>
          </a:p>
        </p:txBody>
      </p:sp>
      <p:sp>
        <p:nvSpPr>
          <p:cNvPr id="14" name="drift-bg">
            <a:extLst xmlns:a="http://schemas.openxmlformats.org/drawingml/2006/main">
              <a:ext uri="{FF2B5EF4-FFF2-40B4-BE49-F238E27FC236}">
                <a16:creationId xmlns:a16="http://schemas.microsoft.com/office/drawing/2014/main" id="{235B091A-44CB-4BDC-98CB-501D4314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577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5" name="drift-value">
            <a:extLst xmlns:a="http://schemas.openxmlformats.org/drawingml/2006/main">
              <a:ext uri="{FF2B5EF4-FFF2-40B4-BE49-F238E27FC236}">
                <a16:creationId xmlns:a16="http://schemas.microsoft.com/office/drawing/2014/main" id="{9BC52E5B-F448-4230-B5FE-9C7B6737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529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6EA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6EA5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6" name="drift-caption">
            <a:extLst xmlns:a="http://schemas.openxmlformats.org/drawingml/2006/main">
              <a:ext uri="{FF2B5EF4-FFF2-40B4-BE49-F238E27FC236}">
                <a16:creationId xmlns:a16="http://schemas.microsoft.com/office/drawing/2014/main" id="{9F3E1B8F-C766-47FC-8FE0-8FCB35E2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разрешённых событий</a:t>
            </a:r>
          </a:p>
        </p:txBody>
      </p:sp>
    </p:spTree>
    <p:extLst>
      <p:ext uri="{BB962C8B-B14F-4D97-AF65-F5344CB8AC3E}">
        <p14:creationId xmlns:p14="http://schemas.microsoft.com/office/powerpoint/2010/main" val="2357031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band">
            <a:extLst xmlns:a="http://schemas.openxmlformats.org/drawingml/2006/main">
              <a:ext uri="{FF2B5EF4-FFF2-40B4-BE49-F238E27FC236}">
                <a16:creationId xmlns:a16="http://schemas.microsoft.com/office/drawing/2014/main" id="{AE851876-E4F3-42CF-B13E-732A4074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77E9EA1-240A-4A9D-86B1-E823F2B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0A880F-EB7A-4877-9F48-C43A30B7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Арбитр разрывает цикл ожидания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6CD5096-7B1C-4E38-99C6-492D6625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bb13e62b24a2a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F236ABF-78D3-494B-BC1F-3BF65D25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5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704435-51D2-43C5-A95D-8BBA6679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8" name="formula-bg">
            <a:extLst xmlns:a="http://schemas.openxmlformats.org/drawingml/2006/main">
              <a:ext uri="{FF2B5EF4-FFF2-40B4-BE49-F238E27FC236}">
                <a16:creationId xmlns:a16="http://schemas.microsoft.com/office/drawing/2014/main" id="{A1154276-9ACC-4D1B-9A5B-D59D1047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5219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9" name="lv-formulas">
            <a:extLst xmlns:a="http://schemas.openxmlformats.org/drawingml/2006/main">
              <a:ext uri="{FF2B5EF4-FFF2-40B4-BE49-F238E27FC236}">
                <a16:creationId xmlns:a16="http://schemas.microsoft.com/office/drawing/2014/main" id="{ED5EE27F-E01E-4EF1-A773-EDE1C307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85875"/>
            <a:ext cx="46482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M₀(Arbiter) = N − 1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GetLeftᵢ: Arbiter − 1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PutForksᵢ: Arbiter + 1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N = 5 → 4 разрешения</a:t>
            </a:r>
          </a:p>
        </p:txBody>
      </p:sp>
      <p:sp>
        <p:nvSpPr>
          <p:cNvPr id="10" name="lv-meaning">
            <a:extLst xmlns:a="http://schemas.openxmlformats.org/drawingml/2006/main">
              <a:ext uri="{FF2B5EF4-FFF2-40B4-BE49-F238E27FC236}">
                <a16:creationId xmlns:a16="http://schemas.microsoft.com/office/drawing/2014/main" id="{98E47E58-19B5-4074-9F5D-48CFF71D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81125"/>
            <a:ext cx="4667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Одновременно начать захват могут не более N − 1 философов.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Хотя бы один остаётся вне цикла ожидания.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Глобальный deadlock невозможен.</a:t>
            </a:r>
          </a:p>
        </p:txBody>
      </p:sp>
      <p:sp>
        <p:nvSpPr>
          <p:cNvPr id="11" name="period-bg">
            <a:extLst xmlns:a="http://schemas.openxmlformats.org/drawingml/2006/main">
              <a:ext uri="{FF2B5EF4-FFF2-40B4-BE49-F238E27FC236}">
                <a16:creationId xmlns:a16="http://schemas.microsoft.com/office/drawing/2014/main" id="{0511A5E7-A74F-4703-ABCA-9BD93745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2" name="period-value">
            <a:extLst xmlns:a="http://schemas.openxmlformats.org/drawingml/2006/main">
              <a:ext uri="{FF2B5EF4-FFF2-40B4-BE49-F238E27FC236}">
                <a16:creationId xmlns:a16="http://schemas.microsoft.com/office/drawing/2014/main" id="{FDB99F33-5682-4C0B-8DB3-C5B8B0B1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8A5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D8A5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period-caption">
            <a:extLst xmlns:a="http://schemas.openxmlformats.org/drawingml/2006/main">
              <a:ext uri="{FF2B5EF4-FFF2-40B4-BE49-F238E27FC236}">
                <a16:creationId xmlns:a16="http://schemas.microsoft.com/office/drawing/2014/main" id="{BBEDD93C-B6F0-4B1F-8435-EB94DA0A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911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фишки арбитра</a:t>
            </a:r>
          </a:p>
        </p:txBody>
      </p:sp>
      <p:sp>
        <p:nvSpPr>
          <p:cNvPr id="14" name="drift-bg">
            <a:extLst xmlns:a="http://schemas.openxmlformats.org/drawingml/2006/main">
              <a:ext uri="{FF2B5EF4-FFF2-40B4-BE49-F238E27FC236}">
                <a16:creationId xmlns:a16="http://schemas.microsoft.com/office/drawing/2014/main" id="{235B091A-44CB-4BDC-98CB-501D4314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577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5" name="drift-value">
            <a:extLst xmlns:a="http://schemas.openxmlformats.org/drawingml/2006/main">
              <a:ext uri="{FF2B5EF4-FFF2-40B4-BE49-F238E27FC236}">
                <a16:creationId xmlns:a16="http://schemas.microsoft.com/office/drawing/2014/main" id="{9BC52E5B-F448-4230-B5FE-9C7B6737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529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6EA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6EA5"/>
                </a:solidFill>
                <a:latin typeface="Calibri"/>
                <a:ea typeface="Calibri"/>
                <a:cs typeface="Calibri"/>
              </a:rPr>
              <a:t>N − 1</a:t>
            </a:r>
          </a:p>
        </p:txBody>
      </p:sp>
      <p:sp>
        <p:nvSpPr>
          <p:cNvPr id="16" name="drift-caption">
            <a:extLst xmlns:a="http://schemas.openxmlformats.org/drawingml/2006/main">
              <a:ext uri="{FF2B5EF4-FFF2-40B4-BE49-F238E27FC236}">
                <a16:creationId xmlns:a16="http://schemas.microsoft.com/office/drawing/2014/main" id="{9F3E1B8F-C766-47FC-8FE0-8FCB35E2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предел конкуренции</a:t>
            </a:r>
          </a:p>
        </p:txBody>
      </p:sp>
    </p:spTree>
    <p:extLst>
      <p:ext uri="{BB962C8B-B14F-4D97-AF65-F5344CB8AC3E}">
        <p14:creationId xmlns:p14="http://schemas.microsoft.com/office/powerpoint/2010/main" val="2357031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band">
            <a:extLst xmlns:a="http://schemas.openxmlformats.org/drawingml/2006/main">
              <a:ext uri="{FF2B5EF4-FFF2-40B4-BE49-F238E27FC236}">
                <a16:creationId xmlns:a16="http://schemas.microsoft.com/office/drawing/2014/main" id="{4B4A040E-4FA4-4C92-9639-20B50A1D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E2760E0-2BFB-41A3-B4B9-FC44F2B8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12DDF8-2FD0-4D82-98E2-44AD868D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Матрица инцидентности описывает переходы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5E0F864-667E-4385-A6F2-CC1F5D66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ec0ede30948bb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83CD01B-7F94-4DBC-84F5-40CECFAF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5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C7CEEC-053D-4D70-931C-82E3AD18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f5d68561f45e2"/>
          <a:stretch xmlns:a="http://schemas.openxmlformats.org/drawingml/2006/main"/>
        </p:blipFill>
        <p:spPr>
          <a:xfrm xmlns:a="http://schemas.openxmlformats.org/drawingml/2006/main">
            <a:off x="1196578" y="1213842"/>
            <a:ext cx="6369844" cy="4458891"/>
          </a:xfrm>
          <a:prstGeom xmlns:a="http://schemas.openxmlformats.org/drawingml/2006/main" prst="rect">
            <a:avLst/>
          </a:prstGeom>
        </p:spPr>
      </p:pic>
      <p:sp>
        <p:nvSpPr>
          <p:cNvPr id="9" name="states">
            <a:extLst xmlns:a="http://schemas.openxmlformats.org/drawingml/2006/main">
              <a:ext uri="{FF2B5EF4-FFF2-40B4-BE49-F238E27FC236}">
                <a16:creationId xmlns:a16="http://schemas.microsoft.com/office/drawing/2014/main" id="{14E3F9B0-44C3-4EC1-8902-2CA766BD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55270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Столбец — одно событие.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Отрицательный элемент: расход фишки.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Положительный: добавление.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defRPr sz="165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В модификации добавляется строка Arbiter.</a:t>
            </a:r>
          </a:p>
        </p:txBody>
      </p:sp>
    </p:spTree>
    <p:extLst>
      <p:ext uri="{BB962C8B-B14F-4D97-AF65-F5344CB8AC3E}">
        <p14:creationId xmlns:p14="http://schemas.microsoft.com/office/powerpoint/2010/main" val="15861912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band">
            <a:extLst xmlns:a="http://schemas.openxmlformats.org/drawingml/2006/main">
              <a:ext uri="{FF2B5EF4-FFF2-40B4-BE49-F238E27FC236}">
                <a16:creationId xmlns:a16="http://schemas.microsoft.com/office/drawing/2014/main" id="{3EEA6B23-AFB4-4427-A475-AEF5DDAE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30A9777-4FA0-429D-8228-411BC965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6A3BF7-966F-458F-B59D-CE4CCF98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Алгоритм Гиллеспи выбирает время и событие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1C91618-2B9A-40EC-9AA7-257BA9B7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106d26f234caa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EAE11C7-4C12-40DF-87E8-6272C63C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5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A091B3-20E5-4A17-8498-D902EADB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8" name="formula-bg">
            <a:extLst xmlns:a="http://schemas.openxmlformats.org/drawingml/2006/main">
              <a:ext uri="{FF2B5EF4-FFF2-40B4-BE49-F238E27FC236}">
                <a16:creationId xmlns:a16="http://schemas.microsoft.com/office/drawing/2014/main" id="{B1E9D04E-FA55-4CFF-8F43-F473404F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5048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9" name="sir-formulas">
            <a:extLst xmlns:a="http://schemas.openxmlformats.org/drawingml/2006/main">
              <a:ext uri="{FF2B5EF4-FFF2-40B4-BE49-F238E27FC236}">
                <a16:creationId xmlns:a16="http://schemas.microsoft.com/office/drawing/2014/main" id="{E62C42B5-3244-41DB-8CEC-D1C06B6D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43338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a₀ = Σⱼ λⱼ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Δt ~ Exp(a₀)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P(J = j) = λⱼ / a₀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M ← M + C[:, J]</a:t>
            </a:r>
          </a:p>
        </p:txBody>
      </p:sp>
      <p:sp>
        <p:nvSpPr>
          <p:cNvPr id="10" name="sir-meaning">
            <a:extLst xmlns:a="http://schemas.openxmlformats.org/drawingml/2006/main">
              <a:ext uri="{FF2B5EF4-FFF2-40B4-BE49-F238E27FC236}">
                <a16:creationId xmlns:a16="http://schemas.microsoft.com/office/drawing/2014/main" id="{41D19FF8-7068-4D04-B519-53E81611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81125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Суммируются интенсивности только разрешённых переходов.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При a₀ = 0 фиксируется deadlock.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Горизонт эксперимента: 50 единиц времени.</a:t>
            </a:r>
          </a:p>
        </p:txBody>
      </p:sp>
      <p:sp>
        <p:nvSpPr>
          <p:cNvPr id="11" name="r0-bg">
            <a:extLst xmlns:a="http://schemas.openxmlformats.org/drawingml/2006/main">
              <a:ext uri="{FF2B5EF4-FFF2-40B4-BE49-F238E27FC236}">
                <a16:creationId xmlns:a16="http://schemas.microsoft.com/office/drawing/2014/main" id="{DDA48782-AECC-4910-B9D2-3F299558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2209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2" name="r0-value">
            <a:extLst xmlns:a="http://schemas.openxmlformats.org/drawingml/2006/main">
              <a:ext uri="{FF2B5EF4-FFF2-40B4-BE49-F238E27FC236}">
                <a16:creationId xmlns:a16="http://schemas.microsoft.com/office/drawing/2014/main" id="{B18707AA-ED3C-4619-A9B6-DFF0176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95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2 / 1 / 1,4</a:t>
            </a:r>
          </a:p>
        </p:txBody>
      </p:sp>
      <p:sp>
        <p:nvSpPr>
          <p:cNvPr id="13" name="r0-caption">
            <a:extLst xmlns:a="http://schemas.openxmlformats.org/drawingml/2006/main">
              <a:ext uri="{FF2B5EF4-FFF2-40B4-BE49-F238E27FC236}">
                <a16:creationId xmlns:a16="http://schemas.microsoft.com/office/drawing/2014/main" id="{A58DA480-4E37-4926-931E-A697D701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339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интенсивности событий</a:t>
            </a:r>
          </a:p>
        </p:txBody>
      </p:sp>
      <p:sp>
        <p:nvSpPr>
          <p:cNvPr id="14" name="peak-bg">
            <a:extLst xmlns:a="http://schemas.openxmlformats.org/drawingml/2006/main">
              <a:ext uri="{FF2B5EF4-FFF2-40B4-BE49-F238E27FC236}">
                <a16:creationId xmlns:a16="http://schemas.microsoft.com/office/drawing/2014/main" id="{057DFCE5-9E6A-4EC5-AF80-3D23DC91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00550"/>
            <a:ext cx="2209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5" name="peak-value">
            <a:extLst xmlns:a="http://schemas.openxmlformats.org/drawingml/2006/main">
              <a:ext uri="{FF2B5EF4-FFF2-40B4-BE49-F238E27FC236}">
                <a16:creationId xmlns:a16="http://schemas.microsoft.com/office/drawing/2014/main" id="{25877720-9526-4D97-B9EA-1C32D0D9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  <p:sp>
        <p:nvSpPr>
          <p:cNvPr id="16" name="peak-caption">
            <a:extLst xmlns:a="http://schemas.openxmlformats.org/drawingml/2006/main">
              <a:ext uri="{FF2B5EF4-FFF2-40B4-BE49-F238E27FC236}">
                <a16:creationId xmlns:a16="http://schemas.microsoft.com/office/drawing/2014/main" id="{7005C71B-CBA1-467E-AD9C-32FB3711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339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горизонт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15847899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F6DA7DFC-D303-45C7-932C-2B94A3AE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E13BE153-F224-4FFB-A6F8-60B72D8F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8A92CE-6E00-4040-9EA3-57F7709C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Вычислительный конвейер связывает исходники и результаты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AC0AB2-F232-4224-990D-03B69F9F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74c183fbc4419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F67D68B-5FBC-4A0B-927B-439ED043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5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6334E4-9415-4008-9646-364F276B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a4c96a3154fef"/>
          <a:stretch xmlns:a="http://schemas.openxmlformats.org/drawingml/2006/main"/>
        </p:blipFill>
        <p:spPr>
          <a:xfrm xmlns:a="http://schemas.openxmlformats.org/drawingml/2006/main">
            <a:off x="552450" y="1267420"/>
            <a:ext cx="7143749" cy="4018359"/>
          </a:xfrm>
          <a:prstGeom xmlns:a="http://schemas.openxmlformats.org/drawingml/2006/main" prst="rect">
            <a:avLst/>
          </a:prstGeom>
        </p:spPr>
      </p:pic>
      <p:sp>
        <p:nvSpPr>
          <p:cNvPr id="9" name="pipeline">
            <a:extLst xmlns:a="http://schemas.openxmlformats.org/drawingml/2006/main">
              <a:ext uri="{FF2B5EF4-FFF2-40B4-BE49-F238E27FC236}">
                <a16:creationId xmlns:a16="http://schemas.microsoft.com/office/drawing/2014/main" id="{A132DAB6-9E24-4B67-8EEE-3D0F2420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6680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Literate.jl → Julia → Jupyter → Quarto</a:t>
            </a:r>
          </a:p>
        </p:txBody>
      </p:sp>
      <p:sp>
        <p:nvSpPr>
          <p:cNvPr id="10" name="versions">
            <a:extLst xmlns:a="http://schemas.openxmlformats.org/drawingml/2006/main">
              <a:ext uri="{FF2B5EF4-FFF2-40B4-BE49-F238E27FC236}">
                <a16:creationId xmlns:a16="http://schemas.microsoft.com/office/drawing/2014/main" id="{A0225854-4DE9-4CAF-B50B-6816A356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31051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Julia 1.11.9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DifferentialEquations.jl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DataFrames.jl и CSV.jl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Plots.jl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IJulia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23 автоматических теста.</a:t>
            </a:r>
          </a:p>
        </p:txBody>
      </p:sp>
    </p:spTree>
    <p:extLst>
      <p:ext uri="{BB962C8B-B14F-4D97-AF65-F5344CB8AC3E}">
        <p14:creationId xmlns:p14="http://schemas.microsoft.com/office/powerpoint/2010/main" val="12214848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691d686d744b2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Результаты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Базовый эксперимент для пяти философов.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Сравнение дискретных маркировок и 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Параметрическая серия для N от 3 до 8.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5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 базовом опыте арбитр сохраняет работу сети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d8bb55a224afa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5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При одинаковых интенсивностях 2,0 / 1,0 / 1,4 варианты дают разные исходы.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Показатель                       Классическая        С арбитром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Deadlock                                да                          нет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Число событий                       5                            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Приёмы пищи                         0                            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Индекс Джейна                       0,0000                  0,9109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Горизонт моделирования: 50 единиц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band">
            <a:extLst xmlns:a="http://schemas.openxmlformats.org/drawingml/2006/main">
              <a:ext uri="{FF2B5EF4-FFF2-40B4-BE49-F238E27FC236}">
                <a16:creationId xmlns:a16="http://schemas.microsoft.com/office/drawing/2014/main" id="{F74FD5CC-8C38-411D-852B-0B38664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04E7823-61B5-47C3-B669-C35B8872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DD099D-979B-4597-9650-C67ED027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Классическая маркировка замирает после пяти событий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F46DE4-DC52-45DC-98B8-BF3E30BE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25358ec124954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CA48063-C26A-4267-AF5D-F662627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5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3554BD-DC5A-4F9E-A33E-16ACB139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8903fef4a4f4a"/>
          <a:stretch xmlns:a="http://schemas.openxmlformats.org/drawingml/2006/main"/>
        </p:blipFill>
        <p:spPr>
          <a:xfrm xmlns:a="http://schemas.openxmlformats.org/drawingml/2006/main">
            <a:off x="495300" y="1105853"/>
            <a:ext cx="7524750" cy="4665345"/>
          </a:xfrm>
          <a:prstGeom xmlns:a="http://schemas.openxmlformats.org/drawingml/2006/main" prst="rect">
            <a:avLst/>
          </a:prstGeom>
        </p:spPr>
      </p:pic>
      <p:sp>
        <p:nvSpPr>
          <p:cNvPr id="9" name="imax-bg">
            <a:extLst xmlns:a="http://schemas.openxmlformats.org/drawingml/2006/main">
              <a:ext uri="{FF2B5EF4-FFF2-40B4-BE49-F238E27FC236}">
                <a16:creationId xmlns:a16="http://schemas.microsoft.com/office/drawing/2014/main" id="{23FB6D0B-5E2B-4B1C-B750-E19EAA83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49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0" name="imax-value">
            <a:extLst xmlns:a="http://schemas.openxmlformats.org/drawingml/2006/main">
              <a:ext uri="{FF2B5EF4-FFF2-40B4-BE49-F238E27FC236}">
                <a16:creationId xmlns:a16="http://schemas.microsoft.com/office/drawing/2014/main" id="{B29A502F-6BBC-4C15-80AF-7B56141F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0,5973</a:t>
            </a:r>
          </a:p>
        </p:txBody>
      </p:sp>
      <p:sp>
        <p:nvSpPr>
          <p:cNvPr id="11" name="imax-caption">
            <a:extLst xmlns:a="http://schemas.openxmlformats.org/drawingml/2006/main">
              <a:ext uri="{FF2B5EF4-FFF2-40B4-BE49-F238E27FC236}">
                <a16:creationId xmlns:a16="http://schemas.microsoft.com/office/drawing/2014/main" id="{EAFCEBFD-3EED-4A83-91F8-2D01A6C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383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время deadlock</a:t>
            </a:r>
          </a:p>
        </p:txBody>
      </p:sp>
      <p:sp>
        <p:nvSpPr>
          <p:cNvPr id="12" name="tpeak-bg">
            <a:extLst xmlns:a="http://schemas.openxmlformats.org/drawingml/2006/main">
              <a:ext uri="{FF2B5EF4-FFF2-40B4-BE49-F238E27FC236}">
                <a16:creationId xmlns:a16="http://schemas.microsoft.com/office/drawing/2014/main" id="{CB68471B-DC2C-40D6-8738-71969ACC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3" name="tpeak-value">
            <a:extLst xmlns:a="http://schemas.openxmlformats.org/drawingml/2006/main">
              <a:ext uri="{FF2B5EF4-FFF2-40B4-BE49-F238E27FC236}">
                <a16:creationId xmlns:a16="http://schemas.microsoft.com/office/drawing/2014/main" id="{C9732CBD-5B35-4487-81E3-94F91DA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4" name="tpeak-caption">
            <a:extLst xmlns:a="http://schemas.openxmlformats.org/drawingml/2006/main">
              <a:ext uri="{FF2B5EF4-FFF2-40B4-BE49-F238E27FC236}">
                <a16:creationId xmlns:a16="http://schemas.microsoft.com/office/drawing/2014/main" id="{6422106B-D159-415D-9E44-6C792AC7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событий до остановки</a:t>
            </a:r>
          </a:p>
        </p:txBody>
      </p:sp>
      <p:sp>
        <p:nvSpPr>
          <p:cNvPr id="15" name="rend-bg">
            <a:extLst xmlns:a="http://schemas.openxmlformats.org/drawingml/2006/main">
              <a:ext uri="{FF2B5EF4-FFF2-40B4-BE49-F238E27FC236}">
                <a16:creationId xmlns:a16="http://schemas.microsoft.com/office/drawing/2014/main" id="{04381D42-5BF5-4983-B4EB-47C62156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6" name="rend-value">
            <a:extLst xmlns:a="http://schemas.openxmlformats.org/drawingml/2006/main">
              <a:ext uri="{FF2B5EF4-FFF2-40B4-BE49-F238E27FC236}">
                <a16:creationId xmlns:a16="http://schemas.microsoft.com/office/drawing/2014/main" id="{EC23F540-774E-44A3-BED8-2FFF4B9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42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8A5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D8A5B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7" name="rend-caption">
            <a:extLst xmlns:a="http://schemas.openxmlformats.org/drawingml/2006/main">
              <a:ext uri="{FF2B5EF4-FFF2-40B4-BE49-F238E27FC236}">
                <a16:creationId xmlns:a16="http://schemas.microsoft.com/office/drawing/2014/main" id="{BA2CD5D3-B265-4D73-B512-FE1B147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завершённых приёмов пищи</a:t>
            </a:r>
          </a:p>
        </p:txBody>
      </p:sp>
      <p:sp>
        <p:nvSpPr>
          <p:cNvPr id="18" name="drift">
            <a:extLst xmlns:a="http://schemas.openxmlformats.org/drawingml/2006/main">
              <a:ext uri="{FF2B5EF4-FFF2-40B4-BE49-F238E27FC236}">
                <a16:creationId xmlns:a16="http://schemas.microsoft.com/office/drawing/2014/main" id="{5C0C9BC5-8FBE-41DE-AA12-9933C1D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Все пять левых вилок захвачены.</a:t>
            </a:r>
          </a:p>
        </p:txBody>
      </p:sp>
    </p:spTree>
    <p:extLst>
      <p:ext uri="{BB962C8B-B14F-4D97-AF65-F5344CB8AC3E}">
        <p14:creationId xmlns:p14="http://schemas.microsoft.com/office/powerpoint/2010/main" val="15480199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band">
            <a:extLst xmlns:a="http://schemas.openxmlformats.org/drawingml/2006/main">
              <a:ext uri="{FF2B5EF4-FFF2-40B4-BE49-F238E27FC236}">
                <a16:creationId xmlns:a16="http://schemas.microsoft.com/office/drawing/2014/main" id="{F74FD5CC-8C38-411D-852B-0B38664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04E7823-61B5-47C3-B669-C35B8872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DD099D-979B-4597-9650-C67ED027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Арбитр поддерживает смену маркировок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F46DE4-DC52-45DC-98B8-BF3E30BE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4ea7781b64b58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CA48063-C26A-4267-AF5D-F662627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5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3554BD-DC5A-4F9E-A33E-16ACB139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3afa425074494"/>
          <a:stretch xmlns:a="http://schemas.openxmlformats.org/drawingml/2006/main"/>
        </p:blipFill>
        <p:spPr>
          <a:xfrm xmlns:a="http://schemas.openxmlformats.org/drawingml/2006/main">
            <a:off x="495300" y="1105853"/>
            <a:ext cx="7524750" cy="4665345"/>
          </a:xfrm>
          <a:prstGeom xmlns:a="http://schemas.openxmlformats.org/drawingml/2006/main" prst="rect">
            <a:avLst/>
          </a:prstGeom>
        </p:spPr>
      </p:pic>
      <p:sp>
        <p:nvSpPr>
          <p:cNvPr id="9" name="imax-bg">
            <a:extLst xmlns:a="http://schemas.openxmlformats.org/drawingml/2006/main">
              <a:ext uri="{FF2B5EF4-FFF2-40B4-BE49-F238E27FC236}">
                <a16:creationId xmlns:a16="http://schemas.microsoft.com/office/drawing/2014/main" id="{23FB6D0B-5E2B-4B1C-B750-E19EAA83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49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0" name="imax-value">
            <a:extLst xmlns:a="http://schemas.openxmlformats.org/drawingml/2006/main">
              <a:ext uri="{FF2B5EF4-FFF2-40B4-BE49-F238E27FC236}">
                <a16:creationId xmlns:a16="http://schemas.microsoft.com/office/drawing/2014/main" id="{B29A502F-6BBC-4C15-80AF-7B56141F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98</a:t>
            </a:r>
          </a:p>
        </p:txBody>
      </p:sp>
      <p:sp>
        <p:nvSpPr>
          <p:cNvPr id="11" name="imax-caption">
            <a:extLst xmlns:a="http://schemas.openxmlformats.org/drawingml/2006/main">
              <a:ext uri="{FF2B5EF4-FFF2-40B4-BE49-F238E27FC236}">
                <a16:creationId xmlns:a16="http://schemas.microsoft.com/office/drawing/2014/main" id="{EAFCEBFD-3EED-4A83-91F8-2D01A6C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383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событий</a:t>
            </a:r>
          </a:p>
        </p:txBody>
      </p:sp>
      <p:sp>
        <p:nvSpPr>
          <p:cNvPr id="12" name="tpeak-bg">
            <a:extLst xmlns:a="http://schemas.openxmlformats.org/drawingml/2006/main">
              <a:ext uri="{FF2B5EF4-FFF2-40B4-BE49-F238E27FC236}">
                <a16:creationId xmlns:a16="http://schemas.microsoft.com/office/drawing/2014/main" id="{CB68471B-DC2C-40D6-8738-71969ACC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3" name="tpeak-value">
            <a:extLst xmlns:a="http://schemas.openxmlformats.org/drawingml/2006/main">
              <a:ext uri="{FF2B5EF4-FFF2-40B4-BE49-F238E27FC236}">
                <a16:creationId xmlns:a16="http://schemas.microsoft.com/office/drawing/2014/main" id="{C9732CBD-5B35-4487-81E3-94F91DA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14" name="tpeak-caption">
            <a:extLst xmlns:a="http://schemas.openxmlformats.org/drawingml/2006/main">
              <a:ext uri="{FF2B5EF4-FFF2-40B4-BE49-F238E27FC236}">
                <a16:creationId xmlns:a16="http://schemas.microsoft.com/office/drawing/2014/main" id="{6422106B-D159-415D-9E44-6C792AC7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приём пищи</a:t>
            </a:r>
          </a:p>
        </p:txBody>
      </p:sp>
      <p:sp>
        <p:nvSpPr>
          <p:cNvPr id="15" name="rend-bg">
            <a:extLst xmlns:a="http://schemas.openxmlformats.org/drawingml/2006/main">
              <a:ext uri="{FF2B5EF4-FFF2-40B4-BE49-F238E27FC236}">
                <a16:creationId xmlns:a16="http://schemas.microsoft.com/office/drawing/2014/main" id="{04381D42-5BF5-4983-B4EB-47C62156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6" name="rend-value">
            <a:extLst xmlns:a="http://schemas.openxmlformats.org/drawingml/2006/main">
              <a:ext uri="{FF2B5EF4-FFF2-40B4-BE49-F238E27FC236}">
                <a16:creationId xmlns:a16="http://schemas.microsoft.com/office/drawing/2014/main" id="{EC23F540-774E-44A3-BED8-2FFF4B9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42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8A5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D8A5B"/>
                </a:solidFill>
                <a:latin typeface="Calibri"/>
                <a:ea typeface="Calibri"/>
                <a:cs typeface="Calibri"/>
              </a:rPr>
              <a:t>0,9109</a:t>
            </a:r>
          </a:p>
        </p:txBody>
      </p:sp>
      <p:sp>
        <p:nvSpPr>
          <p:cNvPr id="17" name="rend-caption">
            <a:extLst xmlns:a="http://schemas.openxmlformats.org/drawingml/2006/main">
              <a:ext uri="{FF2B5EF4-FFF2-40B4-BE49-F238E27FC236}">
                <a16:creationId xmlns:a16="http://schemas.microsoft.com/office/drawing/2014/main" id="{BA2CD5D3-B265-4D73-B512-FE1B147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индекс Джейна</a:t>
            </a:r>
          </a:p>
        </p:txBody>
      </p:sp>
      <p:sp>
        <p:nvSpPr>
          <p:cNvPr id="18" name="drift">
            <a:extLst xmlns:a="http://schemas.openxmlformats.org/drawingml/2006/main">
              <a:ext uri="{FF2B5EF4-FFF2-40B4-BE49-F238E27FC236}">
                <a16:creationId xmlns:a16="http://schemas.microsoft.com/office/drawing/2014/main" id="{5C0C9BC5-8FBE-41DE-AA12-9933C1D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Последнее событие при t = 48,9047.</a:t>
            </a:r>
          </a:p>
        </p:txBody>
      </p:sp>
    </p:spTree>
    <p:extLst>
      <p:ext uri="{BB962C8B-B14F-4D97-AF65-F5344CB8AC3E}">
        <p14:creationId xmlns:p14="http://schemas.microsoft.com/office/powerpoint/2010/main" val="15480199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97E662BC-85D8-46EB-A645-0207A7B6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AECACF40-E972-4C5C-9D82-E920C434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A0F080-7270-4A74-97C7-3BCD4C00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Позиции Eat активируются только в рабочей сети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9DCE7D4-1781-4F89-BA7A-98A6C868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ac3cde11549bf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81C67C-2B86-4F50-BF31-D7FC4B3C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5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A6D7F7-B636-4BA1-A9D4-58AD51F8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89feaa15c472c"/>
          <a:stretch xmlns:a="http://schemas.openxmlformats.org/drawingml/2006/main"/>
        </p:blipFill>
        <p:spPr>
          <a:xfrm xmlns:a="http://schemas.openxmlformats.org/drawingml/2006/main">
            <a:off x="1498451" y="1062228"/>
            <a:ext cx="5613699" cy="4771644"/>
          </a:xfrm>
          <a:prstGeom xmlns:a="http://schemas.openxmlformats.org/drawingml/2006/main" prst="rect">
            <a:avLst/>
          </a:prstGeom>
        </p:spPr>
      </p:pic>
      <p:sp>
        <p:nvSpPr>
          <p:cNvPr id="9" name="lv-metrics">
            <a:extLst xmlns:a="http://schemas.openxmlformats.org/drawingml/2006/main">
              <a:ext uri="{FF2B5EF4-FFF2-40B4-BE49-F238E27FC236}">
                <a16:creationId xmlns:a16="http://schemas.microsoft.com/office/drawing/2014/main" id="{8F200868-6BF2-4C9D-9209-E1DB3409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47800"/>
            <a:ext cx="26098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Классическая сеть:</a:t>
            </a:r>
          </a:p>
          <a:p xmlns:a="http://schemas.openxmlformats.org/drawingml/2006/main">
            <a:pPr algn="l">
              <a:defRPr sz="1725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0 приёмов пищи.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defRPr sz="1725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С арбитром: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5, 10, 5, 5, 6</a:t>
            </a:r>
          </a:p>
          <a:p xmlns:a="http://schemas.openxmlformats.org/drawingml/2006/main">
            <a:pPr algn="l">
              <a:defRPr sz="1725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приёмов по философам.</a:t>
            </a:r>
          </a:p>
        </p:txBody>
      </p:sp>
      <p:sp>
        <p:nvSpPr>
          <p:cNvPr id="10" name="lv-takeaway">
            <a:extLst xmlns:a="http://schemas.openxmlformats.org/drawingml/2006/main">
              <a:ext uri="{FF2B5EF4-FFF2-40B4-BE49-F238E27FC236}">
                <a16:creationId xmlns:a16="http://schemas.microsoft.com/office/drawing/2014/main" id="{9DB94CF0-4DC2-4C75-A4FE-51097031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053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Отсутствие deadlock не означает одинаковое число приёмов пищи.</a:t>
            </a:r>
          </a:p>
        </p:txBody>
      </p:sp>
    </p:spTree>
    <p:extLst>
      <p:ext uri="{BB962C8B-B14F-4D97-AF65-F5344CB8AC3E}">
        <p14:creationId xmlns:p14="http://schemas.microsoft.com/office/powerpoint/2010/main" val="6571162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band">
            <a:extLst xmlns:a="http://schemas.openxmlformats.org/drawingml/2006/main">
              <a:ext uri="{FF2B5EF4-FFF2-40B4-BE49-F238E27FC236}">
                <a16:creationId xmlns:a16="http://schemas.microsoft.com/office/drawing/2014/main" id="{4B4A040E-4FA4-4C92-9639-20B50A1D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E2760E0-2BFB-41A3-B4B9-FC44F2B8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12DDF8-2FD0-4D82-98E2-44AD868D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ODE дополняет дискретную траекторию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5E0F864-667E-4385-A6F2-CC1F5D66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fab885ef44d9b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83CD01B-7F94-4DBC-84F5-40CECFAF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5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C7CEEC-053D-4D70-931C-82E3AD18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7f276d484401c"/>
          <a:stretch xmlns:a="http://schemas.openxmlformats.org/drawingml/2006/main"/>
        </p:blipFill>
        <p:spPr>
          <a:xfrm xmlns:a="http://schemas.openxmlformats.org/drawingml/2006/main">
            <a:off x="1196578" y="1468636"/>
            <a:ext cx="6369844" cy="3949303"/>
          </a:xfrm>
          <a:prstGeom xmlns:a="http://schemas.openxmlformats.org/drawingml/2006/main" prst="rect">
            <a:avLst/>
          </a:prstGeom>
        </p:spPr>
      </p:pic>
      <p:sp>
        <p:nvSpPr>
          <p:cNvPr id="9" name="states">
            <a:extLst xmlns:a="http://schemas.openxmlformats.org/drawingml/2006/main">
              <a:ext uri="{FF2B5EF4-FFF2-40B4-BE49-F238E27FC236}">
                <a16:creationId xmlns:a16="http://schemas.microsoft.com/office/drawing/2014/main" id="{14E3F9B0-44C3-4EC1-8902-2CA766BD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55270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Массовое действие задаёт непрерывные потоки.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Решение не является целочисленной маркировкой.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ODE не заменяет проверку дискретного deadlock.</a:t>
            </a:r>
          </a:p>
        </p:txBody>
      </p:sp>
    </p:spTree>
    <p:extLst>
      <p:ext uri="{BB962C8B-B14F-4D97-AF65-F5344CB8AC3E}">
        <p14:creationId xmlns:p14="http://schemas.microsoft.com/office/powerpoint/2010/main" val="15861912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Параметрическая серия включает 960 траекторий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579d1b98243b4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5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Проверяется влияние числа философов и интенсивности захвата левой вилки.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N = 3, 4, 5, 6, 7, 8;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λL = 1,0; 1,5; 2,0; 3,0;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20 повторов каждой комбинации;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два варианта сети;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горизонт каждого прогона: 50;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фиксированные начальные состояния генератора.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B71F5F6-248A-493A-BFF4-DB5B4A22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B5CB7FF-FF77-40E6-A4F7-D6586C90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042EA1-0509-47F7-86ED-55527639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 серии deadlock наблюдался только без арбитра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0DFCD4F-FB53-4C73-8295-9DB007A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bfd89d49d4e12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7E8B0EB-4DA1-4111-8E40-6CB1D9B0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5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622E43-05B3-40DE-ABF3-C0322559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7308455aa49c9"/>
          <a:stretch xmlns:a="http://schemas.openxmlformats.org/drawingml/2006/main"/>
        </p:blipFill>
        <p:spPr>
          <a:xfrm xmlns:a="http://schemas.openxmlformats.org/drawingml/2006/main">
            <a:off x="476250" y="1106329"/>
            <a:ext cx="7477125" cy="4635818"/>
          </a:xfrm>
          <a:prstGeom xmlns:a="http://schemas.openxmlformats.org/drawingml/2006/main" prst="rect">
            <a:avLst/>
          </a:prstGeom>
        </p:spPr>
      </p:pic>
      <p:sp>
        <p:nvSpPr>
          <p:cNvPr id="9" name="scan-table">
            <a:extLst xmlns:a="http://schemas.openxmlformats.org/drawingml/2006/main">
              <a:ext uri="{FF2B5EF4-FFF2-40B4-BE49-F238E27FC236}">
                <a16:creationId xmlns:a16="http://schemas.microsoft.com/office/drawing/2014/main" id="{B690B6A6-A35B-4EFA-A6BD-EF554132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57300"/>
            <a:ext cx="26860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Доля остановок: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Классическая: 1,0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С арбитром: 0,0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Всего 960 прогонов.</a:t>
            </a:r>
          </a:p>
        </p:txBody>
      </p:sp>
      <p:sp>
        <p:nvSpPr>
          <p:cNvPr id="10" name="scan-takeaway">
            <a:extLst xmlns:a="http://schemas.openxmlformats.org/drawingml/2006/main">
              <a:ext uri="{FF2B5EF4-FFF2-40B4-BE49-F238E27FC236}">
                <a16:creationId xmlns:a16="http://schemas.microsoft.com/office/drawing/2014/main" id="{8005A1C6-3D7F-4B44-8EF5-7DFA0DF1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00500"/>
            <a:ext cx="3124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Это наблюдаемая частота на заданном горизонте, а не оценка для всех возможных запусков.</a:t>
            </a:r>
          </a:p>
        </p:txBody>
      </p:sp>
    </p:spTree>
    <p:extLst>
      <p:ext uri="{BB962C8B-B14F-4D97-AF65-F5344CB8AC3E}">
        <p14:creationId xmlns:p14="http://schemas.microsoft.com/office/powerpoint/2010/main" val="15753328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B71F5F6-248A-493A-BFF4-DB5B4A22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B5CB7FF-FF77-40E6-A4F7-D6586C90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042EA1-0509-47F7-86ED-55527639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Рабочая сеть сохраняет производительность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0DFCD4F-FB53-4C73-8295-9DB007A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3cb994a934173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7E8B0EB-4DA1-4111-8E40-6CB1D9B0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5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622E43-05B3-40DE-ABF3-C0322559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e41dc71154b80"/>
          <a:stretch xmlns:a="http://schemas.openxmlformats.org/drawingml/2006/main"/>
        </p:blipFill>
        <p:spPr>
          <a:xfrm xmlns:a="http://schemas.openxmlformats.org/drawingml/2006/main">
            <a:off x="476250" y="1804194"/>
            <a:ext cx="7477125" cy="3240088"/>
          </a:xfrm>
          <a:prstGeom xmlns:a="http://schemas.openxmlformats.org/drawingml/2006/main" prst="rect">
            <a:avLst/>
          </a:prstGeom>
        </p:spPr>
      </p:pic>
      <p:sp>
        <p:nvSpPr>
          <p:cNvPr id="9" name="scan-table">
            <a:extLst xmlns:a="http://schemas.openxmlformats.org/drawingml/2006/main">
              <a:ext uri="{FF2B5EF4-FFF2-40B4-BE49-F238E27FC236}">
                <a16:creationId xmlns:a16="http://schemas.microsoft.com/office/drawing/2014/main" id="{B690B6A6-A35B-4EFA-A6BD-EF554132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57300"/>
            <a:ext cx="26860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При λL = 2: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29–31 приём пищи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в среднем.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Индекс Джейна: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0,83–0,94.</a:t>
            </a:r>
          </a:p>
        </p:txBody>
      </p:sp>
      <p:sp>
        <p:nvSpPr>
          <p:cNvPr id="10" name="scan-takeaway">
            <a:extLst xmlns:a="http://schemas.openxmlformats.org/drawingml/2006/main">
              <a:ext uri="{FF2B5EF4-FFF2-40B4-BE49-F238E27FC236}">
                <a16:creationId xmlns:a16="http://schemas.microsoft.com/office/drawing/2014/main" id="{8005A1C6-3D7F-4B44-8EF5-7DFA0DF1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00500"/>
            <a:ext cx="3124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Увеличение числа участников распределяет ограниченный ресурс между большим числом философов.</a:t>
            </a:r>
          </a:p>
        </p:txBody>
      </p:sp>
    </p:spTree>
    <p:extLst>
      <p:ext uri="{BB962C8B-B14F-4D97-AF65-F5344CB8AC3E}">
        <p14:creationId xmlns:p14="http://schemas.microsoft.com/office/powerpoint/2010/main" val="15753328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band">
            <a:extLst xmlns:a="http://schemas.openxmlformats.org/drawingml/2006/main">
              <a:ext uri="{FF2B5EF4-FFF2-40B4-BE49-F238E27FC236}">
                <a16:creationId xmlns:a16="http://schemas.microsoft.com/office/drawing/2014/main" id="{AF2585DF-AC5B-4323-9E8D-F5DD6ADE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961FBD9-A3D3-4B4D-8148-6A8EA058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1B50FA-2F33-49D5-92A3-2006E35C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Блокноты сохраняют код и фактические результаты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624C76B-A866-4FC3-BD4F-676A5F42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d79029fbb4c5b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F359995-F295-4F48-BFC9-5FDCEDF7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5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8B0D7C-16CB-40EC-970C-B3565A5F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a54a79a1a4895"/>
          <a:stretch xmlns:a="http://schemas.openxmlformats.org/drawingml/2006/main"/>
        </p:blipFill>
        <p:spPr>
          <a:xfrm xmlns:a="http://schemas.openxmlformats.org/drawingml/2006/main">
            <a:off x="495300" y="1640086"/>
            <a:ext cx="5429250" cy="3053953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52d2fde4c4e74"/>
          <a:stretch xmlns:a="http://schemas.openxmlformats.org/drawingml/2006/main"/>
        </p:blipFill>
        <p:spPr>
          <a:xfrm xmlns:a="http://schemas.openxmlformats.org/drawingml/2006/main">
            <a:off x="6267450" y="1640086"/>
            <a:ext cx="5429250" cy="3053953"/>
          </a:xfrm>
          <a:prstGeom xmlns:a="http://schemas.openxmlformats.org/drawingml/2006/main" prst="rect">
            <a:avLst/>
          </a:prstGeom>
        </p:spPr>
      </p:pic>
      <p:sp>
        <p:nvSpPr>
          <p:cNvPr id="10" name="sir-label">
            <a:extLst xmlns:a="http://schemas.openxmlformats.org/drawingml/2006/main">
              <a:ext uri="{FF2B5EF4-FFF2-40B4-BE49-F238E27FC236}">
                <a16:creationId xmlns:a16="http://schemas.microsoft.com/office/drawing/2014/main" id="{2E8BCE43-1A01-4261-B5EA-2E52C715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Базовая траектория</a:t>
            </a:r>
          </a:p>
        </p:txBody>
      </p:sp>
      <p:sp>
        <p:nvSpPr>
          <p:cNvPr id="11" name="lv-label">
            <a:extLst xmlns:a="http://schemas.openxmlformats.org/drawingml/2006/main">
              <a:ext uri="{FF2B5EF4-FFF2-40B4-BE49-F238E27FC236}">
                <a16:creationId xmlns:a16="http://schemas.microsoft.com/office/drawing/2014/main" id="{9A8A30A9-3164-4FDB-BCBF-1144A379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410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Параметрическая серия</a:t>
            </a:r>
          </a:p>
        </p:txBody>
      </p:sp>
    </p:spTree>
    <p:extLst>
      <p:ext uri="{BB962C8B-B14F-4D97-AF65-F5344CB8AC3E}">
        <p14:creationId xmlns:p14="http://schemas.microsoft.com/office/powerpoint/2010/main" val="4138984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band">
            <a:extLst xmlns:a="http://schemas.openxmlformats.org/drawingml/2006/main">
              <a:ext uri="{FF2B5EF4-FFF2-40B4-BE49-F238E27FC236}">
                <a16:creationId xmlns:a16="http://schemas.microsoft.com/office/drawing/2014/main" id="{6D573241-9EE9-4DF9-8086-F9A4F38D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F6378DF-5E8F-4722-97E0-1107CA5B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D81CC7-CBD2-4703-970A-156532EF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Все 23 теста модели пройдены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606674E-824A-4C30-AC07-9394E7D2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beeffce924ec7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B26CBF1-396E-4033-AAF9-48927138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5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627C61-6ADF-48E9-A24A-976D6E94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b46161f8444de"/>
          <a:stretch xmlns:a="http://schemas.openxmlformats.org/drawingml/2006/main"/>
        </p:blipFill>
        <p:spPr>
          <a:xfrm xmlns:a="http://schemas.openxmlformats.org/drawingml/2006/main">
            <a:off x="514350" y="1241822"/>
            <a:ext cx="7200900" cy="4050506"/>
          </a:xfrm>
          <a:prstGeom xmlns:a="http://schemas.openxmlformats.org/drawingml/2006/main" prst="rect">
            <a:avLst/>
          </a:prstGeom>
        </p:spPr>
      </p:pic>
      <p:sp>
        <p:nvSpPr>
          <p:cNvPr id="9" name="test-list">
            <a:extLst xmlns:a="http://schemas.openxmlformats.org/drawingml/2006/main">
              <a:ext uri="{FF2B5EF4-FFF2-40B4-BE49-F238E27FC236}">
                <a16:creationId xmlns:a16="http://schemas.microsoft.com/office/drawing/2014/main" id="{C4D7CFCF-E677-40A4-ABD8-F9C618B5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57300"/>
            <a:ext cx="321945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✓ размерности сетей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✓ начальная маркировка</a:t>
            </a:r>
          </a:p>
          <a:p xmlns:a="http://schemas.openxmlformats.org/drawingml/2006/main">
            <a:pPr algn="l">
              <a:defRPr sz="165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✓ срабатывание событий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✓ известный deadlock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✓ активность арбитра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✓ неотрицательность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✓ ODE и индекс Джейна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Ошибок не обнаружено.</a:t>
            </a:r>
          </a:p>
        </p:txBody>
      </p:sp>
    </p:spTree>
    <p:extLst>
      <p:ext uri="{BB962C8B-B14F-4D97-AF65-F5344CB8AC3E}">
        <p14:creationId xmlns:p14="http://schemas.microsoft.com/office/powerpoint/2010/main" val="606782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5656585e74b47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Заключение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Классическая стратегия допускает глобальную остановку.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Арбитр устраняет цикл захвата всех вилок.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Данные, блокноты и тесты согласуются с устройством сети.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5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ab77165cc4fad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Арбитр устраняет deadlock,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но не гарантирует равномерность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Классическая сеть остановилась после 5 событий.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Сеть с арбитром завершила 31 приём пищи.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960 прогонов показали различие двух структур.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Индекс Джейна базового опыта — 0,9109.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Получены Julia, IPYNB, QMD, DOCX, PDF, HTML и PPTX.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5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2026-08-30T23:44:32.8170000Z</dcterms:created>
  <dcterms:modified xsi:type="dcterms:W3CDTF">2026-08-30T23:44:32.8170000Z</dcterms:modified>
</coreProperties>
</file>