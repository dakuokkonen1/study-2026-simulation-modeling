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6a8c79f19ce4f46" /><Relationship Type="http://schemas.openxmlformats.org/officeDocument/2006/relationships/extended-properties" Target="/docProps/app.xml" Id="Rd1788a78a6e2427b" /><Relationship Type="http://schemas.openxmlformats.org/officeDocument/2006/relationships/officeDocument" Target="/ppt/presentation.xml" Id="R9546fb1b9adc402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fb25e84e71c4bff"/>
  </p:sldMasterIdLst>
  <p:notesMasterIdLst>
    <p:notesMasterId xmlns:r="http://schemas.openxmlformats.org/officeDocument/2006/relationships" r:id="Re5f4a600bf774dd3"/>
  </p:notesMasterIdLst>
  <p:sldIdLst>
    <p:sldId xmlns:r="http://schemas.openxmlformats.org/officeDocument/2006/relationships" id="256" r:id="R738a15b0fb024a00"/>
    <p:sldId xmlns:r="http://schemas.openxmlformats.org/officeDocument/2006/relationships" id="257" r:id="Rabe7824c8d044017"/>
    <p:sldId xmlns:r="http://schemas.openxmlformats.org/officeDocument/2006/relationships" id="258" r:id="R11f2be58ef884fdf"/>
    <p:sldId xmlns:r="http://schemas.openxmlformats.org/officeDocument/2006/relationships" id="259" r:id="Ra681fcf3f92245b5"/>
    <p:sldId xmlns:r="http://schemas.openxmlformats.org/officeDocument/2006/relationships" id="260" r:id="R5536f5cff2774fde"/>
    <p:sldId xmlns:r="http://schemas.openxmlformats.org/officeDocument/2006/relationships" id="261" r:id="R40e378c6d451446f"/>
    <p:sldId xmlns:r="http://schemas.openxmlformats.org/officeDocument/2006/relationships" id="262" r:id="R9fcb8dd2f2df4c53"/>
    <p:sldId xmlns:r="http://schemas.openxmlformats.org/officeDocument/2006/relationships" id="263" r:id="Re3f99eecc70d4c4f"/>
    <p:sldId xmlns:r="http://schemas.openxmlformats.org/officeDocument/2006/relationships" id="264" r:id="R2fd4c29b6ebf45b0"/>
    <p:sldId xmlns:r="http://schemas.openxmlformats.org/officeDocument/2006/relationships" id="265" r:id="R8ba3a0ca4d674c3f"/>
    <p:sldId xmlns:r="http://schemas.openxmlformats.org/officeDocument/2006/relationships" id="266" r:id="R8885de4a59204ab2"/>
    <p:sldId xmlns:r="http://schemas.openxmlformats.org/officeDocument/2006/relationships" id="267" r:id="Rd68b58c66e424969"/>
    <p:sldId xmlns:r="http://schemas.openxmlformats.org/officeDocument/2006/relationships" id="268" r:id="Rc62af5bb47a94216"/>
    <p:sldId xmlns:r="http://schemas.openxmlformats.org/officeDocument/2006/relationships" id="269" r:id="Rdc498406c9b84193"/>
    <p:sldId xmlns:r="http://schemas.openxmlformats.org/officeDocument/2006/relationships" id="270" r:id="R6151e06181694526"/>
    <p:sldId xmlns:r="http://schemas.openxmlformats.org/officeDocument/2006/relationships" id="271" r:id="R06c1303fb63d40b4"/>
    <p:sldId xmlns:r="http://schemas.openxmlformats.org/officeDocument/2006/relationships" id="272" r:id="Rcce04ccfe52b4a41"/>
    <p:sldId xmlns:r="http://schemas.openxmlformats.org/officeDocument/2006/relationships" id="273" r:id="Re92c6108ba824ac0"/>
    <p:sldId xmlns:r="http://schemas.openxmlformats.org/officeDocument/2006/relationships" id="274" r:id="Rc8644ab3b2794b63"/>
    <p:sldId xmlns:r="http://schemas.openxmlformats.org/officeDocument/2006/relationships" id="275" r:id="R2fa45031d208438f"/>
    <p:sldId xmlns:r="http://schemas.openxmlformats.org/officeDocument/2006/relationships" id="276" r:id="R2cf3cb36580a4335"/>
    <p:sldId xmlns:r="http://schemas.openxmlformats.org/officeDocument/2006/relationships" id="277" r:id="R706185ecc8264bc7"/>
    <p:sldId xmlns:r="http://schemas.openxmlformats.org/officeDocument/2006/relationships" id="278" r:id="R41b32191aec14cb8"/>
    <p:sldId xmlns:r="http://schemas.openxmlformats.org/officeDocument/2006/relationships" id="279" r:id="Rc60f9706089b4068"/>
    <p:sldId xmlns:r="http://schemas.openxmlformats.org/officeDocument/2006/relationships" id="280" r:id="Rae62fea89b14466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ef28cf1dc234239" /><Relationship Type="http://schemas.openxmlformats.org/officeDocument/2006/relationships/slideMaster" Target="/ppt/slideMasters/slideMaster1.xml" Id="Rffb25e84e71c4bff" /><Relationship Type="http://schemas.openxmlformats.org/officeDocument/2006/relationships/notesMaster" Target="/ppt/notesMasters/notesMaster1.xml" Id="Re5f4a600bf774dd3" /><Relationship Type="http://schemas.openxmlformats.org/officeDocument/2006/relationships/presProps" Target="/ppt/presProps.xml" Id="R46ae994e074e4358" /><Relationship Type="http://schemas.openxmlformats.org/officeDocument/2006/relationships/tableStyles" Target="/ppt/tableStyles.xml" Id="Rc4da3b0dd11946dd" /><Relationship Type="http://schemas.openxmlformats.org/officeDocument/2006/relationships/slide" Target="/ppt/slides/slide1.xml" Id="R738a15b0fb024a00" /><Relationship Type="http://schemas.openxmlformats.org/officeDocument/2006/relationships/slide" Target="/ppt/slides/slide2.xml" Id="Rabe7824c8d044017" /><Relationship Type="http://schemas.openxmlformats.org/officeDocument/2006/relationships/slide" Target="/ppt/slides/slide3.xml" Id="R11f2be58ef884fdf" /><Relationship Type="http://schemas.openxmlformats.org/officeDocument/2006/relationships/slide" Target="/ppt/slides/slide4.xml" Id="Ra681fcf3f92245b5" /><Relationship Type="http://schemas.openxmlformats.org/officeDocument/2006/relationships/slide" Target="/ppt/slides/slide5.xml" Id="R5536f5cff2774fde" /><Relationship Type="http://schemas.openxmlformats.org/officeDocument/2006/relationships/slide" Target="/ppt/slides/slide6.xml" Id="R40e378c6d451446f" /><Relationship Type="http://schemas.openxmlformats.org/officeDocument/2006/relationships/slide" Target="/ppt/slides/slide7.xml" Id="R9fcb8dd2f2df4c53" /><Relationship Type="http://schemas.openxmlformats.org/officeDocument/2006/relationships/slide" Target="/ppt/slides/slide8.xml" Id="Re3f99eecc70d4c4f" /><Relationship Type="http://schemas.openxmlformats.org/officeDocument/2006/relationships/slide" Target="/ppt/slides/slide9.xml" Id="R2fd4c29b6ebf45b0" /><Relationship Type="http://schemas.openxmlformats.org/officeDocument/2006/relationships/slide" Target="/ppt/slides/slide10.xml" Id="R8ba3a0ca4d674c3f" /><Relationship Type="http://schemas.openxmlformats.org/officeDocument/2006/relationships/slide" Target="/ppt/slides/slide11.xml" Id="R8885de4a59204ab2" /><Relationship Type="http://schemas.openxmlformats.org/officeDocument/2006/relationships/slide" Target="/ppt/slides/slide12.xml" Id="Rd68b58c66e424969" /><Relationship Type="http://schemas.openxmlformats.org/officeDocument/2006/relationships/slide" Target="/ppt/slides/slide13.xml" Id="Rc62af5bb47a94216" /><Relationship Type="http://schemas.openxmlformats.org/officeDocument/2006/relationships/slide" Target="/ppt/slides/slide14.xml" Id="Rdc498406c9b84193" /><Relationship Type="http://schemas.openxmlformats.org/officeDocument/2006/relationships/slide" Target="/ppt/slides/slide15.xml" Id="R6151e06181694526" /><Relationship Type="http://schemas.openxmlformats.org/officeDocument/2006/relationships/slide" Target="/ppt/slides/slide16.xml" Id="R06c1303fb63d40b4" /><Relationship Type="http://schemas.openxmlformats.org/officeDocument/2006/relationships/slide" Target="/ppt/slides/slide17.xml" Id="Rcce04ccfe52b4a41" /><Relationship Type="http://schemas.openxmlformats.org/officeDocument/2006/relationships/slide" Target="/ppt/slides/slide18.xml" Id="Re92c6108ba824ac0" /><Relationship Type="http://schemas.openxmlformats.org/officeDocument/2006/relationships/slide" Target="/ppt/slides/slide19.xml" Id="Rc8644ab3b2794b63" /><Relationship Type="http://schemas.openxmlformats.org/officeDocument/2006/relationships/slide" Target="/ppt/slides/slide20.xml" Id="R2fa45031d208438f" /><Relationship Type="http://schemas.openxmlformats.org/officeDocument/2006/relationships/slide" Target="/ppt/slides/slide21.xml" Id="R2cf3cb36580a4335" /><Relationship Type="http://schemas.openxmlformats.org/officeDocument/2006/relationships/slide" Target="/ppt/slides/slide22.xml" Id="R706185ecc8264bc7" /><Relationship Type="http://schemas.openxmlformats.org/officeDocument/2006/relationships/slide" Target="/ppt/slides/slide23.xml" Id="R41b32191aec14cb8" /><Relationship Type="http://schemas.openxmlformats.org/officeDocument/2006/relationships/slide" Target="/ppt/slides/slide24.xml" Id="Rc60f9706089b4068" /><Relationship Type="http://schemas.openxmlformats.org/officeDocument/2006/relationships/slide" Target="/ppt/slides/slide25.xml" Id="Rae62fea89b14466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ed15c0e835f415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adce97eb7364426" /><Relationship Type="http://schemas.openxmlformats.org/officeDocument/2006/relationships/notesMaster" Target="/ppt/notesMasters/notesMaster1.xml" Id="R276e4755f1d14d6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3c5976681694809" /><Relationship Type="http://schemas.openxmlformats.org/officeDocument/2006/relationships/notesMaster" Target="/ppt/notesMasters/notesMaster1.xml" Id="R8d7883e7465d49b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e91f7d4d29d4fa3" /><Relationship Type="http://schemas.openxmlformats.org/officeDocument/2006/relationships/notesMaster" Target="/ppt/notesMasters/notesMaster1.xml" Id="Re604397bb3854d1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b023de1f129423e" /><Relationship Type="http://schemas.openxmlformats.org/officeDocument/2006/relationships/notesMaster" Target="/ppt/notesMasters/notesMaster1.xml" Id="R2d1962b4eceb419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7ba3d90cd1449b3" /><Relationship Type="http://schemas.openxmlformats.org/officeDocument/2006/relationships/notesMaster" Target="/ppt/notesMasters/notesMaster1.xml" Id="Rf739df5ec99142f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03ec8de148141c0" /><Relationship Type="http://schemas.openxmlformats.org/officeDocument/2006/relationships/notesMaster" Target="/ppt/notesMasters/notesMaster1.xml" Id="Rd2df9fc116344ab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50d567f6db94031" /><Relationship Type="http://schemas.openxmlformats.org/officeDocument/2006/relationships/notesMaster" Target="/ppt/notesMasters/notesMaster1.xml" Id="R7adb25248ff14c6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5a0fa30e0334d3d" /><Relationship Type="http://schemas.openxmlformats.org/officeDocument/2006/relationships/notesMaster" Target="/ppt/notesMasters/notesMaster1.xml" Id="R70e717ef2ed142c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4bb88ce580841e1" /><Relationship Type="http://schemas.openxmlformats.org/officeDocument/2006/relationships/notesMaster" Target="/ppt/notesMasters/notesMaster1.xml" Id="R8beb37df50fa496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21d0e5a6f5a446a" /><Relationship Type="http://schemas.openxmlformats.org/officeDocument/2006/relationships/notesMaster" Target="/ppt/notesMasters/notesMaster1.xml" Id="Reee72967db98429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9b750b43fd04ae7" /><Relationship Type="http://schemas.openxmlformats.org/officeDocument/2006/relationships/notesMaster" Target="/ppt/notesMasters/notesMaster1.xml" Id="R90b099c4c39341b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5f851503779435c" /><Relationship Type="http://schemas.openxmlformats.org/officeDocument/2006/relationships/notesMaster" Target="/ppt/notesMasters/notesMaster1.xml" Id="R3b135f9716bf418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6f012e95d5b4024" /><Relationship Type="http://schemas.openxmlformats.org/officeDocument/2006/relationships/notesMaster" Target="/ppt/notesMasters/notesMaster1.xml" Id="Reb156ff62441456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0172cedeb134eb2" /><Relationship Type="http://schemas.openxmlformats.org/officeDocument/2006/relationships/notesMaster" Target="/ppt/notesMasters/notesMaster1.xml" Id="Reb778523143746d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3df3bd308924cf1" /><Relationship Type="http://schemas.openxmlformats.org/officeDocument/2006/relationships/notesMaster" Target="/ppt/notesMasters/notesMaster1.xml" Id="R97ff833a6c0e4f2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c981869e9e14a3c" /><Relationship Type="http://schemas.openxmlformats.org/officeDocument/2006/relationships/notesMaster" Target="/ppt/notesMasters/notesMaster1.xml" Id="R29054b4b81c84cf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7bcf1963a8544b6" /><Relationship Type="http://schemas.openxmlformats.org/officeDocument/2006/relationships/notesMaster" Target="/ppt/notesMasters/notesMaster1.xml" Id="Rda26926847cc463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43a3135fdadb4fe2" /><Relationship Type="http://schemas.openxmlformats.org/officeDocument/2006/relationships/notesMaster" Target="/ppt/notesMasters/notesMaster1.xml" Id="Rdcd0f91de54f4353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47aa6eef416743e5" /><Relationship Type="http://schemas.openxmlformats.org/officeDocument/2006/relationships/notesMaster" Target="/ppt/notesMasters/notesMaster1.xml" Id="Ra24721e282ab4a96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cccf3ae6ed3d46a0" /><Relationship Type="http://schemas.openxmlformats.org/officeDocument/2006/relationships/notesMaster" Target="/ppt/notesMasters/notesMaster1.xml" Id="Re70e4af196904429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11c6b43a4f8941de" /><Relationship Type="http://schemas.openxmlformats.org/officeDocument/2006/relationships/notesMaster" Target="/ppt/notesMasters/notesMaster1.xml" Id="Reb6c1d512c4f467c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80726ea9fc884163" /><Relationship Type="http://schemas.openxmlformats.org/officeDocument/2006/relationships/notesMaster" Target="/ppt/notesMasters/notesMaster1.xml" Id="Ra840e1b68a4f439f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8a70ce4cf29a4ee5" /><Relationship Type="http://schemas.openxmlformats.org/officeDocument/2006/relationships/notesMaster" Target="/ppt/notesMasters/notesMaster1.xml" Id="Rcb9033c8e5a44595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658e5dea7b9f466a" /><Relationship Type="http://schemas.openxmlformats.org/officeDocument/2006/relationships/notesMaster" Target="/ppt/notesMasters/notesMaster1.xml" Id="Rbab76986eebc4501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6dea023729aa458e" /><Relationship Type="http://schemas.openxmlformats.org/officeDocument/2006/relationships/notesMaster" Target="/ppt/notesMasters/notesMaster1.xml" Id="R9b1b1ff6fa524aa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Лабораторная работа № 5. Горизонт базового и параметрического экспериментов — 50; анимационного — 30. Использованы фиксированные начальные состояния генератора. Доля блокировок — наблюдаемая частота в выполненной серии.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simulation-modeling-lab.pdf — глава «Аппарат сетей Петри».</a:t>
            </a:r>
          </a:p>
          <a:p xmlns:a="http://schemas.openxmlformats.org/drawingml/2006/main">
            <a:r>
              <a:t>- labs/lab05/project/src/dining_philosophers.jl — модель и алгоритмы.</a:t>
            </a:r>
          </a:p>
          <a:p xmlns:a="http://schemas.openxmlformats.org/drawingml/2006/main">
            <a:r>
              <a:t>- labs/lab05/project/scripts/01_dining_philosophers.jl — базовый эксперимент.</a:t>
            </a:r>
          </a:p>
          <a:p xmlns:a="http://schemas.openxmlformats.org/drawingml/2006/main">
            <a:r>
              <a:t>- labs/lab05/project/scripts/02_parameter_scan.jl — параметрическое исследование.</a:t>
            </a:r>
          </a:p>
          <a:p xmlns:a="http://schemas.openxmlformats.org/drawingml/2006/main">
            <a:r>
              <a:t>- labs/lab05/project/scripts/03_marking_animation.jl — анимационный опыт.</a:t>
            </a:r>
          </a:p>
          <a:p xmlns:a="http://schemas.openxmlformats.org/drawingml/2006/main">
            <a:r>
              <a:t>- labs/lab05/project/scripts/04_comparative_report.jl — анализ сохранённых CSV.</a:t>
            </a:r>
          </a:p>
          <a:p xmlns:a="http://schemas.openxmlformats.org/drawingml/2006/main">
            <a:r>
              <a:t>- labs/lab05/project/data — результаты вычислений.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Лабораторная работа № 5. Горизонт базового и параметрического экспериментов — 50; анимационного — 30. Использованы фиксированные начальные состояния генератора. Доля блокировок — наблюдаемая частота в выполненной серии.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simulation-modeling-lab.pdf — глава «Аппарат сетей Петри».</a:t>
            </a:r>
          </a:p>
          <a:p xmlns:a="http://schemas.openxmlformats.org/drawingml/2006/main">
            <a:r>
              <a:t>- labs/lab05/project/src/dining_philosophers.jl — модель и алгоритмы.</a:t>
            </a:r>
          </a:p>
          <a:p xmlns:a="http://schemas.openxmlformats.org/drawingml/2006/main">
            <a:r>
              <a:t>- labs/lab05/project/scripts/01_dining_philosophers.jl — базовый эксперимент.</a:t>
            </a:r>
          </a:p>
          <a:p xmlns:a="http://schemas.openxmlformats.org/drawingml/2006/main">
            <a:r>
              <a:t>- labs/lab05/project/scripts/02_parameter_scan.jl — параметрическое исследование.</a:t>
            </a:r>
          </a:p>
          <a:p xmlns:a="http://schemas.openxmlformats.org/drawingml/2006/main">
            <a:r>
              <a:t>- labs/lab05/project/scripts/03_marking_animation.jl — анимационный опыт.</a:t>
            </a:r>
          </a:p>
          <a:p xmlns:a="http://schemas.openxmlformats.org/drawingml/2006/main">
            <a:r>
              <a:t>- labs/lab05/project/scripts/04_comparative_report.jl — анализ сохранённых CSV.</a:t>
            </a:r>
          </a:p>
          <a:p xmlns:a="http://schemas.openxmlformats.org/drawingml/2006/main">
            <a:r>
              <a:t>- labs/lab05/project/data — результаты вычислений.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Лабораторная работа № 5. Горизонт базового и параметрического экспериментов — 50; анимационного — 30. Использованы фиксированные начальные состояния генератора. Доля блокировок — наблюдаемая частота в выполненной серии.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simulation-modeling-lab.pdf — глава «Аппарат сетей Петри».</a:t>
            </a:r>
          </a:p>
          <a:p xmlns:a="http://schemas.openxmlformats.org/drawingml/2006/main">
            <a:r>
              <a:t>- labs/lab05/project/src/dining_philosophers.jl — модель и алгоритмы.</a:t>
            </a:r>
          </a:p>
          <a:p xmlns:a="http://schemas.openxmlformats.org/drawingml/2006/main">
            <a:r>
              <a:t>- labs/lab05/project/scripts/01_dining_philosophers.jl — базовый эксперимент.</a:t>
            </a:r>
          </a:p>
          <a:p xmlns:a="http://schemas.openxmlformats.org/drawingml/2006/main">
            <a:r>
              <a:t>- labs/lab05/project/scripts/02_parameter_scan.jl — параметрическое исследование.</a:t>
            </a:r>
          </a:p>
          <a:p xmlns:a="http://schemas.openxmlformats.org/drawingml/2006/main">
            <a:r>
              <a:t>- labs/lab05/project/scripts/03_marking_animation.jl — анимационный опыт.</a:t>
            </a:r>
          </a:p>
          <a:p xmlns:a="http://schemas.openxmlformats.org/drawingml/2006/main">
            <a:r>
              <a:t>- labs/lab05/project/scripts/04_comparative_report.jl — анализ сохранённых CSV.</a:t>
            </a:r>
          </a:p>
          <a:p xmlns:a="http://schemas.openxmlformats.org/drawingml/2006/main">
            <a:r>
              <a:t>- labs/lab05/project/data — результаты вычислений.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Лабораторная работа № 5. Горизонт базового и параметрического экспериментов — 50; анимационного — 30. Использованы фиксированные начальные состояния генератора. Доля блокировок — наблюдаемая частота в выполненной серии.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simulation-modeling-lab.pdf — глава «Аппарат сетей Петри».</a:t>
            </a:r>
          </a:p>
          <a:p xmlns:a="http://schemas.openxmlformats.org/drawingml/2006/main">
            <a:r>
              <a:t>- labs/lab05/project/src/dining_philosophers.jl — модель и алгоритмы.</a:t>
            </a:r>
          </a:p>
          <a:p xmlns:a="http://schemas.openxmlformats.org/drawingml/2006/main">
            <a:r>
              <a:t>- labs/lab05/project/scripts/01_dining_philosophers.jl — базовый эксперимент.</a:t>
            </a:r>
          </a:p>
          <a:p xmlns:a="http://schemas.openxmlformats.org/drawingml/2006/main">
            <a:r>
              <a:t>- labs/lab05/project/scripts/02_parameter_scan.jl — параметрическое исследование.</a:t>
            </a:r>
          </a:p>
          <a:p xmlns:a="http://schemas.openxmlformats.org/drawingml/2006/main">
            <a:r>
              <a:t>- labs/lab05/project/scripts/03_marking_animation.jl — анимационный опыт.</a:t>
            </a:r>
          </a:p>
          <a:p xmlns:a="http://schemas.openxmlformats.org/drawingml/2006/main">
            <a:r>
              <a:t>- labs/lab05/project/scripts/04_comparative_report.jl — анализ сохранённых CSV.</a:t>
            </a:r>
          </a:p>
          <a:p xmlns:a="http://schemas.openxmlformats.org/drawingml/2006/main">
            <a:r>
              <a:t>- labs/lab05/project/data — результаты вычислений.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Лабораторная работа № 5. Горизонт базового и параметрического экспериментов — 50; анимационного — 30. Использованы фиксированные начальные состояния генератора. Доля блокировок — наблюдаемая частота в выполненной серии.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simulation-modeling-lab.pdf — глава «Аппарат сетей Петри».</a:t>
            </a:r>
          </a:p>
          <a:p xmlns:a="http://schemas.openxmlformats.org/drawingml/2006/main">
            <a:r>
              <a:t>- labs/lab05/project/src/dining_philosophers.jl — модель и алгоритмы.</a:t>
            </a:r>
          </a:p>
          <a:p xmlns:a="http://schemas.openxmlformats.org/drawingml/2006/main">
            <a:r>
              <a:t>- labs/lab05/project/scripts/01_dining_philosophers.jl — базовый эксперимент.</a:t>
            </a:r>
          </a:p>
          <a:p xmlns:a="http://schemas.openxmlformats.org/drawingml/2006/main">
            <a:r>
              <a:t>- labs/lab05/project/scripts/02_parameter_scan.jl — параметрическое исследование.</a:t>
            </a:r>
          </a:p>
          <a:p xmlns:a="http://schemas.openxmlformats.org/drawingml/2006/main">
            <a:r>
              <a:t>- labs/lab05/project/scripts/03_marking_animation.jl — анимационный опыт.</a:t>
            </a:r>
          </a:p>
          <a:p xmlns:a="http://schemas.openxmlformats.org/drawingml/2006/main">
            <a:r>
              <a:t>- labs/lab05/project/scripts/04_comparative_report.jl — анализ сохранённых CSV.</a:t>
            </a:r>
          </a:p>
          <a:p xmlns:a="http://schemas.openxmlformats.org/drawingml/2006/main">
            <a:r>
              <a:t>- labs/lab05/project/data — результаты вычислений.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Лабораторная работа № 5. Горизонт базового и параметрического экспериментов — 50; анимационного — 30. Использованы фиксированные начальные состояния генератора. Доля блокировок — наблюдаемая частота в выполненной серии.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simulation-modeling-lab.pdf — глава «Аппарат сетей Петри».</a:t>
            </a:r>
          </a:p>
          <a:p xmlns:a="http://schemas.openxmlformats.org/drawingml/2006/main">
            <a:r>
              <a:t>- labs/lab05/project/src/dining_philosophers.jl — модель и алгоритмы.</a:t>
            </a:r>
          </a:p>
          <a:p xmlns:a="http://schemas.openxmlformats.org/drawingml/2006/main">
            <a:r>
              <a:t>- labs/lab05/project/scripts/01_dining_philosophers.jl — базовый эксперимент.</a:t>
            </a:r>
          </a:p>
          <a:p xmlns:a="http://schemas.openxmlformats.org/drawingml/2006/main">
            <a:r>
              <a:t>- labs/lab05/project/scripts/02_parameter_scan.jl — параметрическое исследование.</a:t>
            </a:r>
          </a:p>
          <a:p xmlns:a="http://schemas.openxmlformats.org/drawingml/2006/main">
            <a:r>
              <a:t>- labs/lab05/project/scripts/03_marking_animation.jl — анимационный опыт.</a:t>
            </a:r>
          </a:p>
          <a:p xmlns:a="http://schemas.openxmlformats.org/drawingml/2006/main">
            <a:r>
              <a:t>- labs/lab05/project/scripts/04_comparative_report.jl — анализ сохранённых CSV.</a:t>
            </a:r>
          </a:p>
          <a:p xmlns:a="http://schemas.openxmlformats.org/drawingml/2006/main">
            <a:r>
              <a:t>- labs/lab05/project/data — результаты вычислений.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Лабораторная работа № 5. Горизонт базового и параметрического экспериментов — 50; анимационного — 30. Использованы фиксированные начальные состояния генератора. Доля блокировок — наблюдаемая частота в выполненной серии.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simulation-modeling-lab.pdf — глава «Аппарат сетей Петри».</a:t>
            </a:r>
          </a:p>
          <a:p xmlns:a="http://schemas.openxmlformats.org/drawingml/2006/main">
            <a:r>
              <a:t>- labs/lab05/project/src/dining_philosophers.jl — модель и алгоритмы.</a:t>
            </a:r>
          </a:p>
          <a:p xmlns:a="http://schemas.openxmlformats.org/drawingml/2006/main">
            <a:r>
              <a:t>- labs/lab05/project/scripts/01_dining_philosophers.jl — базовый эксперимент.</a:t>
            </a:r>
          </a:p>
          <a:p xmlns:a="http://schemas.openxmlformats.org/drawingml/2006/main">
            <a:r>
              <a:t>- labs/lab05/project/scripts/02_parameter_scan.jl — параметрическое исследование.</a:t>
            </a:r>
          </a:p>
          <a:p xmlns:a="http://schemas.openxmlformats.org/drawingml/2006/main">
            <a:r>
              <a:t>- labs/lab05/project/scripts/03_marking_animation.jl — анимационный опыт.</a:t>
            </a:r>
          </a:p>
          <a:p xmlns:a="http://schemas.openxmlformats.org/drawingml/2006/main">
            <a:r>
              <a:t>- labs/lab05/project/scripts/04_comparative_report.jl — анализ сохранённых CSV.</a:t>
            </a:r>
          </a:p>
          <a:p xmlns:a="http://schemas.openxmlformats.org/drawingml/2006/main">
            <a:r>
              <a:t>- labs/lab05/project/data — результаты вычислений.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Лабораторная работа № 5. Горизонт базового и параметрического экспериментов — 50; анимационного — 30. Использованы фиксированные начальные состояния генератора. Доля блокировок — наблюдаемая частота в выполненной серии.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simulation-modeling-lab.pdf — глава «Аппарат сетей Петри».</a:t>
            </a:r>
          </a:p>
          <a:p xmlns:a="http://schemas.openxmlformats.org/drawingml/2006/main">
            <a:r>
              <a:t>- labs/lab05/project/src/dining_philosophers.jl — модель и алгоритмы.</a:t>
            </a:r>
          </a:p>
          <a:p xmlns:a="http://schemas.openxmlformats.org/drawingml/2006/main">
            <a:r>
              <a:t>- labs/lab05/project/scripts/01_dining_philosophers.jl — базовый эксперимент.</a:t>
            </a:r>
          </a:p>
          <a:p xmlns:a="http://schemas.openxmlformats.org/drawingml/2006/main">
            <a:r>
              <a:t>- labs/lab05/project/scripts/02_parameter_scan.jl — параметрическое исследование.</a:t>
            </a:r>
          </a:p>
          <a:p xmlns:a="http://schemas.openxmlformats.org/drawingml/2006/main">
            <a:r>
              <a:t>- labs/lab05/project/scripts/03_marking_animation.jl — анимационный опыт.</a:t>
            </a:r>
          </a:p>
          <a:p xmlns:a="http://schemas.openxmlformats.org/drawingml/2006/main">
            <a:r>
              <a:t>- labs/lab05/project/scripts/04_comparative_report.jl — анализ сохранённых CSV.</a:t>
            </a:r>
          </a:p>
          <a:p xmlns:a="http://schemas.openxmlformats.org/drawingml/2006/main">
            <a:r>
              <a:t>- labs/lab05/project/data — результаты вычислений.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Лабораторная работа № 5. Горизонт базового и параметрического экспериментов — 50; анимационного — 30. Использованы фиксированные начальные состояния генератора. Доля блокировок — наблюдаемая частота в выполненной серии. Иллюстрации: 05-plot.png.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simulation-modeling-lab.pdf — глава «Аппарат сетей Петри».</a:t>
            </a:r>
          </a:p>
          <a:p xmlns:a="http://schemas.openxmlformats.org/drawingml/2006/main">
            <a:r>
              <a:t>- labs/lab05/project/src/dining_philosophers.jl — модель и алгоритмы.</a:t>
            </a:r>
          </a:p>
          <a:p xmlns:a="http://schemas.openxmlformats.org/drawingml/2006/main">
            <a:r>
              <a:t>- labs/lab05/project/scripts/01_dining_philosophers.jl — базовый эксперимент.</a:t>
            </a:r>
          </a:p>
          <a:p xmlns:a="http://schemas.openxmlformats.org/drawingml/2006/main">
            <a:r>
              <a:t>- labs/lab05/project/scripts/02_parameter_scan.jl — параметрическое исследование.</a:t>
            </a:r>
          </a:p>
          <a:p xmlns:a="http://schemas.openxmlformats.org/drawingml/2006/main">
            <a:r>
              <a:t>- labs/lab05/project/scripts/03_marking_animation.jl — анимационный опыт.</a:t>
            </a:r>
          </a:p>
          <a:p xmlns:a="http://schemas.openxmlformats.org/drawingml/2006/main">
            <a:r>
              <a:t>- labs/lab05/project/scripts/04_comparative_report.jl — анализ сохранённых CSV.</a:t>
            </a:r>
          </a:p>
          <a:p xmlns:a="http://schemas.openxmlformats.org/drawingml/2006/main">
            <a:r>
              <a:t>- labs/lab05/project/data — результаты вычислений.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Лабораторная работа № 5. Горизонт базового и параметрического экспериментов — 50; анимационного — 30. Использованы фиксированные начальные состояния генератора. Доля блокировок — наблюдаемая частота в выполненной серии.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simulation-modeling-lab.pdf — глава «Аппарат сетей Петри».</a:t>
            </a:r>
          </a:p>
          <a:p xmlns:a="http://schemas.openxmlformats.org/drawingml/2006/main">
            <a:r>
              <a:t>- labs/lab05/project/src/dining_philosophers.jl — модель и алгоритмы.</a:t>
            </a:r>
          </a:p>
          <a:p xmlns:a="http://schemas.openxmlformats.org/drawingml/2006/main">
            <a:r>
              <a:t>- labs/lab05/project/scripts/01_dining_philosophers.jl — базовый эксперимент.</a:t>
            </a:r>
          </a:p>
          <a:p xmlns:a="http://schemas.openxmlformats.org/drawingml/2006/main">
            <a:r>
              <a:t>- labs/lab05/project/scripts/02_parameter_scan.jl — параметрическое исследование.</a:t>
            </a:r>
          </a:p>
          <a:p xmlns:a="http://schemas.openxmlformats.org/drawingml/2006/main">
            <a:r>
              <a:t>- labs/lab05/project/scripts/03_marking_animation.jl — анимационный опыт.</a:t>
            </a:r>
          </a:p>
          <a:p xmlns:a="http://schemas.openxmlformats.org/drawingml/2006/main">
            <a:r>
              <a:t>- labs/lab05/project/scripts/04_comparative_report.jl — анализ сохранённых CSV.</a:t>
            </a:r>
          </a:p>
          <a:p xmlns:a="http://schemas.openxmlformats.org/drawingml/2006/main">
            <a:r>
              <a:t>- labs/lab05/project/data — результаты вычислений.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Лабораторная работа № 5. Горизонт базового и параметрического экспериментов — 50; анимационного — 30. Использованы фиксированные начальные состояния генератора. Доля блокировок — наблюдаемая частота в выполненной серии. Иллюстрации: 02-terminal.png.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simulation-modeling-lab.pdf — глава «Аппарат сетей Петри».</a:t>
            </a:r>
          </a:p>
          <a:p xmlns:a="http://schemas.openxmlformats.org/drawingml/2006/main">
            <a:r>
              <a:t>- labs/lab05/project/src/dining_philosophers.jl — модель и алгоритмы.</a:t>
            </a:r>
          </a:p>
          <a:p xmlns:a="http://schemas.openxmlformats.org/drawingml/2006/main">
            <a:r>
              <a:t>- labs/lab05/project/scripts/01_dining_philosophers.jl — базовый эксперимент.</a:t>
            </a:r>
          </a:p>
          <a:p xmlns:a="http://schemas.openxmlformats.org/drawingml/2006/main">
            <a:r>
              <a:t>- labs/lab05/project/scripts/02_parameter_scan.jl — параметрическое исследование.</a:t>
            </a:r>
          </a:p>
          <a:p xmlns:a="http://schemas.openxmlformats.org/drawingml/2006/main">
            <a:r>
              <a:t>- labs/lab05/project/scripts/03_marking_animation.jl — анимационный опыт.</a:t>
            </a:r>
          </a:p>
          <a:p xmlns:a="http://schemas.openxmlformats.org/drawingml/2006/main">
            <a:r>
              <a:t>- labs/lab05/project/scripts/04_comparative_report.jl — анализ сохранённых CSV.</a:t>
            </a:r>
          </a:p>
          <a:p xmlns:a="http://schemas.openxmlformats.org/drawingml/2006/main">
            <a:r>
              <a:t>- labs/lab05/project/data — результаты вычислений.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Лабораторная работа № 5. Горизонт базового и параметрического экспериментов — 50; анимационного — 30. Использованы фиксированные начальные состояния генератора. Доля блокировок — наблюдаемая частота в выполненной серии.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simulation-modeling-lab.pdf — глава «Аппарат сетей Петри».</a:t>
            </a:r>
          </a:p>
          <a:p xmlns:a="http://schemas.openxmlformats.org/drawingml/2006/main">
            <a:r>
              <a:t>- labs/lab05/project/src/dining_philosophers.jl — модель и алгоритмы.</a:t>
            </a:r>
          </a:p>
          <a:p xmlns:a="http://schemas.openxmlformats.org/drawingml/2006/main">
            <a:r>
              <a:t>- labs/lab05/project/scripts/01_dining_philosophers.jl — базовый эксперимент.</a:t>
            </a:r>
          </a:p>
          <a:p xmlns:a="http://schemas.openxmlformats.org/drawingml/2006/main">
            <a:r>
              <a:t>- labs/lab05/project/scripts/02_parameter_scan.jl — параметрическое исследование.</a:t>
            </a:r>
          </a:p>
          <a:p xmlns:a="http://schemas.openxmlformats.org/drawingml/2006/main">
            <a:r>
              <a:t>- labs/lab05/project/scripts/03_marking_animation.jl — анимационный опыт.</a:t>
            </a:r>
          </a:p>
          <a:p xmlns:a="http://schemas.openxmlformats.org/drawingml/2006/main">
            <a:r>
              <a:t>- labs/lab05/project/scripts/04_comparative_report.jl — анализ сохранённых CSV.</a:t>
            </a:r>
          </a:p>
          <a:p xmlns:a="http://schemas.openxmlformats.org/drawingml/2006/main">
            <a:r>
              <a:t>- labs/lab05/project/data — результаты вычислений.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Лабораторная работа № 5. Горизонт базового и параметрического экспериментов — 50; анимационного — 30. Использованы фиксированные начальные состояния генератора. Доля блокировок — наблюдаемая частота в выполненной серии.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simulation-modeling-lab.pdf — глава «Аппарат сетей Петри».</a:t>
            </a:r>
          </a:p>
          <a:p xmlns:a="http://schemas.openxmlformats.org/drawingml/2006/main">
            <a:r>
              <a:t>- labs/lab05/project/src/dining_philosophers.jl — модель и алгоритмы.</a:t>
            </a:r>
          </a:p>
          <a:p xmlns:a="http://schemas.openxmlformats.org/drawingml/2006/main">
            <a:r>
              <a:t>- labs/lab05/project/scripts/01_dining_philosophers.jl — базовый эксперимент.</a:t>
            </a:r>
          </a:p>
          <a:p xmlns:a="http://schemas.openxmlformats.org/drawingml/2006/main">
            <a:r>
              <a:t>- labs/lab05/project/scripts/02_parameter_scan.jl — параметрическое исследование.</a:t>
            </a:r>
          </a:p>
          <a:p xmlns:a="http://schemas.openxmlformats.org/drawingml/2006/main">
            <a:r>
              <a:t>- labs/lab05/project/scripts/03_marking_animation.jl — анимационный опыт.</a:t>
            </a:r>
          </a:p>
          <a:p xmlns:a="http://schemas.openxmlformats.org/drawingml/2006/main">
            <a:r>
              <a:t>- labs/lab05/project/scripts/04_comparative_report.jl — анализ сохранённых CSV.</a:t>
            </a:r>
          </a:p>
          <a:p xmlns:a="http://schemas.openxmlformats.org/drawingml/2006/main">
            <a:r>
              <a:t>- labs/lab05/project/data — результаты вычислений.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Лабораторная работа № 5. Горизонт базового и параметрического экспериментов — 50; анимационного — 30. Использованы фиксированные начальные состояния генератора. Доля блокировок — наблюдаемая частота в выполненной серии. Иллюстрации: 01-plot.png.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simulation-modeling-lab.pdf — глава «Аппарат сетей Петри».</a:t>
            </a:r>
          </a:p>
          <a:p xmlns:a="http://schemas.openxmlformats.org/drawingml/2006/main">
            <a:r>
              <a:t>- labs/lab05/project/src/dining_philosophers.jl — модель и алгоритмы.</a:t>
            </a:r>
          </a:p>
          <a:p xmlns:a="http://schemas.openxmlformats.org/drawingml/2006/main">
            <a:r>
              <a:t>- labs/lab05/project/scripts/01_dining_philosophers.jl — базовый эксперимент.</a:t>
            </a:r>
          </a:p>
          <a:p xmlns:a="http://schemas.openxmlformats.org/drawingml/2006/main">
            <a:r>
              <a:t>- labs/lab05/project/scripts/02_parameter_scan.jl — параметрическое исследование.</a:t>
            </a:r>
          </a:p>
          <a:p xmlns:a="http://schemas.openxmlformats.org/drawingml/2006/main">
            <a:r>
              <a:t>- labs/lab05/project/scripts/03_marking_animation.jl — анимационный опыт.</a:t>
            </a:r>
          </a:p>
          <a:p xmlns:a="http://schemas.openxmlformats.org/drawingml/2006/main">
            <a:r>
              <a:t>- labs/lab05/project/scripts/04_comparative_report.jl — анализ сохранённых CSV.</a:t>
            </a:r>
          </a:p>
          <a:p xmlns:a="http://schemas.openxmlformats.org/drawingml/2006/main">
            <a:r>
              <a:t>- labs/lab05/project/data — результаты вычислений.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Лабораторная работа № 5. Горизонт базового и параметрического экспериментов — 50; анимационного — 30. Использованы фиксированные начальные состояния генератора. Доля блокировок — наблюдаемая частота в выполненной серии. Иллюстрации: 02-plot.png.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simulation-modeling-lab.pdf — глава «Аппарат сетей Петри».</a:t>
            </a:r>
          </a:p>
          <a:p xmlns:a="http://schemas.openxmlformats.org/drawingml/2006/main">
            <a:r>
              <a:t>- labs/lab05/project/src/dining_philosophers.jl — модель и алгоритмы.</a:t>
            </a:r>
          </a:p>
          <a:p xmlns:a="http://schemas.openxmlformats.org/drawingml/2006/main">
            <a:r>
              <a:t>- labs/lab05/project/scripts/01_dining_philosophers.jl — базовый эксперимент.</a:t>
            </a:r>
          </a:p>
          <a:p xmlns:a="http://schemas.openxmlformats.org/drawingml/2006/main">
            <a:r>
              <a:t>- labs/lab05/project/scripts/02_parameter_scan.jl — параметрическое исследование.</a:t>
            </a:r>
          </a:p>
          <a:p xmlns:a="http://schemas.openxmlformats.org/drawingml/2006/main">
            <a:r>
              <a:t>- labs/lab05/project/scripts/03_marking_animation.jl — анимационный опыт.</a:t>
            </a:r>
          </a:p>
          <a:p xmlns:a="http://schemas.openxmlformats.org/drawingml/2006/main">
            <a:r>
              <a:t>- labs/lab05/project/scripts/04_comparative_report.jl — анализ сохранённых CSV.</a:t>
            </a:r>
          </a:p>
          <a:p xmlns:a="http://schemas.openxmlformats.org/drawingml/2006/main">
            <a:r>
              <a:t>- labs/lab05/project/data — результаты вычислений.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Лабораторная работа № 5. Горизонт базового и параметрического экспериментов — 50; анимационного — 30. Использованы фиксированные начальные состояния генератора. Доля блокировок — наблюдаемая частота в выполненной серии. Иллюстрации: 03-plot.png.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simulation-modeling-lab.pdf — глава «Аппарат сетей Петри».</a:t>
            </a:r>
          </a:p>
          <a:p xmlns:a="http://schemas.openxmlformats.org/drawingml/2006/main">
            <a:r>
              <a:t>- labs/lab05/project/src/dining_philosophers.jl — модель и алгоритмы.</a:t>
            </a:r>
          </a:p>
          <a:p xmlns:a="http://schemas.openxmlformats.org/drawingml/2006/main">
            <a:r>
              <a:t>- labs/lab05/project/scripts/01_dining_philosophers.jl — базовый эксперимент.</a:t>
            </a:r>
          </a:p>
          <a:p xmlns:a="http://schemas.openxmlformats.org/drawingml/2006/main">
            <a:r>
              <a:t>- labs/lab05/project/scripts/02_parameter_scan.jl — параметрическое исследование.</a:t>
            </a:r>
          </a:p>
          <a:p xmlns:a="http://schemas.openxmlformats.org/drawingml/2006/main">
            <a:r>
              <a:t>- labs/lab05/project/scripts/03_marking_animation.jl — анимационный опыт.</a:t>
            </a:r>
          </a:p>
          <a:p xmlns:a="http://schemas.openxmlformats.org/drawingml/2006/main">
            <a:r>
              <a:t>- labs/lab05/project/scripts/04_comparative_report.jl — анализ сохранённых CSV.</a:t>
            </a:r>
          </a:p>
          <a:p xmlns:a="http://schemas.openxmlformats.org/drawingml/2006/main">
            <a:r>
              <a:t>- labs/lab05/project/data — результаты вычислений.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Лабораторная работа № 5. Горизонт базового и параметрического экспериментов — 50; анимационного — 30. Использованы фиксированные начальные состояния генератора. Доля блокировок — наблюдаемая частота в выполненной серии. Иллюстрации: 08-plot.png.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simulation-modeling-lab.pdf — глава «Аппарат сетей Петри».</a:t>
            </a:r>
          </a:p>
          <a:p xmlns:a="http://schemas.openxmlformats.org/drawingml/2006/main">
            <a:r>
              <a:t>- labs/lab05/project/src/dining_philosophers.jl — модель и алгоритмы.</a:t>
            </a:r>
          </a:p>
          <a:p xmlns:a="http://schemas.openxmlformats.org/drawingml/2006/main">
            <a:r>
              <a:t>- labs/lab05/project/scripts/01_dining_philosophers.jl — базовый эксперимент.</a:t>
            </a:r>
          </a:p>
          <a:p xmlns:a="http://schemas.openxmlformats.org/drawingml/2006/main">
            <a:r>
              <a:t>- labs/lab05/project/scripts/02_parameter_scan.jl — параметрическое исследование.</a:t>
            </a:r>
          </a:p>
          <a:p xmlns:a="http://schemas.openxmlformats.org/drawingml/2006/main">
            <a:r>
              <a:t>- labs/lab05/project/scripts/03_marking_animation.jl — анимационный опыт.</a:t>
            </a:r>
          </a:p>
          <a:p xmlns:a="http://schemas.openxmlformats.org/drawingml/2006/main">
            <a:r>
              <a:t>- labs/lab05/project/scripts/04_comparative_report.jl — анализ сохранённых CSV.</a:t>
            </a:r>
          </a:p>
          <a:p xmlns:a="http://schemas.openxmlformats.org/drawingml/2006/main">
            <a:r>
              <a:t>- labs/lab05/project/data — результаты вычислений.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Лабораторная работа № 5. Горизонт базового и параметрического экспериментов — 50; анимационного — 30. Использованы фиксированные начальные состояния генератора. Доля блокировок — наблюдаемая частота в выполненной серии. Иллюстрации: 04-plot.png.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simulation-modeling-lab.pdf — глава «Аппарат сетей Петри».</a:t>
            </a:r>
          </a:p>
          <a:p xmlns:a="http://schemas.openxmlformats.org/drawingml/2006/main">
            <a:r>
              <a:t>- labs/lab05/project/src/dining_philosophers.jl — модель и алгоритмы.</a:t>
            </a:r>
          </a:p>
          <a:p xmlns:a="http://schemas.openxmlformats.org/drawingml/2006/main">
            <a:r>
              <a:t>- labs/lab05/project/scripts/01_dining_philosophers.jl — базовый эксперимент.</a:t>
            </a:r>
          </a:p>
          <a:p xmlns:a="http://schemas.openxmlformats.org/drawingml/2006/main">
            <a:r>
              <a:t>- labs/lab05/project/scripts/02_parameter_scan.jl — параметрическое исследование.</a:t>
            </a:r>
          </a:p>
          <a:p xmlns:a="http://schemas.openxmlformats.org/drawingml/2006/main">
            <a:r>
              <a:t>- labs/lab05/project/scripts/03_marking_animation.jl — анимационный опыт.</a:t>
            </a:r>
          </a:p>
          <a:p xmlns:a="http://schemas.openxmlformats.org/drawingml/2006/main">
            <a:r>
              <a:t>- labs/lab05/project/scripts/04_comparative_report.jl — анализ сохранённых CSV.</a:t>
            </a:r>
          </a:p>
          <a:p xmlns:a="http://schemas.openxmlformats.org/drawingml/2006/main">
            <a:r>
              <a:t>- labs/lab05/project/data — результаты вычислений.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Лабораторная работа № 5. Горизонт базового и параметрического экспериментов — 50; анимационного — 30. Использованы фиксированные начальные состояния генератора. Доля блокировок — наблюдаемая частота в выполненной серии.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simulation-modeling-lab.pdf — глава «Аппарат сетей Петри».</a:t>
            </a:r>
          </a:p>
          <a:p xmlns:a="http://schemas.openxmlformats.org/drawingml/2006/main">
            <a:r>
              <a:t>- labs/lab05/project/src/dining_philosophers.jl — модель и алгоритмы.</a:t>
            </a:r>
          </a:p>
          <a:p xmlns:a="http://schemas.openxmlformats.org/drawingml/2006/main">
            <a:r>
              <a:t>- labs/lab05/project/scripts/01_dining_philosophers.jl — базовый эксперимент.</a:t>
            </a:r>
          </a:p>
          <a:p xmlns:a="http://schemas.openxmlformats.org/drawingml/2006/main">
            <a:r>
              <a:t>- labs/lab05/project/scripts/02_parameter_scan.jl — параметрическое исследование.</a:t>
            </a:r>
          </a:p>
          <a:p xmlns:a="http://schemas.openxmlformats.org/drawingml/2006/main">
            <a:r>
              <a:t>- labs/lab05/project/scripts/03_marking_animation.jl — анимационный опыт.</a:t>
            </a:r>
          </a:p>
          <a:p xmlns:a="http://schemas.openxmlformats.org/drawingml/2006/main">
            <a:r>
              <a:t>- labs/lab05/project/scripts/04_comparative_report.jl — анализ сохранённых CSV.</a:t>
            </a:r>
          </a:p>
          <a:p xmlns:a="http://schemas.openxmlformats.org/drawingml/2006/main">
            <a:r>
              <a:t>- labs/lab05/project/data — результаты вычислений.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Лабораторная работа № 5. Горизонт базового и параметрического экспериментов — 50; анимационного — 30. Использованы фиксированные начальные состояния генератора. Доля блокировок — наблюдаемая частота в выполненной серии. Иллюстрации: 06-plot.png.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simulation-modeling-lab.pdf — глава «Аппарат сетей Петри».</a:t>
            </a:r>
          </a:p>
          <a:p xmlns:a="http://schemas.openxmlformats.org/drawingml/2006/main">
            <a:r>
              <a:t>- labs/lab05/project/src/dining_philosophers.jl — модель и алгоритмы.</a:t>
            </a:r>
          </a:p>
          <a:p xmlns:a="http://schemas.openxmlformats.org/drawingml/2006/main">
            <a:r>
              <a:t>- labs/lab05/project/scripts/01_dining_philosophers.jl — базовый эксперимент.</a:t>
            </a:r>
          </a:p>
          <a:p xmlns:a="http://schemas.openxmlformats.org/drawingml/2006/main">
            <a:r>
              <a:t>- labs/lab05/project/scripts/02_parameter_scan.jl — параметрическое исследование.</a:t>
            </a:r>
          </a:p>
          <a:p xmlns:a="http://schemas.openxmlformats.org/drawingml/2006/main">
            <a:r>
              <a:t>- labs/lab05/project/scripts/03_marking_animation.jl — анимационный опыт.</a:t>
            </a:r>
          </a:p>
          <a:p xmlns:a="http://schemas.openxmlformats.org/drawingml/2006/main">
            <a:r>
              <a:t>- labs/lab05/project/scripts/04_comparative_report.jl — анализ сохранённых CSV.</a:t>
            </a:r>
          </a:p>
          <a:p xmlns:a="http://schemas.openxmlformats.org/drawingml/2006/main">
            <a:r>
              <a:t>- labs/lab05/project/data — результаты вычислений.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Лабораторная работа № 5. Горизонт базового и параметрического экспериментов — 50; анимационного — 30. Использованы фиксированные начальные состояния генератора. Доля блокировок — наблюдаемая частота в выполненной серии. Иллюстрации: 07-plot.png.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simulation-modeling-lab.pdf — глава «Аппарат сетей Петри».</a:t>
            </a:r>
          </a:p>
          <a:p xmlns:a="http://schemas.openxmlformats.org/drawingml/2006/main">
            <a:r>
              <a:t>- labs/lab05/project/src/dining_philosophers.jl — модель и алгоритмы.</a:t>
            </a:r>
          </a:p>
          <a:p xmlns:a="http://schemas.openxmlformats.org/drawingml/2006/main">
            <a:r>
              <a:t>- labs/lab05/project/scripts/01_dining_philosophers.jl — базовый эксперимент.</a:t>
            </a:r>
          </a:p>
          <a:p xmlns:a="http://schemas.openxmlformats.org/drawingml/2006/main">
            <a:r>
              <a:t>- labs/lab05/project/scripts/02_parameter_scan.jl — параметрическое исследование.</a:t>
            </a:r>
          </a:p>
          <a:p xmlns:a="http://schemas.openxmlformats.org/drawingml/2006/main">
            <a:r>
              <a:t>- labs/lab05/project/scripts/03_marking_animation.jl — анимационный опыт.</a:t>
            </a:r>
          </a:p>
          <a:p xmlns:a="http://schemas.openxmlformats.org/drawingml/2006/main">
            <a:r>
              <a:t>- labs/lab05/project/scripts/04_comparative_report.jl — анализ сохранённых CSV.</a:t>
            </a:r>
          </a:p>
          <a:p xmlns:a="http://schemas.openxmlformats.org/drawingml/2006/main">
            <a:r>
              <a:t>- labs/lab05/project/data — результаты вычислений.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Лабораторная работа № 5. Горизонт базового и параметрического экспериментов — 50; анимационного — 30. Использованы фиксированные начальные состояния генератора. Доля блокировок — наблюдаемая частота в выполненной серии. Иллюстрации: 01-jupyter.png, 02-jupyter.png.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simulation-modeling-lab.pdf — глава «Аппарат сетей Петри».</a:t>
            </a:r>
          </a:p>
          <a:p xmlns:a="http://schemas.openxmlformats.org/drawingml/2006/main">
            <a:r>
              <a:t>- labs/lab05/project/src/dining_philosophers.jl — модель и алгоритмы.</a:t>
            </a:r>
          </a:p>
          <a:p xmlns:a="http://schemas.openxmlformats.org/drawingml/2006/main">
            <a:r>
              <a:t>- labs/lab05/project/scripts/01_dining_philosophers.jl — базовый эксперимент.</a:t>
            </a:r>
          </a:p>
          <a:p xmlns:a="http://schemas.openxmlformats.org/drawingml/2006/main">
            <a:r>
              <a:t>- labs/lab05/project/scripts/02_parameter_scan.jl — параметрическое исследование.</a:t>
            </a:r>
          </a:p>
          <a:p xmlns:a="http://schemas.openxmlformats.org/drawingml/2006/main">
            <a:r>
              <a:t>- labs/lab05/project/scripts/03_marking_animation.jl — анимационный опыт.</a:t>
            </a:r>
          </a:p>
          <a:p xmlns:a="http://schemas.openxmlformats.org/drawingml/2006/main">
            <a:r>
              <a:t>- labs/lab05/project/scripts/04_comparative_report.jl — анализ сохранённых CSV.</a:t>
            </a:r>
          </a:p>
          <a:p xmlns:a="http://schemas.openxmlformats.org/drawingml/2006/main">
            <a:r>
              <a:t>- labs/lab05/project/data — результаты вычислений.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Лабораторная работа № 5. Горизонт базового и параметрического экспериментов — 50; анимационного — 30. Использованы фиксированные начальные состояния генератора. Доля блокировок — наблюдаемая частота в выполненной серии. Иллюстрации: 03-terminal.png.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simulation-modeling-lab.pdf — глава «Аппарат сетей Петри».</a:t>
            </a:r>
          </a:p>
          <a:p xmlns:a="http://schemas.openxmlformats.org/drawingml/2006/main">
            <a:r>
              <a:t>- labs/lab05/project/src/dining_philosophers.jl — модель и алгоритмы.</a:t>
            </a:r>
          </a:p>
          <a:p xmlns:a="http://schemas.openxmlformats.org/drawingml/2006/main">
            <a:r>
              <a:t>- labs/lab05/project/scripts/01_dining_philosophers.jl — базовый эксперимент.</a:t>
            </a:r>
          </a:p>
          <a:p xmlns:a="http://schemas.openxmlformats.org/drawingml/2006/main">
            <a:r>
              <a:t>- labs/lab05/project/scripts/02_parameter_scan.jl — параметрическое исследование.</a:t>
            </a:r>
          </a:p>
          <a:p xmlns:a="http://schemas.openxmlformats.org/drawingml/2006/main">
            <a:r>
              <a:t>- labs/lab05/project/scripts/03_marking_animation.jl — анимационный опыт.</a:t>
            </a:r>
          </a:p>
          <a:p xmlns:a="http://schemas.openxmlformats.org/drawingml/2006/main">
            <a:r>
              <a:t>- labs/lab05/project/scripts/04_comparative_report.jl — анализ сохранённых CSV.</a:t>
            </a:r>
          </a:p>
          <a:p xmlns:a="http://schemas.openxmlformats.org/drawingml/2006/main">
            <a:r>
              <a:t>- labs/lab05/project/data — результаты вычислений.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Лабораторная работа № 5. Горизонт базового и параметрического экспериментов — 50; анимационного — 30. Использованы фиксированные начальные состояния генератора. Доля блокировок — наблюдаемая частота в выполненной серии.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simulation-modeling-lab.pdf — глава «Аппарат сетей Петри».</a:t>
            </a:r>
          </a:p>
          <a:p xmlns:a="http://schemas.openxmlformats.org/drawingml/2006/main">
            <a:r>
              <a:t>- labs/lab05/project/src/dining_philosophers.jl — модель и алгоритмы.</a:t>
            </a:r>
          </a:p>
          <a:p xmlns:a="http://schemas.openxmlformats.org/drawingml/2006/main">
            <a:r>
              <a:t>- labs/lab05/project/scripts/01_dining_philosophers.jl — базовый эксперимент.</a:t>
            </a:r>
          </a:p>
          <a:p xmlns:a="http://schemas.openxmlformats.org/drawingml/2006/main">
            <a:r>
              <a:t>- labs/lab05/project/scripts/02_parameter_scan.jl — параметрическое исследование.</a:t>
            </a:r>
          </a:p>
          <a:p xmlns:a="http://schemas.openxmlformats.org/drawingml/2006/main">
            <a:r>
              <a:t>- labs/lab05/project/scripts/03_marking_animation.jl — анимационный опыт.</a:t>
            </a:r>
          </a:p>
          <a:p xmlns:a="http://schemas.openxmlformats.org/drawingml/2006/main">
            <a:r>
              <a:t>- labs/lab05/project/scripts/04_comparative_report.jl — анализ сохранённых CSV.</a:t>
            </a:r>
          </a:p>
          <a:p xmlns:a="http://schemas.openxmlformats.org/drawingml/2006/main">
            <a:r>
              <a:t>- labs/lab05/project/data — результаты вычислений.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Лабораторная работа № 5. Горизонт базового и параметрического экспериментов — 50; анимационного — 30. Использованы фиксированные начальные состояния генератора. Доля блокировок — наблюдаемая частота в выполненной серии.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simulation-modeling-lab.pdf — глава «Аппарат сетей Петри».</a:t>
            </a:r>
          </a:p>
          <a:p xmlns:a="http://schemas.openxmlformats.org/drawingml/2006/main">
            <a:r>
              <a:t>- labs/lab05/project/src/dining_philosophers.jl — модель и алгоритмы.</a:t>
            </a:r>
          </a:p>
          <a:p xmlns:a="http://schemas.openxmlformats.org/drawingml/2006/main">
            <a:r>
              <a:t>- labs/lab05/project/scripts/01_dining_philosophers.jl — базовый эксперимент.</a:t>
            </a:r>
          </a:p>
          <a:p xmlns:a="http://schemas.openxmlformats.org/drawingml/2006/main">
            <a:r>
              <a:t>- labs/lab05/project/scripts/02_parameter_scan.jl — параметрическое исследование.</a:t>
            </a:r>
          </a:p>
          <a:p xmlns:a="http://schemas.openxmlformats.org/drawingml/2006/main">
            <a:r>
              <a:t>- labs/lab05/project/scripts/03_marking_animation.jl — анимационный опыт.</a:t>
            </a:r>
          </a:p>
          <a:p xmlns:a="http://schemas.openxmlformats.org/drawingml/2006/main">
            <a:r>
              <a:t>- labs/lab05/project/scripts/04_comparative_report.jl — анализ сохранённых CSV.</a:t>
            </a:r>
          </a:p>
          <a:p xmlns:a="http://schemas.openxmlformats.org/drawingml/2006/main">
            <a:r>
              <a:t>- labs/lab05/project/data — результаты вычислений.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52cbede4384c3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4f371d3274240ea" /><Relationship Type="http://schemas.openxmlformats.org/officeDocument/2006/relationships/slideLayout" Target="/ppt/slideLayouts/slideLayout1.xml" Id="R5fc6ef62f30942d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fc6ef62f30942d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a1eb73b525489f" /><Relationship Type="http://schemas.openxmlformats.org/officeDocument/2006/relationships/image" Target="/ppt/media/image.png" Id="R6ae1e0ff643f4dde" /><Relationship Type="http://schemas.openxmlformats.org/officeDocument/2006/relationships/notesSlide" Target="/ppt/notesSlides/notesSlide1.xml" Id="R4bc861fbc72a4fd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3eb5a56c0d46c0" /><Relationship Type="http://schemas.openxmlformats.org/officeDocument/2006/relationships/image" Target="/ppt/media/image2.png" Id="R7c62a02885ea4f47" /><Relationship Type="http://schemas.openxmlformats.org/officeDocument/2006/relationships/notesSlide" Target="/ppt/notesSlides/notesSlide2.xml" Id="R5bf6f0e4ceaa4cb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4fafc02ed24952" /><Relationship Type="http://schemas.openxmlformats.org/officeDocument/2006/relationships/image" Target="/ppt/media/image3.png" Id="R5e9fa0c2e82c4d61" /><Relationship Type="http://schemas.openxmlformats.org/officeDocument/2006/relationships/notesSlide" Target="/ppt/notesSlides/notesSlide3.xml" Id="R38da0faad75e4ed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8ec965b3944c22" /><Relationship Type="http://schemas.openxmlformats.org/officeDocument/2006/relationships/image" Target="/ppt/media/image4.png" Id="R3415d10c6ea241cd" /><Relationship Type="http://schemas.openxmlformats.org/officeDocument/2006/relationships/notesSlide" Target="/ppt/notesSlides/notesSlide4.xml" Id="Ra23358de418c4cf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e1025683ae456f" /><Relationship Type="http://schemas.openxmlformats.org/officeDocument/2006/relationships/image" Target="/ppt/media/image3.png" Id="R9cb9b489f9414f5e" /><Relationship Type="http://schemas.openxmlformats.org/officeDocument/2006/relationships/notesSlide" Target="/ppt/notesSlides/notesSlide5.xml" Id="R52c68e1921e0480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88ac7bbc0b475b" /><Relationship Type="http://schemas.openxmlformats.org/officeDocument/2006/relationships/image" Target="/ppt/media/image2.png" Id="Red20c27374a344b3" /><Relationship Type="http://schemas.openxmlformats.org/officeDocument/2006/relationships/notesSlide" Target="/ppt/notesSlides/notesSlide6.xml" Id="Rd09ba90e870a4c1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ae845da6c248a9" /><Relationship Type="http://schemas.openxmlformats.org/officeDocument/2006/relationships/image" Target="/ppt/media/image5.png" Id="R357c667453764c56" /><Relationship Type="http://schemas.openxmlformats.org/officeDocument/2006/relationships/notesSlide" Target="/ppt/notesSlides/notesSlide7.xml" Id="R143092c3ddf3436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ecd5f973994778" /><Relationship Type="http://schemas.openxmlformats.org/officeDocument/2006/relationships/image" Target="/ppt/media/image5.png" Id="R1c7554b2423848d7" /><Relationship Type="http://schemas.openxmlformats.org/officeDocument/2006/relationships/notesSlide" Target="/ppt/notesSlides/notesSlide8.xml" Id="R83e2913b24754e9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a75764559b4a43" /><Relationship Type="http://schemas.openxmlformats.org/officeDocument/2006/relationships/image" Target="/ppt/media/image6.png" Id="R1d3a7cbe08c6434c" /><Relationship Type="http://schemas.openxmlformats.org/officeDocument/2006/relationships/image" Target="/ppt/media/image7.png" Id="Re09b8db8038c4641" /><Relationship Type="http://schemas.openxmlformats.org/officeDocument/2006/relationships/notesSlide" Target="/ppt/notesSlides/notesSlide9.xml" Id="R0773a9b32599483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9b417a0afd4385" /><Relationship Type="http://schemas.openxmlformats.org/officeDocument/2006/relationships/image" Target="/ppt/media/image4.png" Id="R02d6e54b06b94178" /><Relationship Type="http://schemas.openxmlformats.org/officeDocument/2006/relationships/notesSlide" Target="/ppt/notesSlides/notesSlide10.xml" Id="Rc809e7bfa91b48b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df39b312824820" /><Relationship Type="http://schemas.openxmlformats.org/officeDocument/2006/relationships/image" Target="/ppt/media/image8.png" Id="R7ca3b5d59cea4284" /><Relationship Type="http://schemas.openxmlformats.org/officeDocument/2006/relationships/image" Target="/ppt/media/image9.png" Id="Rce64cbcbf2464bf1" /><Relationship Type="http://schemas.openxmlformats.org/officeDocument/2006/relationships/notesSlide" Target="/ppt/notesSlides/notesSlide11.xml" Id="R7e48a8d16d1b483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be2cb4397240aa" /><Relationship Type="http://schemas.openxmlformats.org/officeDocument/2006/relationships/image" Target="/ppt/media/image2.png" Id="R89896da4f48541a3" /><Relationship Type="http://schemas.openxmlformats.org/officeDocument/2006/relationships/notesSlide" Target="/ppt/notesSlides/notesSlide12.xml" Id="R7645399f78374ea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a5de2414374b7a" /><Relationship Type="http://schemas.openxmlformats.org/officeDocument/2006/relationships/image" Target="/ppt/media/image3.png" Id="R567fd9802bf94e97" /><Relationship Type="http://schemas.openxmlformats.org/officeDocument/2006/relationships/notesSlide" Target="/ppt/notesSlides/notesSlide13.xml" Id="R2d1b081861a24be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6239744cf047e2" /><Relationship Type="http://schemas.openxmlformats.org/officeDocument/2006/relationships/image" Target="/ppt/media/image10.png" Id="Rcb39ce136a864250" /><Relationship Type="http://schemas.openxmlformats.org/officeDocument/2006/relationships/image" Target="/ppt/media/image11.png" Id="R9bc8eda820814b87" /><Relationship Type="http://schemas.openxmlformats.org/officeDocument/2006/relationships/notesSlide" Target="/ppt/notesSlides/notesSlide14.xml" Id="R48d9e282078f4de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0975659ac24933" /><Relationship Type="http://schemas.openxmlformats.org/officeDocument/2006/relationships/image" Target="/ppt/media/image10.png" Id="R49af975156924f4a" /><Relationship Type="http://schemas.openxmlformats.org/officeDocument/2006/relationships/image" Target="/ppt/media/image11.png" Id="R31d8032b4a104d95" /><Relationship Type="http://schemas.openxmlformats.org/officeDocument/2006/relationships/notesSlide" Target="/ppt/notesSlides/notesSlide15.xml" Id="R0758926561a64da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18980255fc47e3" /><Relationship Type="http://schemas.openxmlformats.org/officeDocument/2006/relationships/image" Target="/ppt/media/image12.png" Id="Rff3b1ae70bdb423a" /><Relationship Type="http://schemas.openxmlformats.org/officeDocument/2006/relationships/image" Target="/ppt/media/image13.png" Id="Rffad513cdae64743" /><Relationship Type="http://schemas.openxmlformats.org/officeDocument/2006/relationships/notesSlide" Target="/ppt/notesSlides/notesSlide16.xml" Id="Rece8b5fb37db49f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5cbbc4b00044ad" /><Relationship Type="http://schemas.openxmlformats.org/officeDocument/2006/relationships/image" Target="/ppt/media/image6.png" Id="R5fd9cf1297734dc1" /><Relationship Type="http://schemas.openxmlformats.org/officeDocument/2006/relationships/image" Target="/ppt/media/image7.png" Id="Rb344fa0fde464f96" /><Relationship Type="http://schemas.openxmlformats.org/officeDocument/2006/relationships/notesSlide" Target="/ppt/notesSlides/notesSlide17.xml" Id="R10e417c97bd74148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d5eff2aad143a6" /><Relationship Type="http://schemas.openxmlformats.org/officeDocument/2006/relationships/image" Target="/ppt/media/image6.png" Id="Re49e61f96da7466d" /><Relationship Type="http://schemas.openxmlformats.org/officeDocument/2006/relationships/image" Target="/ppt/media/image7.png" Id="Rb6588f05355c4042" /><Relationship Type="http://schemas.openxmlformats.org/officeDocument/2006/relationships/notesSlide" Target="/ppt/notesSlides/notesSlide18.xml" Id="Raee55471c2884daf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cdcdca761d436e" /><Relationship Type="http://schemas.openxmlformats.org/officeDocument/2006/relationships/image" Target="/ppt/media/image3.png" Id="R3df45b1a042e4f75" /><Relationship Type="http://schemas.openxmlformats.org/officeDocument/2006/relationships/notesSlide" Target="/ppt/notesSlides/notesSlide19.xml" Id="Re965e443991a4a7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f8e24b80894f1f" /><Relationship Type="http://schemas.openxmlformats.org/officeDocument/2006/relationships/image" Target="/ppt/media/image14.png" Id="Rcc3d3f7fe08845df" /><Relationship Type="http://schemas.openxmlformats.org/officeDocument/2006/relationships/image" Target="/ppt/media/image15.png" Id="R4aa38a3fe3954f3b" /><Relationship Type="http://schemas.openxmlformats.org/officeDocument/2006/relationships/notesSlide" Target="/ppt/notesSlides/notesSlide20.xml" Id="R5045b30ecf87406b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06c4e1752943e2" /><Relationship Type="http://schemas.openxmlformats.org/officeDocument/2006/relationships/image" Target="/ppt/media/image14.png" Id="R088bf822c39142b7" /><Relationship Type="http://schemas.openxmlformats.org/officeDocument/2006/relationships/image" Target="/ppt/media/image15.png" Id="R893d23a828874121" /><Relationship Type="http://schemas.openxmlformats.org/officeDocument/2006/relationships/notesSlide" Target="/ppt/notesSlides/notesSlide21.xml" Id="Rf87881a9b20a47eb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3302bd85c54993" /><Relationship Type="http://schemas.openxmlformats.org/officeDocument/2006/relationships/image" Target="/ppt/media/image16.png" Id="R4815ba224c8d4ed5" /><Relationship Type="http://schemas.openxmlformats.org/officeDocument/2006/relationships/image" Target="/ppt/media/image17.png" Id="R8bab96a685cd47e0" /><Relationship Type="http://schemas.openxmlformats.org/officeDocument/2006/relationships/image" Target="/ppt/media/image18.png" Id="R4dde686e8fee455a" /><Relationship Type="http://schemas.openxmlformats.org/officeDocument/2006/relationships/notesSlide" Target="/ppt/notesSlides/notesSlide22.xml" Id="R9e21b2526d82436a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714686f23f401a" /><Relationship Type="http://schemas.openxmlformats.org/officeDocument/2006/relationships/image" Target="/ppt/media/image19.png" Id="R3addc9e78a5e470e" /><Relationship Type="http://schemas.openxmlformats.org/officeDocument/2006/relationships/image" Target="/ppt/media/image20.png" Id="R97aba65aa0e246dc" /><Relationship Type="http://schemas.openxmlformats.org/officeDocument/2006/relationships/notesSlide" Target="/ppt/notesSlides/notesSlide23.xml" Id="R9ffb4879f11944e1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38c5fb7bdd4be4" /><Relationship Type="http://schemas.openxmlformats.org/officeDocument/2006/relationships/image" Target="/ppt/media/image2.png" Id="R417001dd062e4ab3" /><Relationship Type="http://schemas.openxmlformats.org/officeDocument/2006/relationships/notesSlide" Target="/ppt/notesSlides/notesSlide24.xml" Id="Re1fd2842bb7f4ad6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eae5560403441a" /><Relationship Type="http://schemas.openxmlformats.org/officeDocument/2006/relationships/image" Target="/ppt/media/image2.png" Id="Rdd23dd4a88354f69" /><Relationship Type="http://schemas.openxmlformats.org/officeDocument/2006/relationships/notesSlide" Target="/ppt/notesSlides/notesSlide25.xml" Id="R348f64d501094ca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left-band">
            <a:extLst xmlns:a="http://schemas.openxmlformats.org/drawingml/2006/main">
              <a:ext uri="{FF2B5EF4-FFF2-40B4-BE49-F238E27FC236}">
                <a16:creationId xmlns:a16="http://schemas.microsoft.com/office/drawing/2014/main" id="{3396A765-E720-4140-8F2A-9B2252C72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00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47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accent-band">
            <a:extLst xmlns:a="http://schemas.openxmlformats.org/drawingml/2006/main">
              <a:ext uri="{FF2B5EF4-FFF2-40B4-BE49-F238E27FC236}">
                <a16:creationId xmlns:a16="http://schemas.microsoft.com/office/drawing/2014/main" id="{F0AA6C92-D1C5-4BD3-9709-9C06392CC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e1e0ff643f4dde"/>
          <a:stretch xmlns:a="http://schemas.openxmlformats.org/drawingml/2006/main"/>
        </p:blipFill>
        <p:spPr>
          <a:xfrm xmlns:a="http://schemas.openxmlformats.org/drawingml/2006/main">
            <a:off x="457200" y="560369"/>
            <a:ext cx="1104900" cy="936661"/>
          </a:xfrm>
          <a:prstGeom xmlns:a="http://schemas.openxmlformats.org/drawingml/2006/main" prst="rect">
            <a:avLst/>
          </a:prstGeom>
        </p:spPr>
      </p:pic>
      <p:sp>
        <p:nvSpPr>
          <p:cNvPr id="4" name="course">
            <a:extLst xmlns:a="http://schemas.openxmlformats.org/drawingml/2006/main">
              <a:ext uri="{FF2B5EF4-FFF2-40B4-BE49-F238E27FC236}">
                <a16:creationId xmlns:a16="http://schemas.microsoft.com/office/drawing/2014/main" id="{5F81805C-F6B2-4923-AA28-EDF4ED91C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914400"/>
            <a:ext cx="8477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6EA5"/>
                </a:solidFill>
              </a:defRPr>
            </a:pPr>
            <a:r>
              <a:rPr sz="1350" b="1">
                <a:solidFill>
                  <a:srgbClr val="176EA5"/>
                </a:solidFill>
              </a:rPr>
              <a:t>ИМИТАЦИОННОЕ МОДЕЛИРОВАНИЕ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1045F79F-CBEE-46C7-8579-E321FAC8C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1562100"/>
            <a:ext cx="8572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36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36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Лабораторная работа № 5</a:t>
            </a:r>
          </a:p>
        </p:txBody>
      </p:sp>
      <p:sp>
        <p:nvSpPr>
          <p:cNvPr id="6" name="subtitle">
            <a:extLst xmlns:a="http://schemas.openxmlformats.org/drawingml/2006/main">
              <a:ext uri="{FF2B5EF4-FFF2-40B4-BE49-F238E27FC236}">
                <a16:creationId xmlns:a16="http://schemas.microsoft.com/office/drawing/2014/main" id="{35432B33-C963-45BE-9D52-7A35D6A18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400300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Сети Петри и задача обедающих философов</a:t>
            </a:r>
          </a:p>
        </p:txBody>
      </p:sp>
      <p:sp>
        <p:nvSpPr>
          <p:cNvPr id="7" name="divider">
            <a:extLst xmlns:a="http://schemas.openxmlformats.org/drawingml/2006/main">
              <a:ext uri="{FF2B5EF4-FFF2-40B4-BE49-F238E27FC236}">
                <a16:creationId xmlns:a16="http://schemas.microsoft.com/office/drawing/2014/main" id="{DDF11CD1-D867-493C-A776-41C0A6BCE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295650"/>
            <a:ext cx="5905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author">
            <a:extLst xmlns:a="http://schemas.openxmlformats.org/drawingml/2006/main">
              <a:ext uri="{FF2B5EF4-FFF2-40B4-BE49-F238E27FC236}">
                <a16:creationId xmlns:a16="http://schemas.microsoft.com/office/drawing/2014/main" id="{C9EE01F2-1E06-4D5F-B59A-782D6429D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619500"/>
            <a:ext cx="6096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</a:defRPr>
            </a:pPr>
            <a:r>
              <a:rPr sz="1725" b="0">
                <a:solidFill>
                  <a:srgbClr val="17232D"/>
                </a:solidFill>
              </a:rPr>
              <a:t>Куокконен Дарина Андреевна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</a:defRPr>
            </a:pPr>
            <a:r>
              <a:rPr sz="1725" b="0">
                <a:solidFill>
                  <a:srgbClr val="17232D"/>
                </a:solidFill>
              </a:rPr>
              <a:t>НФИбд-01-23</a:t>
            </a:r>
          </a:p>
        </p:txBody>
      </p:sp>
      <p:sp>
        <p:nvSpPr>
          <p:cNvPr id="9" name="university">
            <a:extLst xmlns:a="http://schemas.openxmlformats.org/drawingml/2006/main">
              <a:ext uri="{FF2B5EF4-FFF2-40B4-BE49-F238E27FC236}">
                <a16:creationId xmlns:a16="http://schemas.microsoft.com/office/drawing/2014/main" id="{1E145EEC-F5DF-4FF7-9082-F8E82222F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5067300"/>
            <a:ext cx="7810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26675"/>
                </a:solidFill>
              </a:defRPr>
            </a:pPr>
            <a:r>
              <a:rPr sz="1350" b="0">
                <a:solidFill>
                  <a:srgbClr val="526675"/>
                </a:solidFill>
              </a:rPr>
              <a:t>Российский университет дружбы народов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26675"/>
                </a:solidFill>
              </a:defRPr>
            </a:pPr>
            <a:r>
              <a:rPr sz="1350" b="0">
                <a:solidFill>
                  <a:srgbClr val="526675"/>
                </a:solidFill>
              </a:rPr>
              <a:t>имени Патриса Лумумбы · Москва · 2026</a:t>
            </a:r>
          </a:p>
        </p:txBody>
      </p:sp>
    </p:spTree>
    <p:extLst>
      <p:ext uri="{BB962C8B-B14F-4D97-AF65-F5344CB8AC3E}">
        <p14:creationId xmlns:p14="http://schemas.microsoft.com/office/powerpoint/2010/main" val="189112477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477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accent">
            <a:extLst xmlns:a="http://schemas.openxmlformats.org/drawingml/2006/main">
              <a:ext uri="{FF2B5EF4-FFF2-40B4-BE49-F238E27FC236}">
                <a16:creationId xmlns:a16="http://schemas.microsoft.com/office/drawing/2014/main" id="{7EDC123F-A2A1-4A23-B400-58E76A7A6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62a02885ea4f47"/>
          <a:stretch xmlns:a="http://schemas.openxmlformats.org/drawingml/2006/main"/>
        </p:blipFill>
        <p:spPr>
          <a:xfrm xmlns:a="http://schemas.openxmlformats.org/drawingml/2006/main">
            <a:off x="742950" y="716689"/>
            <a:ext cx="781050" cy="662123"/>
          </a:xfrm>
          <a:prstGeom xmlns:a="http://schemas.openxmlformats.org/drawingml/2006/main" prst="rect">
            <a:avLst/>
          </a:prstGeom>
        </p:spPr>
      </p:pic>
      <p:sp>
        <p:nvSpPr>
          <p:cNvPr id="3" name="conclusion-title">
            <a:extLst xmlns:a="http://schemas.openxmlformats.org/drawingml/2006/main">
              <a:ext uri="{FF2B5EF4-FFF2-40B4-BE49-F238E27FC236}">
                <a16:creationId xmlns:a16="http://schemas.microsoft.com/office/drawing/2014/main" id="{05B54D60-5BA6-4B1C-AA38-11674D76A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723900"/>
            <a:ext cx="8858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Вводная часть</a:t>
            </a:r>
          </a:p>
        </p:txBody>
      </p:sp>
      <p:sp>
        <p:nvSpPr>
          <p:cNvPr id="4" name="conclusion-rule">
            <a:extLst xmlns:a="http://schemas.openxmlformats.org/drawingml/2006/main">
              <a:ext uri="{FF2B5EF4-FFF2-40B4-BE49-F238E27FC236}">
                <a16:creationId xmlns:a16="http://schemas.microsoft.com/office/drawing/2014/main" id="{A6F50DB3-5845-402B-875A-F3D971960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133600"/>
            <a:ext cx="6286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conclusions">
            <a:extLst xmlns:a="http://schemas.openxmlformats.org/drawingml/2006/main">
              <a:ext uri="{FF2B5EF4-FFF2-40B4-BE49-F238E27FC236}">
                <a16:creationId xmlns:a16="http://schemas.microsoft.com/office/drawing/2014/main" id="{80C76B1D-E492-4AF8-A98B-ACC10B47E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552700"/>
            <a:ext cx="8953500" cy="3219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• Конкурентный доступ к ограниченным ресурсам.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• Формализм позиций, переходов и маркировок.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• Классическая задача обедающих философов.</a:t>
            </a:r>
          </a:p>
        </p:txBody>
      </p:sp>
      <p:sp>
        <p:nvSpPr>
          <p:cNvPr id="6" name="final">
            <a:extLst xmlns:a="http://schemas.openxmlformats.org/drawingml/2006/main">
              <a:ext uri="{FF2B5EF4-FFF2-40B4-BE49-F238E27FC236}">
                <a16:creationId xmlns:a16="http://schemas.microsoft.com/office/drawing/2014/main" id="{FCC7524D-04B4-4E2B-BB4A-218A72DF3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924550"/>
            <a:ext cx="571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35A9D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35A9D3"/>
                </a:solidFill>
                <a:latin typeface="Calibri"/>
                <a:ea typeface="Calibri"/>
                <a:cs typeface="Calibri"/>
              </a:rPr>
              <a:t>Лабораторная работа № 5</a:t>
            </a:r>
          </a:p>
        </p:txBody>
      </p:sp>
    </p:spTree>
    <p:extLst>
      <p:ext uri="{BB962C8B-B14F-4D97-AF65-F5344CB8AC3E}">
        <p14:creationId xmlns:p14="http://schemas.microsoft.com/office/powerpoint/2010/main" val="50953971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op-band">
            <a:extLst xmlns:a="http://schemas.openxmlformats.org/drawingml/2006/main">
              <a:ext uri="{FF2B5EF4-FFF2-40B4-BE49-F238E27FC236}">
                <a16:creationId xmlns:a16="http://schemas.microsoft.com/office/drawing/2014/main" id="{48421A46-F9BD-480F-B275-C23896D5E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47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90627352-F663-4A2E-9B7B-12B403F6F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18DEB88-7101-47B0-B748-A400397B5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Цель — исследовать и предотвратить deadlock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9CDEA9B6-8955-4F09-B9FA-546DA393B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9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9fa0c2e82c4d61"/>
          <a:stretch xmlns:a="http://schemas.openxmlformats.org/drawingml/2006/main"/>
        </p:blipFill>
        <p:spPr>
          <a:xfrm xmlns:a="http://schemas.openxmlformats.org/drawingml/2006/main">
            <a:off x="552450" y="6495443"/>
            <a:ext cx="304800" cy="258389"/>
          </a:xfrm>
          <a:prstGeom xmlns:a="http://schemas.openxmlformats.org/drawingml/2006/main" prst="rect">
            <a:avLst/>
          </a:prstGeom>
        </p:spPr>
      </p:pic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B41B547B-6312-422F-97B9-B812308FC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86525"/>
            <a:ext cx="7334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Имитационное моделирование · лабораторная работа № 5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5D149F8-2B2A-45C2-ACB2-B531EF4A6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86525"/>
            <a:ext cx="800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8" name="goal">
            <a:extLst xmlns:a="http://schemas.openxmlformats.org/drawingml/2006/main">
              <a:ext uri="{FF2B5EF4-FFF2-40B4-BE49-F238E27FC236}">
                <a16:creationId xmlns:a16="http://schemas.microsoft.com/office/drawing/2014/main" id="{867F2279-946D-4402-B6C9-E80BAE1B4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33450"/>
            <a:ext cx="1066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Сравнить две сети Петри и проверить влияние арбитра на активность системы.</a:t>
            </a:r>
          </a:p>
        </p:txBody>
      </p:sp>
      <p:sp>
        <p:nvSpPr>
          <p:cNvPr id="9" name="left-rule">
            <a:extLst xmlns:a="http://schemas.openxmlformats.org/drawingml/2006/main">
              <a:ext uri="{FF2B5EF4-FFF2-40B4-BE49-F238E27FC236}">
                <a16:creationId xmlns:a16="http://schemas.microsoft.com/office/drawing/2014/main" id="{0B205D5C-F4E6-46EE-8BE3-E1E85CA2F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52625"/>
            <a:ext cx="57150" cy="3409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tasks">
            <a:extLst xmlns:a="http://schemas.openxmlformats.org/drawingml/2006/main">
              <a:ext uri="{FF2B5EF4-FFF2-40B4-BE49-F238E27FC236}">
                <a16:creationId xmlns:a16="http://schemas.microsoft.com/office/drawing/2014/main" id="{D0B8600E-8057-4E67-AFD8-8FFEDC555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847850"/>
            <a:ext cx="96202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построить сети для пяти философов;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реализовать алгоритм Гиллеспи;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получить детерминированную аппроксимацию;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измерить число приёмов пищи и равномерность;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выполнить серию из 960 траекторий;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проверить модель автоматическими тестами.</a:t>
            </a:r>
          </a:p>
        </p:txBody>
      </p:sp>
    </p:spTree>
    <p:extLst>
      <p:ext uri="{BB962C8B-B14F-4D97-AF65-F5344CB8AC3E}">
        <p14:creationId xmlns:p14="http://schemas.microsoft.com/office/powerpoint/2010/main" val="189917288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op-band">
            <a:extLst xmlns:a="http://schemas.openxmlformats.org/drawingml/2006/main">
              <a:ext uri="{FF2B5EF4-FFF2-40B4-BE49-F238E27FC236}">
                <a16:creationId xmlns:a16="http://schemas.microsoft.com/office/drawing/2014/main" id="{3EEA6B23-AFB4-4427-A475-AEF5DDAE6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47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730A9777-4FA0-429D-8228-411BC965E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06A3BF7-966F-458F-B59D-CE4CCF981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Сеть Петри задаёт ресурсы и атомарные события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91C91618-2B9A-40EC-9AA7-257BA9B76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9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15d10c6ea241cd"/>
          <a:stretch xmlns:a="http://schemas.openxmlformats.org/drawingml/2006/main"/>
        </p:blipFill>
        <p:spPr>
          <a:xfrm xmlns:a="http://schemas.openxmlformats.org/drawingml/2006/main">
            <a:off x="552450" y="6495443"/>
            <a:ext cx="304800" cy="258389"/>
          </a:xfrm>
          <a:prstGeom xmlns:a="http://schemas.openxmlformats.org/drawingml/2006/main" prst="rect">
            <a:avLst/>
          </a:prstGeom>
        </p:spPr>
      </p:pic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4EAE11C7-4C12-40DF-87E8-6272C63C1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86525"/>
            <a:ext cx="7334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Имитационное моделирование · лабораторная работа № 5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DA091B3-20E5-4A17-8498-D902EADB7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86525"/>
            <a:ext cx="800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8" name="formula-bg">
            <a:extLst xmlns:a="http://schemas.openxmlformats.org/drawingml/2006/main">
              <a:ext uri="{FF2B5EF4-FFF2-40B4-BE49-F238E27FC236}">
                <a16:creationId xmlns:a16="http://schemas.microsoft.com/office/drawing/2014/main" id="{B1E9D04E-FA55-4CFF-8F43-F473404F3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09650"/>
            <a:ext cx="50482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A"/>
          </a:solidFill>
          <a:ln xmlns:a="http://schemas.openxmlformats.org/drawingml/2006/main" w="9525">
            <a:solidFill>
              <a:srgbClr val="B9D9E8"/>
            </a:solidFill>
            <a:prstDash val="solid"/>
          </a:ln>
        </p:spPr>
      </p:sp>
      <p:sp>
        <p:nvSpPr>
          <p:cNvPr id="9" name="sir-formulas">
            <a:extLst xmlns:a="http://schemas.openxmlformats.org/drawingml/2006/main">
              <a:ext uri="{FF2B5EF4-FFF2-40B4-BE49-F238E27FC236}">
                <a16:creationId xmlns:a16="http://schemas.microsoft.com/office/drawing/2014/main" id="{E62C42B5-3244-41DB-8CEC-D1C06B6D0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257300"/>
            <a:ext cx="4333875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N = (P, T, F, M₀)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buNone/>
              <a:defRPr sz="21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C = I⁺ − I⁻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buNone/>
              <a:defRPr sz="21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M ≥ I⁻[:, j]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buNone/>
              <a:defRPr sz="21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M′ = M + C[:, j]</a:t>
            </a:r>
          </a:p>
        </p:txBody>
      </p:sp>
      <p:sp>
        <p:nvSpPr>
          <p:cNvPr id="10" name="sir-meaning">
            <a:extLst xmlns:a="http://schemas.openxmlformats.org/drawingml/2006/main">
              <a:ext uri="{FF2B5EF4-FFF2-40B4-BE49-F238E27FC236}">
                <a16:creationId xmlns:a16="http://schemas.microsoft.com/office/drawing/2014/main" id="{41D19FF8-7068-4D04-B519-53E816117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381125"/>
            <a:ext cx="476250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P — позиции; T — переходы.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87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Фишки обозначают доступные ресурсы и состояния.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87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Разрешённый переход изменяет маркировку атомарно.</a:t>
            </a:r>
          </a:p>
        </p:txBody>
      </p:sp>
      <p:sp>
        <p:nvSpPr>
          <p:cNvPr id="11" name="r0-bg">
            <a:extLst xmlns:a="http://schemas.openxmlformats.org/drawingml/2006/main">
              <a:ext uri="{FF2B5EF4-FFF2-40B4-BE49-F238E27FC236}">
                <a16:creationId xmlns:a16="http://schemas.microsoft.com/office/drawing/2014/main" id="{DDA48782-AECC-4910-B9D2-3F2995585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400550"/>
            <a:ext cx="22098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A"/>
          </a:solidFill>
          <a:ln xmlns:a="http://schemas.openxmlformats.org/drawingml/2006/main" w="9525">
            <a:solidFill>
              <a:srgbClr val="B9D9E8"/>
            </a:solidFill>
            <a:prstDash val="solid"/>
          </a:ln>
        </p:spPr>
      </p:sp>
      <p:sp>
        <p:nvSpPr>
          <p:cNvPr id="12" name="r0-value">
            <a:extLst xmlns:a="http://schemas.openxmlformats.org/drawingml/2006/main">
              <a:ext uri="{FF2B5EF4-FFF2-40B4-BE49-F238E27FC236}">
                <a16:creationId xmlns:a16="http://schemas.microsoft.com/office/drawing/2014/main" id="{B18707AA-ED3C-4619-A9B6-DFF0176B1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495800"/>
            <a:ext cx="1866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M₀</a:t>
            </a:r>
          </a:p>
        </p:txBody>
      </p:sp>
      <p:sp>
        <p:nvSpPr>
          <p:cNvPr id="13" name="r0-caption">
            <a:extLst xmlns:a="http://schemas.openxmlformats.org/drawingml/2006/main">
              <a:ext uri="{FF2B5EF4-FFF2-40B4-BE49-F238E27FC236}">
                <a16:creationId xmlns:a16="http://schemas.microsoft.com/office/drawing/2014/main" id="{A58DA480-4E37-4926-931E-A697D701D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933950"/>
            <a:ext cx="1866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начальная маркировка</a:t>
            </a:r>
          </a:p>
        </p:txBody>
      </p:sp>
      <p:sp>
        <p:nvSpPr>
          <p:cNvPr id="14" name="peak-bg">
            <a:extLst xmlns:a="http://schemas.openxmlformats.org/drawingml/2006/main">
              <a:ext uri="{FF2B5EF4-FFF2-40B4-BE49-F238E27FC236}">
                <a16:creationId xmlns:a16="http://schemas.microsoft.com/office/drawing/2014/main" id="{057DFCE5-9E6A-4EC5-AF80-3D23DC913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4400550"/>
            <a:ext cx="22098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A"/>
          </a:solidFill>
          <a:ln xmlns:a="http://schemas.openxmlformats.org/drawingml/2006/main" w="9525">
            <a:solidFill>
              <a:srgbClr val="B9D9E8"/>
            </a:solidFill>
            <a:prstDash val="solid"/>
          </a:ln>
        </p:spPr>
      </p:sp>
      <p:sp>
        <p:nvSpPr>
          <p:cNvPr id="15" name="peak-value">
            <a:extLst xmlns:a="http://schemas.openxmlformats.org/drawingml/2006/main">
              <a:ext uri="{FF2B5EF4-FFF2-40B4-BE49-F238E27FC236}">
                <a16:creationId xmlns:a16="http://schemas.microsoft.com/office/drawing/2014/main" id="{25877720-9526-4D97-B9EA-1C32D0D95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495800"/>
            <a:ext cx="1866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C83B45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C83B45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16" name="peak-caption">
            <a:extLst xmlns:a="http://schemas.openxmlformats.org/drawingml/2006/main">
              <a:ext uri="{FF2B5EF4-FFF2-40B4-BE49-F238E27FC236}">
                <a16:creationId xmlns:a16="http://schemas.microsoft.com/office/drawing/2014/main" id="{7005C71B-CBA1-467E-AD9C-32FB37119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933950"/>
            <a:ext cx="1866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матрица изменений</a:t>
            </a:r>
          </a:p>
        </p:txBody>
      </p:sp>
    </p:spTree>
    <p:extLst>
      <p:ext uri="{BB962C8B-B14F-4D97-AF65-F5344CB8AC3E}">
        <p14:creationId xmlns:p14="http://schemas.microsoft.com/office/powerpoint/2010/main" val="158478995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op-band">
            <a:extLst xmlns:a="http://schemas.openxmlformats.org/drawingml/2006/main">
              <a:ext uri="{FF2B5EF4-FFF2-40B4-BE49-F238E27FC236}">
                <a16:creationId xmlns:a16="http://schemas.microsoft.com/office/drawing/2014/main" id="{48421A46-F9BD-480F-B275-C23896D5E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47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90627352-F663-4A2E-9B7B-12B403F6F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18DEB88-7101-47B0-B748-A400397B5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Философу нужны две соседние вилки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9CDEA9B6-8955-4F09-B9FA-546DA393B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9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b9b489f9414f5e"/>
          <a:stretch xmlns:a="http://schemas.openxmlformats.org/drawingml/2006/main"/>
        </p:blipFill>
        <p:spPr>
          <a:xfrm xmlns:a="http://schemas.openxmlformats.org/drawingml/2006/main">
            <a:off x="552450" y="6495443"/>
            <a:ext cx="304800" cy="258389"/>
          </a:xfrm>
          <a:prstGeom xmlns:a="http://schemas.openxmlformats.org/drawingml/2006/main" prst="rect">
            <a:avLst/>
          </a:prstGeom>
        </p:spPr>
      </p:pic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B41B547B-6312-422F-97B9-B812308FC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86525"/>
            <a:ext cx="7334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Имитационное моделирование · лабораторная работа № 5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5D149F8-2B2A-45C2-ACB2-B531EF4A6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86525"/>
            <a:ext cx="800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8" name="goal">
            <a:extLst xmlns:a="http://schemas.openxmlformats.org/drawingml/2006/main">
              <a:ext uri="{FF2B5EF4-FFF2-40B4-BE49-F238E27FC236}">
                <a16:creationId xmlns:a16="http://schemas.microsoft.com/office/drawing/2014/main" id="{867F2279-946D-4402-B6C9-E80BAE1B4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33450"/>
            <a:ext cx="1066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Пять философов чередуют размышление, ожидание второй вилки и приём пищи.</a:t>
            </a:r>
          </a:p>
        </p:txBody>
      </p:sp>
      <p:sp>
        <p:nvSpPr>
          <p:cNvPr id="9" name="left-rule">
            <a:extLst xmlns:a="http://schemas.openxmlformats.org/drawingml/2006/main">
              <a:ext uri="{FF2B5EF4-FFF2-40B4-BE49-F238E27FC236}">
                <a16:creationId xmlns:a16="http://schemas.microsoft.com/office/drawing/2014/main" id="{0B205D5C-F4E6-46EE-8BE3-E1E85CA2F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52625"/>
            <a:ext cx="57150" cy="3409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tasks">
            <a:extLst xmlns:a="http://schemas.openxmlformats.org/drawingml/2006/main">
              <a:ext uri="{FF2B5EF4-FFF2-40B4-BE49-F238E27FC236}">
                <a16:creationId xmlns:a16="http://schemas.microsoft.com/office/drawing/2014/main" id="{D0B8600E-8057-4E67-AFD8-8FFEDC555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847850"/>
            <a:ext cx="96202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Thinkᵢ — философ размышляет;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Hungryᵢ — удерживает левую вилку;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Eatᵢ — удерживает обе вилки;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Forkᵢ — вилка свободна;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GetLeftᵢ и GetRightᵢ захватывают вилки;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PutForksᵢ возвращает обе вилки.</a:t>
            </a:r>
          </a:p>
        </p:txBody>
      </p:sp>
    </p:spTree>
    <p:extLst>
      <p:ext uri="{BB962C8B-B14F-4D97-AF65-F5344CB8AC3E}">
        <p14:creationId xmlns:p14="http://schemas.microsoft.com/office/powerpoint/2010/main" val="189917288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477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accent">
            <a:extLst xmlns:a="http://schemas.openxmlformats.org/drawingml/2006/main">
              <a:ext uri="{FF2B5EF4-FFF2-40B4-BE49-F238E27FC236}">
                <a16:creationId xmlns:a16="http://schemas.microsoft.com/office/drawing/2014/main" id="{7EDC123F-A2A1-4A23-B400-58E76A7A6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20c27374a344b3"/>
          <a:stretch xmlns:a="http://schemas.openxmlformats.org/drawingml/2006/main"/>
        </p:blipFill>
        <p:spPr>
          <a:xfrm xmlns:a="http://schemas.openxmlformats.org/drawingml/2006/main">
            <a:off x="742950" y="716689"/>
            <a:ext cx="781050" cy="662123"/>
          </a:xfrm>
          <a:prstGeom xmlns:a="http://schemas.openxmlformats.org/drawingml/2006/main" prst="rect">
            <a:avLst/>
          </a:prstGeom>
        </p:spPr>
      </p:pic>
      <p:sp>
        <p:nvSpPr>
          <p:cNvPr id="3" name="conclusion-title">
            <a:extLst xmlns:a="http://schemas.openxmlformats.org/drawingml/2006/main">
              <a:ext uri="{FF2B5EF4-FFF2-40B4-BE49-F238E27FC236}">
                <a16:creationId xmlns:a16="http://schemas.microsoft.com/office/drawing/2014/main" id="{05B54D60-5BA6-4B1C-AA38-11674D76A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723900"/>
            <a:ext cx="8858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Модели</a:t>
            </a:r>
          </a:p>
        </p:txBody>
      </p:sp>
      <p:sp>
        <p:nvSpPr>
          <p:cNvPr id="4" name="conclusion-rule">
            <a:extLst xmlns:a="http://schemas.openxmlformats.org/drawingml/2006/main">
              <a:ext uri="{FF2B5EF4-FFF2-40B4-BE49-F238E27FC236}">
                <a16:creationId xmlns:a16="http://schemas.microsoft.com/office/drawing/2014/main" id="{A6F50DB3-5845-402B-875A-F3D971960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133600"/>
            <a:ext cx="6286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conclusions">
            <a:extLst xmlns:a="http://schemas.openxmlformats.org/drawingml/2006/main">
              <a:ext uri="{FF2B5EF4-FFF2-40B4-BE49-F238E27FC236}">
                <a16:creationId xmlns:a16="http://schemas.microsoft.com/office/drawing/2014/main" id="{80C76B1D-E492-4AF8-A98B-ACC10B47E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552700"/>
            <a:ext cx="8953500" cy="3219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• Классическая сеть допускает циклическое ожидание.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• Арбитр ограничивает число начавших захват ресурсов.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• Обе сети используют один алгоритм событий.</a:t>
            </a:r>
          </a:p>
        </p:txBody>
      </p:sp>
      <p:sp>
        <p:nvSpPr>
          <p:cNvPr id="6" name="final">
            <a:extLst xmlns:a="http://schemas.openxmlformats.org/drawingml/2006/main">
              <a:ext uri="{FF2B5EF4-FFF2-40B4-BE49-F238E27FC236}">
                <a16:creationId xmlns:a16="http://schemas.microsoft.com/office/drawing/2014/main" id="{FCC7524D-04B4-4E2B-BB4A-218A72DF3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924550"/>
            <a:ext cx="571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35A9D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35A9D3"/>
                </a:solidFill>
                <a:latin typeface="Calibri"/>
                <a:ea typeface="Calibri"/>
                <a:cs typeface="Calibri"/>
              </a:rPr>
              <a:t>Лабораторная работа № 5</a:t>
            </a:r>
          </a:p>
        </p:txBody>
      </p:sp>
    </p:spTree>
    <p:extLst>
      <p:ext uri="{BB962C8B-B14F-4D97-AF65-F5344CB8AC3E}">
        <p14:creationId xmlns:p14="http://schemas.microsoft.com/office/powerpoint/2010/main" val="50953971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op-band">
            <a:extLst xmlns:a="http://schemas.openxmlformats.org/drawingml/2006/main">
              <a:ext uri="{FF2B5EF4-FFF2-40B4-BE49-F238E27FC236}">
                <a16:creationId xmlns:a16="http://schemas.microsoft.com/office/drawing/2014/main" id="{AE851876-E4F3-42CF-B13E-732A40746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47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077E9EA1-240A-4A9D-86B1-E823F2BC1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60A880F-EB7A-4877-9F48-C43A30B7F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Классическая сеть может потерять активность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66CD5096-7B1C-4E38-99C6-492D6625A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9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7c667453764c56"/>
          <a:stretch xmlns:a="http://schemas.openxmlformats.org/drawingml/2006/main"/>
        </p:blipFill>
        <p:spPr>
          <a:xfrm xmlns:a="http://schemas.openxmlformats.org/drawingml/2006/main">
            <a:off x="552450" y="6495443"/>
            <a:ext cx="304800" cy="258389"/>
          </a:xfrm>
          <a:prstGeom xmlns:a="http://schemas.openxmlformats.org/drawingml/2006/main" prst="rect">
            <a:avLst/>
          </a:prstGeom>
        </p:spPr>
      </p:pic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3F236ABF-78D3-494B-BC1F-3BF65D253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86525"/>
            <a:ext cx="7334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Имитационное моделирование · лабораторная работа № 5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F704435-51D2-43C5-A95D-8BBA66795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86525"/>
            <a:ext cx="800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sp>
        <p:nvSpPr>
          <p:cNvPr id="8" name="formula-bg">
            <a:extLst xmlns:a="http://schemas.openxmlformats.org/drawingml/2006/main">
              <a:ext uri="{FF2B5EF4-FFF2-40B4-BE49-F238E27FC236}">
                <a16:creationId xmlns:a16="http://schemas.microsoft.com/office/drawing/2014/main" id="{A1154276-9ACC-4D1B-9A5B-D59D10479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09650"/>
            <a:ext cx="52197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A"/>
          </a:solidFill>
          <a:ln xmlns:a="http://schemas.openxmlformats.org/drawingml/2006/main" w="9525">
            <a:solidFill>
              <a:srgbClr val="B9D9E8"/>
            </a:solidFill>
            <a:prstDash val="solid"/>
          </a:ln>
        </p:spPr>
      </p:sp>
      <p:sp>
        <p:nvSpPr>
          <p:cNvPr id="9" name="lv-formulas">
            <a:extLst xmlns:a="http://schemas.openxmlformats.org/drawingml/2006/main">
              <a:ext uri="{FF2B5EF4-FFF2-40B4-BE49-F238E27FC236}">
                <a16:creationId xmlns:a16="http://schemas.microsoft.com/office/drawing/2014/main" id="{ED5EE27F-E01E-4EF1-A773-EDE1C3074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285875"/>
            <a:ext cx="464820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Thinkᵢ + Forkᵢ</a:t>
            </a:r>
          </a:p>
          <a:p xmlns:a="http://schemas.openxmlformats.org/drawingml/2006/main">
            <a:pPr algn="ctr">
              <a:defRPr sz="202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      → Hungryᵢ</a:t>
            </a:r>
          </a:p>
          <a:p xmlns:a="http://schemas.openxmlformats.org/drawingml/2006/main">
            <a:pPr algn="ctr">
              <a:buNone/>
              <a:defRPr sz="2025" b="1">
                <a:solidFill>
                  <a:srgbClr val="0B4778"/>
                </a:solidFill>
              </a:defRPr>
            </a:pPr>
            <a:r>
              <a:rPr sz="2025" b="1">
                <a:solidFill>
                  <a:srgbClr val="0B4778"/>
                </a:solidFill>
              </a:rPr>
              <a:t/>
            </a:r>
          </a:p>
          <a:p xmlns:a="http://schemas.openxmlformats.org/drawingml/2006/main">
            <a:pPr algn="ctr">
              <a:defRPr sz="202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Hungryᵢ + Forkᵢ₊₁</a:t>
            </a:r>
          </a:p>
          <a:p xmlns:a="http://schemas.openxmlformats.org/drawingml/2006/main">
            <a:pPr algn="ctr">
              <a:buNone/>
              <a:defRPr sz="202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      → Eatᵢ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buNone/>
              <a:defRPr sz="202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Eatᵢ → Thinkᵢ + Forkᵢ + Forkᵢ₊₁</a:t>
            </a:r>
          </a:p>
        </p:txBody>
      </p:sp>
      <p:sp>
        <p:nvSpPr>
          <p:cNvPr id="10" name="lv-meaning">
            <a:extLst xmlns:a="http://schemas.openxmlformats.org/drawingml/2006/main">
              <a:ext uri="{FF2B5EF4-FFF2-40B4-BE49-F238E27FC236}">
                <a16:creationId xmlns:a16="http://schemas.microsoft.com/office/drawing/2014/main" id="{98E47E58-19B5-4074-9F5D-48CFF71DA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381125"/>
            <a:ext cx="4667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Если каждый философ удерживает левую вилку, свободных вилок не остаётся.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87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Ни один GetRightᵢ не разрешён.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87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Сеть попадает в глобальный deadlock.</a:t>
            </a:r>
          </a:p>
        </p:txBody>
      </p:sp>
      <p:sp>
        <p:nvSpPr>
          <p:cNvPr id="11" name="period-bg">
            <a:extLst xmlns:a="http://schemas.openxmlformats.org/drawingml/2006/main">
              <a:ext uri="{FF2B5EF4-FFF2-40B4-BE49-F238E27FC236}">
                <a16:creationId xmlns:a16="http://schemas.microsoft.com/office/drawing/2014/main" id="{0511A5E7-A74F-4703-ABCA-9BD93745A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457700"/>
            <a:ext cx="21907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A"/>
          </a:solidFill>
          <a:ln xmlns:a="http://schemas.openxmlformats.org/drawingml/2006/main" w="9525">
            <a:solidFill>
              <a:srgbClr val="B9D9E8"/>
            </a:solidFill>
            <a:prstDash val="solid"/>
          </a:ln>
        </p:spPr>
      </p:sp>
      <p:sp>
        <p:nvSpPr>
          <p:cNvPr id="12" name="period-value">
            <a:extLst xmlns:a="http://schemas.openxmlformats.org/drawingml/2006/main">
              <a:ext uri="{FF2B5EF4-FFF2-40B4-BE49-F238E27FC236}">
                <a16:creationId xmlns:a16="http://schemas.microsoft.com/office/drawing/2014/main" id="{FDB99F33-5682-4C0B-8DB3-C5B8B0B1C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552950"/>
            <a:ext cx="1847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D8A5B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1D8A5B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13" name="period-caption">
            <a:extLst xmlns:a="http://schemas.openxmlformats.org/drawingml/2006/main">
              <a:ext uri="{FF2B5EF4-FFF2-40B4-BE49-F238E27FC236}">
                <a16:creationId xmlns:a16="http://schemas.microsoft.com/office/drawing/2014/main" id="{BBEDD93C-B6F0-4B1F-8435-EB94DA0A6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991100"/>
            <a:ext cx="1847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занятых вилок</a:t>
            </a:r>
          </a:p>
        </p:txBody>
      </p:sp>
      <p:sp>
        <p:nvSpPr>
          <p:cNvPr id="14" name="drift-bg">
            <a:extLst xmlns:a="http://schemas.openxmlformats.org/drawingml/2006/main">
              <a:ext uri="{FF2B5EF4-FFF2-40B4-BE49-F238E27FC236}">
                <a16:creationId xmlns:a16="http://schemas.microsoft.com/office/drawing/2014/main" id="{235B091A-44CB-4BDC-98CB-501D43147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457700"/>
            <a:ext cx="21907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A"/>
          </a:solidFill>
          <a:ln xmlns:a="http://schemas.openxmlformats.org/drawingml/2006/main" w="9525">
            <a:solidFill>
              <a:srgbClr val="B9D9E8"/>
            </a:solidFill>
            <a:prstDash val="solid"/>
          </a:ln>
        </p:spPr>
      </p:sp>
      <p:sp>
        <p:nvSpPr>
          <p:cNvPr id="15" name="drift-value">
            <a:extLst xmlns:a="http://schemas.openxmlformats.org/drawingml/2006/main">
              <a:ext uri="{FF2B5EF4-FFF2-40B4-BE49-F238E27FC236}">
                <a16:creationId xmlns:a16="http://schemas.microsoft.com/office/drawing/2014/main" id="{9BC52E5B-F448-4230-B5FE-9C7B6737E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552950"/>
            <a:ext cx="1847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76EA5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176EA5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16" name="drift-caption">
            <a:extLst xmlns:a="http://schemas.openxmlformats.org/drawingml/2006/main">
              <a:ext uri="{FF2B5EF4-FFF2-40B4-BE49-F238E27FC236}">
                <a16:creationId xmlns:a16="http://schemas.microsoft.com/office/drawing/2014/main" id="{9F3E1B8F-C766-47FC-8FE0-8FCB35E2C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991100"/>
            <a:ext cx="1847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разрешённых событий</a:t>
            </a:r>
          </a:p>
        </p:txBody>
      </p:sp>
    </p:spTree>
    <p:extLst>
      <p:ext uri="{BB962C8B-B14F-4D97-AF65-F5344CB8AC3E}">
        <p14:creationId xmlns:p14="http://schemas.microsoft.com/office/powerpoint/2010/main" val="23570310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op-band">
            <a:extLst xmlns:a="http://schemas.openxmlformats.org/drawingml/2006/main">
              <a:ext uri="{FF2B5EF4-FFF2-40B4-BE49-F238E27FC236}">
                <a16:creationId xmlns:a16="http://schemas.microsoft.com/office/drawing/2014/main" id="{AE851876-E4F3-42CF-B13E-732A40746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47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077E9EA1-240A-4A9D-86B1-E823F2BC1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60A880F-EB7A-4877-9F48-C43A30B7F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Арбитр разрывает цикл ожидания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66CD5096-7B1C-4E38-99C6-492D6625A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9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7554b2423848d7"/>
          <a:stretch xmlns:a="http://schemas.openxmlformats.org/drawingml/2006/main"/>
        </p:blipFill>
        <p:spPr>
          <a:xfrm xmlns:a="http://schemas.openxmlformats.org/drawingml/2006/main">
            <a:off x="552450" y="6495443"/>
            <a:ext cx="304800" cy="258389"/>
          </a:xfrm>
          <a:prstGeom xmlns:a="http://schemas.openxmlformats.org/drawingml/2006/main" prst="rect">
            <a:avLst/>
          </a:prstGeom>
        </p:spPr>
      </p:pic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3F236ABF-78D3-494B-BC1F-3BF65D253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86525"/>
            <a:ext cx="7334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Имитационное моделирование · лабораторная работа № 5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F704435-51D2-43C5-A95D-8BBA66795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86525"/>
            <a:ext cx="800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sp>
        <p:nvSpPr>
          <p:cNvPr id="8" name="formula-bg">
            <a:extLst xmlns:a="http://schemas.openxmlformats.org/drawingml/2006/main">
              <a:ext uri="{FF2B5EF4-FFF2-40B4-BE49-F238E27FC236}">
                <a16:creationId xmlns:a16="http://schemas.microsoft.com/office/drawing/2014/main" id="{A1154276-9ACC-4D1B-9A5B-D59D10479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09650"/>
            <a:ext cx="52197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A"/>
          </a:solidFill>
          <a:ln xmlns:a="http://schemas.openxmlformats.org/drawingml/2006/main" w="9525">
            <a:solidFill>
              <a:srgbClr val="B9D9E8"/>
            </a:solidFill>
            <a:prstDash val="solid"/>
          </a:ln>
        </p:spPr>
      </p:sp>
      <p:sp>
        <p:nvSpPr>
          <p:cNvPr id="9" name="lv-formulas">
            <a:extLst xmlns:a="http://schemas.openxmlformats.org/drawingml/2006/main">
              <a:ext uri="{FF2B5EF4-FFF2-40B4-BE49-F238E27FC236}">
                <a16:creationId xmlns:a16="http://schemas.microsoft.com/office/drawing/2014/main" id="{ED5EE27F-E01E-4EF1-A773-EDE1C3074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285875"/>
            <a:ext cx="464820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M₀(Arbiter) = N − 1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buNone/>
              <a:defRPr sz="202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GetLeftᵢ: Arbiter − 1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buNone/>
              <a:defRPr sz="202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PutForksᵢ: Arbiter + 1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buNone/>
              <a:defRPr sz="202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N = 5 → 4 разрешения</a:t>
            </a:r>
          </a:p>
        </p:txBody>
      </p:sp>
      <p:sp>
        <p:nvSpPr>
          <p:cNvPr id="10" name="lv-meaning">
            <a:extLst xmlns:a="http://schemas.openxmlformats.org/drawingml/2006/main">
              <a:ext uri="{FF2B5EF4-FFF2-40B4-BE49-F238E27FC236}">
                <a16:creationId xmlns:a16="http://schemas.microsoft.com/office/drawing/2014/main" id="{98E47E58-19B5-4074-9F5D-48CFF71DA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381125"/>
            <a:ext cx="4667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Одновременно начать захват могут не более N − 1 философов.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87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Хотя бы один остаётся вне цикла ожидания.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87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Глобальный deadlock невозможен.</a:t>
            </a:r>
          </a:p>
        </p:txBody>
      </p:sp>
      <p:sp>
        <p:nvSpPr>
          <p:cNvPr id="11" name="period-bg">
            <a:extLst xmlns:a="http://schemas.openxmlformats.org/drawingml/2006/main">
              <a:ext uri="{FF2B5EF4-FFF2-40B4-BE49-F238E27FC236}">
                <a16:creationId xmlns:a16="http://schemas.microsoft.com/office/drawing/2014/main" id="{0511A5E7-A74F-4703-ABCA-9BD93745A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457700"/>
            <a:ext cx="21907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A"/>
          </a:solidFill>
          <a:ln xmlns:a="http://schemas.openxmlformats.org/drawingml/2006/main" w="9525">
            <a:solidFill>
              <a:srgbClr val="B9D9E8"/>
            </a:solidFill>
            <a:prstDash val="solid"/>
          </a:ln>
        </p:spPr>
      </p:sp>
      <p:sp>
        <p:nvSpPr>
          <p:cNvPr id="12" name="period-value">
            <a:extLst xmlns:a="http://schemas.openxmlformats.org/drawingml/2006/main">
              <a:ext uri="{FF2B5EF4-FFF2-40B4-BE49-F238E27FC236}">
                <a16:creationId xmlns:a16="http://schemas.microsoft.com/office/drawing/2014/main" id="{FDB99F33-5682-4C0B-8DB3-C5B8B0B1C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552950"/>
            <a:ext cx="1847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D8A5B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1D8A5B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13" name="period-caption">
            <a:extLst xmlns:a="http://schemas.openxmlformats.org/drawingml/2006/main">
              <a:ext uri="{FF2B5EF4-FFF2-40B4-BE49-F238E27FC236}">
                <a16:creationId xmlns:a16="http://schemas.microsoft.com/office/drawing/2014/main" id="{BBEDD93C-B6F0-4B1F-8435-EB94DA0A6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991100"/>
            <a:ext cx="1847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фишки арбитра</a:t>
            </a:r>
          </a:p>
        </p:txBody>
      </p:sp>
      <p:sp>
        <p:nvSpPr>
          <p:cNvPr id="14" name="drift-bg">
            <a:extLst xmlns:a="http://schemas.openxmlformats.org/drawingml/2006/main">
              <a:ext uri="{FF2B5EF4-FFF2-40B4-BE49-F238E27FC236}">
                <a16:creationId xmlns:a16="http://schemas.microsoft.com/office/drawing/2014/main" id="{235B091A-44CB-4BDC-98CB-501D43147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457700"/>
            <a:ext cx="21907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A"/>
          </a:solidFill>
          <a:ln xmlns:a="http://schemas.openxmlformats.org/drawingml/2006/main" w="9525">
            <a:solidFill>
              <a:srgbClr val="B9D9E8"/>
            </a:solidFill>
            <a:prstDash val="solid"/>
          </a:ln>
        </p:spPr>
      </p:sp>
      <p:sp>
        <p:nvSpPr>
          <p:cNvPr id="15" name="drift-value">
            <a:extLst xmlns:a="http://schemas.openxmlformats.org/drawingml/2006/main">
              <a:ext uri="{FF2B5EF4-FFF2-40B4-BE49-F238E27FC236}">
                <a16:creationId xmlns:a16="http://schemas.microsoft.com/office/drawing/2014/main" id="{9BC52E5B-F448-4230-B5FE-9C7B6737E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552950"/>
            <a:ext cx="1847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76EA5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176EA5"/>
                </a:solidFill>
                <a:latin typeface="Calibri"/>
                <a:ea typeface="Calibri"/>
                <a:cs typeface="Calibri"/>
              </a:rPr>
              <a:t>N − 1</a:t>
            </a:r>
          </a:p>
        </p:txBody>
      </p:sp>
      <p:sp>
        <p:nvSpPr>
          <p:cNvPr id="16" name="drift-caption">
            <a:extLst xmlns:a="http://schemas.openxmlformats.org/drawingml/2006/main">
              <a:ext uri="{FF2B5EF4-FFF2-40B4-BE49-F238E27FC236}">
                <a16:creationId xmlns:a16="http://schemas.microsoft.com/office/drawing/2014/main" id="{9F3E1B8F-C766-47FC-8FE0-8FCB35E2C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991100"/>
            <a:ext cx="1847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предел конкуренции</a:t>
            </a:r>
          </a:p>
        </p:txBody>
      </p:sp>
    </p:spTree>
    <p:extLst>
      <p:ext uri="{BB962C8B-B14F-4D97-AF65-F5344CB8AC3E}">
        <p14:creationId xmlns:p14="http://schemas.microsoft.com/office/powerpoint/2010/main" val="23570310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op-band">
            <a:extLst xmlns:a="http://schemas.openxmlformats.org/drawingml/2006/main">
              <a:ext uri="{FF2B5EF4-FFF2-40B4-BE49-F238E27FC236}">
                <a16:creationId xmlns:a16="http://schemas.microsoft.com/office/drawing/2014/main" id="{4B4A040E-4FA4-4C92-9639-20B50A1DA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47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0E2760E0-2BFB-41A3-B4B9-FC44F2B82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D12DDF8-2FD0-4D82-98E2-44AD868D1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Матрица инцидентности описывает переходы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75E0F864-667E-4385-A6F2-CC1F5D66D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9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3a7cbe08c6434c"/>
          <a:stretch xmlns:a="http://schemas.openxmlformats.org/drawingml/2006/main"/>
        </p:blipFill>
        <p:spPr>
          <a:xfrm xmlns:a="http://schemas.openxmlformats.org/drawingml/2006/main">
            <a:off x="552450" y="6495443"/>
            <a:ext cx="304800" cy="258389"/>
          </a:xfrm>
          <a:prstGeom xmlns:a="http://schemas.openxmlformats.org/drawingml/2006/main" prst="rect">
            <a:avLst/>
          </a:prstGeom>
        </p:spPr>
      </p:pic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E83CD01B-7F94-4DBC-84F5-40CECFAF3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86525"/>
            <a:ext cx="7334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Имитационное моделирование · лабораторная работа № 5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3C7CEEC-053D-4D70-931C-82E3AD18B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86525"/>
            <a:ext cx="800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9b8db8038c4641"/>
          <a:stretch xmlns:a="http://schemas.openxmlformats.org/drawingml/2006/main"/>
        </p:blipFill>
        <p:spPr>
          <a:xfrm xmlns:a="http://schemas.openxmlformats.org/drawingml/2006/main">
            <a:off x="1196578" y="1213842"/>
            <a:ext cx="6369844" cy="4458891"/>
          </a:xfrm>
          <a:prstGeom xmlns:a="http://schemas.openxmlformats.org/drawingml/2006/main" prst="rect">
            <a:avLst/>
          </a:prstGeom>
        </p:spPr>
      </p:pic>
      <p:sp>
        <p:nvSpPr>
          <p:cNvPr id="9" name="states">
            <a:extLst xmlns:a="http://schemas.openxmlformats.org/drawingml/2006/main">
              <a:ext uri="{FF2B5EF4-FFF2-40B4-BE49-F238E27FC236}">
                <a16:creationId xmlns:a16="http://schemas.microsoft.com/office/drawing/2014/main" id="{14E3F9B0-44C3-4EC1-8902-2CA766BD7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219200"/>
            <a:ext cx="2552700" cy="365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Столбец — одно событие.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Отрицательный элемент: расход фишки.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</a:defRPr>
            </a:pPr>
            <a:r>
              <a:rPr sz="1650" b="0">
                <a:solidFill>
                  <a:srgbClr val="17232D"/>
                </a:solidFill>
              </a:rPr>
              <a:t/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Положительный: добавление.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</a:defRPr>
            </a:pPr>
            <a:r>
              <a:rPr sz="1650" b="0">
                <a:solidFill>
                  <a:srgbClr val="17232D"/>
                </a:solidFill>
              </a:rPr>
              <a:t/>
            </a:r>
          </a:p>
          <a:p xmlns:a="http://schemas.openxmlformats.org/drawingml/2006/main">
            <a:pPr algn="l">
              <a:defRPr sz="165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В модификации добавляется строка Arbiter.</a:t>
            </a:r>
          </a:p>
        </p:txBody>
      </p:sp>
    </p:spTree>
    <p:extLst>
      <p:ext uri="{BB962C8B-B14F-4D97-AF65-F5344CB8AC3E}">
        <p14:creationId xmlns:p14="http://schemas.microsoft.com/office/powerpoint/2010/main" val="158619124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op-band">
            <a:extLst xmlns:a="http://schemas.openxmlformats.org/drawingml/2006/main">
              <a:ext uri="{FF2B5EF4-FFF2-40B4-BE49-F238E27FC236}">
                <a16:creationId xmlns:a16="http://schemas.microsoft.com/office/drawing/2014/main" id="{3EEA6B23-AFB4-4427-A475-AEF5DDAE6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47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730A9777-4FA0-429D-8228-411BC965E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06A3BF7-966F-458F-B59D-CE4CCF981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Алгоритм Гиллеспи выбирает время и событие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91C91618-2B9A-40EC-9AA7-257BA9B76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9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d6e54b06b94178"/>
          <a:stretch xmlns:a="http://schemas.openxmlformats.org/drawingml/2006/main"/>
        </p:blipFill>
        <p:spPr>
          <a:xfrm xmlns:a="http://schemas.openxmlformats.org/drawingml/2006/main">
            <a:off x="552450" y="6495443"/>
            <a:ext cx="304800" cy="258389"/>
          </a:xfrm>
          <a:prstGeom xmlns:a="http://schemas.openxmlformats.org/drawingml/2006/main" prst="rect">
            <a:avLst/>
          </a:prstGeom>
        </p:spPr>
      </p:pic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4EAE11C7-4C12-40DF-87E8-6272C63C1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86525"/>
            <a:ext cx="7334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Имитационное моделирование · лабораторная работа № 5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DA091B3-20E5-4A17-8498-D902EADB7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86525"/>
            <a:ext cx="800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  <p:sp>
        <p:nvSpPr>
          <p:cNvPr id="8" name="formula-bg">
            <a:extLst xmlns:a="http://schemas.openxmlformats.org/drawingml/2006/main">
              <a:ext uri="{FF2B5EF4-FFF2-40B4-BE49-F238E27FC236}">
                <a16:creationId xmlns:a16="http://schemas.microsoft.com/office/drawing/2014/main" id="{B1E9D04E-FA55-4CFF-8F43-F473404F3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09650"/>
            <a:ext cx="50482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A"/>
          </a:solidFill>
          <a:ln xmlns:a="http://schemas.openxmlformats.org/drawingml/2006/main" w="9525">
            <a:solidFill>
              <a:srgbClr val="B9D9E8"/>
            </a:solidFill>
            <a:prstDash val="solid"/>
          </a:ln>
        </p:spPr>
      </p:sp>
      <p:sp>
        <p:nvSpPr>
          <p:cNvPr id="9" name="sir-formulas">
            <a:extLst xmlns:a="http://schemas.openxmlformats.org/drawingml/2006/main">
              <a:ext uri="{FF2B5EF4-FFF2-40B4-BE49-F238E27FC236}">
                <a16:creationId xmlns:a16="http://schemas.microsoft.com/office/drawing/2014/main" id="{E62C42B5-3244-41DB-8CEC-D1C06B6D0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257300"/>
            <a:ext cx="4333875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a₀ = Σⱼ λⱼ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buNone/>
              <a:defRPr sz="21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Δt ~ Exp(a₀)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buNone/>
              <a:defRPr sz="21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P(J = j) = λⱼ / a₀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buNone/>
              <a:defRPr sz="21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M ← M + C[:, J]</a:t>
            </a:r>
          </a:p>
        </p:txBody>
      </p:sp>
      <p:sp>
        <p:nvSpPr>
          <p:cNvPr id="10" name="sir-meaning">
            <a:extLst xmlns:a="http://schemas.openxmlformats.org/drawingml/2006/main">
              <a:ext uri="{FF2B5EF4-FFF2-40B4-BE49-F238E27FC236}">
                <a16:creationId xmlns:a16="http://schemas.microsoft.com/office/drawing/2014/main" id="{41D19FF8-7068-4D04-B519-53E816117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381125"/>
            <a:ext cx="476250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Суммируются интенсивности только разрешённых переходов.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87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При a₀ = 0 фиксируется deadlock.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87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Горизонт эксперимента: 50 единиц времени.</a:t>
            </a:r>
          </a:p>
        </p:txBody>
      </p:sp>
      <p:sp>
        <p:nvSpPr>
          <p:cNvPr id="11" name="r0-bg">
            <a:extLst xmlns:a="http://schemas.openxmlformats.org/drawingml/2006/main">
              <a:ext uri="{FF2B5EF4-FFF2-40B4-BE49-F238E27FC236}">
                <a16:creationId xmlns:a16="http://schemas.microsoft.com/office/drawing/2014/main" id="{DDA48782-AECC-4910-B9D2-3F2995585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400550"/>
            <a:ext cx="22098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A"/>
          </a:solidFill>
          <a:ln xmlns:a="http://schemas.openxmlformats.org/drawingml/2006/main" w="9525">
            <a:solidFill>
              <a:srgbClr val="B9D9E8"/>
            </a:solidFill>
            <a:prstDash val="solid"/>
          </a:ln>
        </p:spPr>
      </p:sp>
      <p:sp>
        <p:nvSpPr>
          <p:cNvPr id="12" name="r0-value">
            <a:extLst xmlns:a="http://schemas.openxmlformats.org/drawingml/2006/main">
              <a:ext uri="{FF2B5EF4-FFF2-40B4-BE49-F238E27FC236}">
                <a16:creationId xmlns:a16="http://schemas.microsoft.com/office/drawing/2014/main" id="{B18707AA-ED3C-4619-A9B6-DFF0176B1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495800"/>
            <a:ext cx="1866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2 / 1 / 1,4</a:t>
            </a:r>
          </a:p>
        </p:txBody>
      </p:sp>
      <p:sp>
        <p:nvSpPr>
          <p:cNvPr id="13" name="r0-caption">
            <a:extLst xmlns:a="http://schemas.openxmlformats.org/drawingml/2006/main">
              <a:ext uri="{FF2B5EF4-FFF2-40B4-BE49-F238E27FC236}">
                <a16:creationId xmlns:a16="http://schemas.microsoft.com/office/drawing/2014/main" id="{A58DA480-4E37-4926-931E-A697D701D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933950"/>
            <a:ext cx="1866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интенсивности событий</a:t>
            </a:r>
          </a:p>
        </p:txBody>
      </p:sp>
      <p:sp>
        <p:nvSpPr>
          <p:cNvPr id="14" name="peak-bg">
            <a:extLst xmlns:a="http://schemas.openxmlformats.org/drawingml/2006/main">
              <a:ext uri="{FF2B5EF4-FFF2-40B4-BE49-F238E27FC236}">
                <a16:creationId xmlns:a16="http://schemas.microsoft.com/office/drawing/2014/main" id="{057DFCE5-9E6A-4EC5-AF80-3D23DC913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4400550"/>
            <a:ext cx="22098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A"/>
          </a:solidFill>
          <a:ln xmlns:a="http://schemas.openxmlformats.org/drawingml/2006/main" w="9525">
            <a:solidFill>
              <a:srgbClr val="B9D9E8"/>
            </a:solidFill>
            <a:prstDash val="solid"/>
          </a:ln>
        </p:spPr>
      </p:sp>
      <p:sp>
        <p:nvSpPr>
          <p:cNvPr id="15" name="peak-value">
            <a:extLst xmlns:a="http://schemas.openxmlformats.org/drawingml/2006/main">
              <a:ext uri="{FF2B5EF4-FFF2-40B4-BE49-F238E27FC236}">
                <a16:creationId xmlns:a16="http://schemas.microsoft.com/office/drawing/2014/main" id="{25877720-9526-4D97-B9EA-1C32D0D95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495800"/>
            <a:ext cx="1866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C83B45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C83B45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16" name="peak-caption">
            <a:extLst xmlns:a="http://schemas.openxmlformats.org/drawingml/2006/main">
              <a:ext uri="{FF2B5EF4-FFF2-40B4-BE49-F238E27FC236}">
                <a16:creationId xmlns:a16="http://schemas.microsoft.com/office/drawing/2014/main" id="{7005C71B-CBA1-467E-AD9C-32FB37119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933950"/>
            <a:ext cx="1866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горизонт времени</a:t>
            </a:r>
          </a:p>
        </p:txBody>
      </p:sp>
    </p:spTree>
    <p:extLst>
      <p:ext uri="{BB962C8B-B14F-4D97-AF65-F5344CB8AC3E}">
        <p14:creationId xmlns:p14="http://schemas.microsoft.com/office/powerpoint/2010/main" val="158478995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op-band">
            <a:extLst xmlns:a="http://schemas.openxmlformats.org/drawingml/2006/main">
              <a:ext uri="{FF2B5EF4-FFF2-40B4-BE49-F238E27FC236}">
                <a16:creationId xmlns:a16="http://schemas.microsoft.com/office/drawing/2014/main" id="{F6DA7DFC-D303-45C7-932C-2B94A3AEA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47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E13BE153-F224-4FFB-A6F8-60B72D8FC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C8A92CE-6E00-4040-9EA3-57F7709CE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Четыре сценария проходят один конвейер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8FAC0AB2-F232-4224-990D-03B69F9F4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9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a3b5d59cea4284"/>
          <a:stretch xmlns:a="http://schemas.openxmlformats.org/drawingml/2006/main"/>
        </p:blipFill>
        <p:spPr>
          <a:xfrm xmlns:a="http://schemas.openxmlformats.org/drawingml/2006/main">
            <a:off x="552450" y="6495443"/>
            <a:ext cx="304800" cy="258389"/>
          </a:xfrm>
          <a:prstGeom xmlns:a="http://schemas.openxmlformats.org/drawingml/2006/main" prst="rect">
            <a:avLst/>
          </a:prstGeom>
        </p:spPr>
      </p:pic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8F67D68B-5FBC-4A0B-927B-439ED0437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86525"/>
            <a:ext cx="7334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Имитационное моделирование · лабораторная работа № 5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A6334E4-9415-4008-9646-364F276B7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86525"/>
            <a:ext cx="800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64cbcbf2464bf1"/>
          <a:stretch xmlns:a="http://schemas.openxmlformats.org/drawingml/2006/main"/>
        </p:blipFill>
        <p:spPr>
          <a:xfrm xmlns:a="http://schemas.openxmlformats.org/drawingml/2006/main">
            <a:off x="552450" y="1267420"/>
            <a:ext cx="7143749" cy="4018359"/>
          </a:xfrm>
          <a:prstGeom xmlns:a="http://schemas.openxmlformats.org/drawingml/2006/main" prst="rect">
            <a:avLst/>
          </a:prstGeom>
        </p:spPr>
      </p:pic>
      <p:sp>
        <p:nvSpPr>
          <p:cNvPr id="9" name="pipeline">
            <a:extLst xmlns:a="http://schemas.openxmlformats.org/drawingml/2006/main">
              <a:ext uri="{FF2B5EF4-FFF2-40B4-BE49-F238E27FC236}">
                <a16:creationId xmlns:a16="http://schemas.microsoft.com/office/drawing/2014/main" id="{A132DAB6-9E24-4B67-8EEE-3D0F24206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066800"/>
            <a:ext cx="3524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Literate.jl → Julia → Jupyter → Quarto</a:t>
            </a:r>
          </a:p>
        </p:txBody>
      </p:sp>
      <p:sp>
        <p:nvSpPr>
          <p:cNvPr id="10" name="versions">
            <a:extLst xmlns:a="http://schemas.openxmlformats.org/drawingml/2006/main">
              <a:ext uri="{FF2B5EF4-FFF2-40B4-BE49-F238E27FC236}">
                <a16:creationId xmlns:a16="http://schemas.microsoft.com/office/drawing/2014/main" id="{A0225854-4DE9-4CAF-B50B-6816A3562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095500"/>
            <a:ext cx="31051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Базовая модель</a:t>
            </a:r>
          </a:p>
          <a:p xmlns:a="http://schemas.openxmlformats.org/drawingml/2006/main">
            <a:pPr algn="l">
              <a:defRPr sz="165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Серия параметров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Анимация маркировки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Анализ сохранённых CSV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</a:defRPr>
            </a:pPr>
            <a:r>
              <a:rPr sz="1650" b="0">
                <a:solidFill>
                  <a:srgbClr val="17232D"/>
                </a:solidFill>
              </a:rPr>
              <a:t/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4 выполненных блокнота</a:t>
            </a:r>
          </a:p>
          <a:p xmlns:a="http://schemas.openxmlformats.org/drawingml/2006/main">
            <a:pPr algn="l">
              <a:defRPr sz="165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56 проверок.</a:t>
            </a:r>
          </a:p>
        </p:txBody>
      </p:sp>
    </p:spTree>
    <p:extLst>
      <p:ext uri="{BB962C8B-B14F-4D97-AF65-F5344CB8AC3E}">
        <p14:creationId xmlns:p14="http://schemas.microsoft.com/office/powerpoint/2010/main" val="122148484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B477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accent">
            <a:extLst xmlns:a="http://schemas.openxmlformats.org/drawingml/2006/main">
              <a:ext uri="{FF2B5EF4-FFF2-40B4-BE49-F238E27FC236}">
                <a16:creationId xmlns:a16="http://schemas.microsoft.com/office/drawing/2014/main" id="{7EDC123F-A2A1-4A23-B400-58E76A7A6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896da4f48541a3"/>
          <a:stretch xmlns:a="http://schemas.openxmlformats.org/drawingml/2006/main"/>
        </p:blipFill>
        <p:spPr>
          <a:xfrm xmlns:a="http://schemas.openxmlformats.org/drawingml/2006/main">
            <a:off x="742950" y="716689"/>
            <a:ext cx="781050" cy="662123"/>
          </a:xfrm>
          <a:prstGeom xmlns:a="http://schemas.openxmlformats.org/drawingml/2006/main" prst="rect">
            <a:avLst/>
          </a:prstGeom>
        </p:spPr>
      </p:pic>
      <p:sp>
        <p:nvSpPr>
          <p:cNvPr id="3" name="conclusion-title">
            <a:extLst xmlns:a="http://schemas.openxmlformats.org/drawingml/2006/main">
              <a:ext uri="{FF2B5EF4-FFF2-40B4-BE49-F238E27FC236}">
                <a16:creationId xmlns:a16="http://schemas.microsoft.com/office/drawing/2014/main" id="{05B54D60-5BA6-4B1C-AA38-11674D76A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723900"/>
            <a:ext cx="8858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Результаты</a:t>
            </a:r>
          </a:p>
        </p:txBody>
      </p:sp>
      <p:sp>
        <p:nvSpPr>
          <p:cNvPr id="4" name="conclusion-rule">
            <a:extLst xmlns:a="http://schemas.openxmlformats.org/drawingml/2006/main">
              <a:ext uri="{FF2B5EF4-FFF2-40B4-BE49-F238E27FC236}">
                <a16:creationId xmlns:a16="http://schemas.microsoft.com/office/drawing/2014/main" id="{A6F50DB3-5845-402B-875A-F3D971960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133600"/>
            <a:ext cx="6286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conclusions">
            <a:extLst xmlns:a="http://schemas.openxmlformats.org/drawingml/2006/main">
              <a:ext uri="{FF2B5EF4-FFF2-40B4-BE49-F238E27FC236}">
                <a16:creationId xmlns:a16="http://schemas.microsoft.com/office/drawing/2014/main" id="{80C76B1D-E492-4AF8-A98B-ACC10B47E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552700"/>
            <a:ext cx="8953500" cy="3219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• Базовый эксперимент для пяти философов.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• Сравнение дискретных маркировок и ODE.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• Параметрическая серия для N от 3 до 8.</a:t>
            </a:r>
          </a:p>
        </p:txBody>
      </p:sp>
      <p:sp>
        <p:nvSpPr>
          <p:cNvPr id="6" name="final">
            <a:extLst xmlns:a="http://schemas.openxmlformats.org/drawingml/2006/main">
              <a:ext uri="{FF2B5EF4-FFF2-40B4-BE49-F238E27FC236}">
                <a16:creationId xmlns:a16="http://schemas.microsoft.com/office/drawing/2014/main" id="{FCC7524D-04B4-4E2B-BB4A-218A72DF3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924550"/>
            <a:ext cx="571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35A9D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35A9D3"/>
                </a:solidFill>
                <a:latin typeface="Calibri"/>
                <a:ea typeface="Calibri"/>
                <a:cs typeface="Calibri"/>
              </a:rPr>
              <a:t>Лабораторная работа № 5</a:t>
            </a:r>
          </a:p>
        </p:txBody>
      </p:sp>
    </p:spTree>
    <p:extLst>
      <p:ext uri="{BB962C8B-B14F-4D97-AF65-F5344CB8AC3E}">
        <p14:creationId xmlns:p14="http://schemas.microsoft.com/office/powerpoint/2010/main" val="50953971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op-band">
            <a:extLst xmlns:a="http://schemas.openxmlformats.org/drawingml/2006/main">
              <a:ext uri="{FF2B5EF4-FFF2-40B4-BE49-F238E27FC236}">
                <a16:creationId xmlns:a16="http://schemas.microsoft.com/office/drawing/2014/main" id="{48421A46-F9BD-480F-B275-C23896D5E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47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90627352-F663-4A2E-9B7B-12B403F6F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18DEB88-7101-47B0-B748-A400397B5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В базовом опыте арбитр сохраняет работу сети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9CDEA9B6-8955-4F09-B9FA-546DA393B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9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7fd9802bf94e97"/>
          <a:stretch xmlns:a="http://schemas.openxmlformats.org/drawingml/2006/main"/>
        </p:blipFill>
        <p:spPr>
          <a:xfrm xmlns:a="http://schemas.openxmlformats.org/drawingml/2006/main">
            <a:off x="552450" y="6495443"/>
            <a:ext cx="304800" cy="258389"/>
          </a:xfrm>
          <a:prstGeom xmlns:a="http://schemas.openxmlformats.org/drawingml/2006/main" prst="rect">
            <a:avLst/>
          </a:prstGeom>
        </p:spPr>
      </p:pic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B41B547B-6312-422F-97B9-B812308FC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86525"/>
            <a:ext cx="7334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Имитационное моделирование · лабораторная работа № 5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5D149F8-2B2A-45C2-ACB2-B531EF4A6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86525"/>
            <a:ext cx="800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sp>
        <p:nvSpPr>
          <p:cNvPr id="8" name="goal">
            <a:extLst xmlns:a="http://schemas.openxmlformats.org/drawingml/2006/main">
              <a:ext uri="{FF2B5EF4-FFF2-40B4-BE49-F238E27FC236}">
                <a16:creationId xmlns:a16="http://schemas.microsoft.com/office/drawing/2014/main" id="{867F2279-946D-4402-B6C9-E80BAE1B4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33450"/>
            <a:ext cx="1066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При одинаковых интенсивностях 2,0 / 1,0 / 1,4 варианты дают разные исходы.</a:t>
            </a:r>
          </a:p>
        </p:txBody>
      </p:sp>
      <p:sp>
        <p:nvSpPr>
          <p:cNvPr id="9" name="left-rule">
            <a:extLst xmlns:a="http://schemas.openxmlformats.org/drawingml/2006/main">
              <a:ext uri="{FF2B5EF4-FFF2-40B4-BE49-F238E27FC236}">
                <a16:creationId xmlns:a16="http://schemas.microsoft.com/office/drawing/2014/main" id="{0B205D5C-F4E6-46EE-8BE3-E1E85CA2F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52625"/>
            <a:ext cx="57150" cy="3409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tasks">
            <a:extLst xmlns:a="http://schemas.openxmlformats.org/drawingml/2006/main">
              <a:ext uri="{FF2B5EF4-FFF2-40B4-BE49-F238E27FC236}">
                <a16:creationId xmlns:a16="http://schemas.microsoft.com/office/drawing/2014/main" id="{D0B8600E-8057-4E67-AFD8-8FFEDC555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847850"/>
            <a:ext cx="96202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Показатель                       Классическая        С арбитром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Deadlock                                да                          нет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Число событий                       5                            98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Приёмы пищи                         0                            31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Индекс Джейна                       0,0000                  0,9109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Горизонт моделирования: 50 единиц времени.</a:t>
            </a:r>
          </a:p>
        </p:txBody>
      </p:sp>
    </p:spTree>
    <p:extLst>
      <p:ext uri="{BB962C8B-B14F-4D97-AF65-F5344CB8AC3E}">
        <p14:creationId xmlns:p14="http://schemas.microsoft.com/office/powerpoint/2010/main" val="189917288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top-band">
            <a:extLst xmlns:a="http://schemas.openxmlformats.org/drawingml/2006/main">
              <a:ext uri="{FF2B5EF4-FFF2-40B4-BE49-F238E27FC236}">
                <a16:creationId xmlns:a16="http://schemas.microsoft.com/office/drawing/2014/main" id="{F74FD5CC-8C38-411D-852B-0B3866494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47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F04E7823-61B5-47C3-B669-C35B88727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8DD099D-979B-4597-9650-C67ED0273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Классическая маркировка замирает после пяти событий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9DF46DE4-DC52-45DC-98B8-BF3E30BED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9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39ce136a864250"/>
          <a:stretch xmlns:a="http://schemas.openxmlformats.org/drawingml/2006/main"/>
        </p:blipFill>
        <p:spPr>
          <a:xfrm xmlns:a="http://schemas.openxmlformats.org/drawingml/2006/main">
            <a:off x="552450" y="6495443"/>
            <a:ext cx="304800" cy="258389"/>
          </a:xfrm>
          <a:prstGeom xmlns:a="http://schemas.openxmlformats.org/drawingml/2006/main" prst="rect">
            <a:avLst/>
          </a:prstGeom>
        </p:spPr>
      </p:pic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3CA48063-C26A-4267-AF5D-F662627DB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86525"/>
            <a:ext cx="7334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Имитационное моделирование · лабораторная работа № 5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B3554BD-DC5A-4F9E-A33E-16ACB139B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86525"/>
            <a:ext cx="800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c8eda820814b87"/>
          <a:stretch xmlns:a="http://schemas.openxmlformats.org/drawingml/2006/main"/>
        </p:blipFill>
        <p:spPr>
          <a:xfrm xmlns:a="http://schemas.openxmlformats.org/drawingml/2006/main">
            <a:off x="629073" y="1105853"/>
            <a:ext cx="7257203" cy="4665345"/>
          </a:xfrm>
          <a:prstGeom xmlns:a="http://schemas.openxmlformats.org/drawingml/2006/main" prst="rect">
            <a:avLst/>
          </a:prstGeom>
        </p:spPr>
      </p:pic>
      <p:sp>
        <p:nvSpPr>
          <p:cNvPr id="9" name="imax-bg">
            <a:extLst xmlns:a="http://schemas.openxmlformats.org/drawingml/2006/main">
              <a:ext uri="{FF2B5EF4-FFF2-40B4-BE49-F238E27FC236}">
                <a16:creationId xmlns:a16="http://schemas.microsoft.com/office/drawing/2014/main" id="{23FB6D0B-5E2B-4B1C-B750-E19EAA837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104900"/>
            <a:ext cx="29527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A"/>
          </a:solidFill>
          <a:ln xmlns:a="http://schemas.openxmlformats.org/drawingml/2006/main" w="9525">
            <a:solidFill>
              <a:srgbClr val="B9D9E8"/>
            </a:solidFill>
            <a:prstDash val="solid"/>
          </a:ln>
        </p:spPr>
      </p:sp>
      <p:sp>
        <p:nvSpPr>
          <p:cNvPr id="10" name="imax-value">
            <a:extLst xmlns:a="http://schemas.openxmlformats.org/drawingml/2006/main">
              <a:ext uri="{FF2B5EF4-FFF2-40B4-BE49-F238E27FC236}">
                <a16:creationId xmlns:a16="http://schemas.microsoft.com/office/drawing/2014/main" id="{B29A502F-6BBC-4C15-80AF-7B56141FD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200150"/>
            <a:ext cx="2609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C83B45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C83B45"/>
                </a:solidFill>
                <a:latin typeface="Calibri"/>
                <a:ea typeface="Calibri"/>
                <a:cs typeface="Calibri"/>
              </a:rPr>
              <a:t>0,5973</a:t>
            </a:r>
          </a:p>
        </p:txBody>
      </p:sp>
      <p:sp>
        <p:nvSpPr>
          <p:cNvPr id="11" name="imax-caption">
            <a:extLst xmlns:a="http://schemas.openxmlformats.org/drawingml/2006/main">
              <a:ext uri="{FF2B5EF4-FFF2-40B4-BE49-F238E27FC236}">
                <a16:creationId xmlns:a16="http://schemas.microsoft.com/office/drawing/2014/main" id="{EAFCEBFD-3EED-4A83-91F8-2D01A6C5C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638300"/>
            <a:ext cx="2609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время deadlock</a:t>
            </a:r>
          </a:p>
        </p:txBody>
      </p:sp>
      <p:sp>
        <p:nvSpPr>
          <p:cNvPr id="12" name="tpeak-bg">
            <a:extLst xmlns:a="http://schemas.openxmlformats.org/drawingml/2006/main">
              <a:ext uri="{FF2B5EF4-FFF2-40B4-BE49-F238E27FC236}">
                <a16:creationId xmlns:a16="http://schemas.microsoft.com/office/drawing/2014/main" id="{CB68471B-DC2C-40D6-8738-71969ACC7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266950"/>
            <a:ext cx="29527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A"/>
          </a:solidFill>
          <a:ln xmlns:a="http://schemas.openxmlformats.org/drawingml/2006/main" w="9525">
            <a:solidFill>
              <a:srgbClr val="B9D9E8"/>
            </a:solidFill>
            <a:prstDash val="solid"/>
          </a:ln>
        </p:spPr>
      </p:sp>
      <p:sp>
        <p:nvSpPr>
          <p:cNvPr id="13" name="tpeak-value">
            <a:extLst xmlns:a="http://schemas.openxmlformats.org/drawingml/2006/main">
              <a:ext uri="{FF2B5EF4-FFF2-40B4-BE49-F238E27FC236}">
                <a16:creationId xmlns:a16="http://schemas.microsoft.com/office/drawing/2014/main" id="{C9732CBD-5B35-4487-81E3-94F91DA2B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362200"/>
            <a:ext cx="2609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14" name="tpeak-caption">
            <a:extLst xmlns:a="http://schemas.openxmlformats.org/drawingml/2006/main">
              <a:ext uri="{FF2B5EF4-FFF2-40B4-BE49-F238E27FC236}">
                <a16:creationId xmlns:a16="http://schemas.microsoft.com/office/drawing/2014/main" id="{6422106B-D159-415D-9E44-6C792AC71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800350"/>
            <a:ext cx="2609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событий до остановки</a:t>
            </a:r>
          </a:p>
        </p:txBody>
      </p:sp>
      <p:sp>
        <p:nvSpPr>
          <p:cNvPr id="15" name="rend-bg">
            <a:extLst xmlns:a="http://schemas.openxmlformats.org/drawingml/2006/main">
              <a:ext uri="{FF2B5EF4-FFF2-40B4-BE49-F238E27FC236}">
                <a16:creationId xmlns:a16="http://schemas.microsoft.com/office/drawing/2014/main" id="{04381D42-5BF5-4983-B4EB-47C62156F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429000"/>
            <a:ext cx="29527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A"/>
          </a:solidFill>
          <a:ln xmlns:a="http://schemas.openxmlformats.org/drawingml/2006/main" w="9525">
            <a:solidFill>
              <a:srgbClr val="B9D9E8"/>
            </a:solidFill>
            <a:prstDash val="solid"/>
          </a:ln>
        </p:spPr>
      </p:sp>
      <p:sp>
        <p:nvSpPr>
          <p:cNvPr id="16" name="rend-value">
            <a:extLst xmlns:a="http://schemas.openxmlformats.org/drawingml/2006/main">
              <a:ext uri="{FF2B5EF4-FFF2-40B4-BE49-F238E27FC236}">
                <a16:creationId xmlns:a16="http://schemas.microsoft.com/office/drawing/2014/main" id="{EC23F540-774E-44A3-BED8-2FFF4B945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524250"/>
            <a:ext cx="2609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D8A5B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1D8A5B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17" name="rend-caption">
            <a:extLst xmlns:a="http://schemas.openxmlformats.org/drawingml/2006/main">
              <a:ext uri="{FF2B5EF4-FFF2-40B4-BE49-F238E27FC236}">
                <a16:creationId xmlns:a16="http://schemas.microsoft.com/office/drawing/2014/main" id="{BA2CD5D3-B265-4D73-B512-FE1B1471F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962400"/>
            <a:ext cx="2609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завершённых приёмов пищи</a:t>
            </a:r>
          </a:p>
        </p:txBody>
      </p:sp>
      <p:sp>
        <p:nvSpPr>
          <p:cNvPr id="18" name="drift">
            <a:extLst xmlns:a="http://schemas.openxmlformats.org/drawingml/2006/main">
              <a:ext uri="{FF2B5EF4-FFF2-40B4-BE49-F238E27FC236}">
                <a16:creationId xmlns:a16="http://schemas.microsoft.com/office/drawing/2014/main" id="{5C0C9BC5-8FBE-41DE-AA12-9933C1D6C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80060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Все пять левых вилок захвачены.</a:t>
            </a:r>
          </a:p>
        </p:txBody>
      </p:sp>
    </p:spTree>
    <p:extLst>
      <p:ext uri="{BB962C8B-B14F-4D97-AF65-F5344CB8AC3E}">
        <p14:creationId xmlns:p14="http://schemas.microsoft.com/office/powerpoint/2010/main" val="154801997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top-band">
            <a:extLst xmlns:a="http://schemas.openxmlformats.org/drawingml/2006/main">
              <a:ext uri="{FF2B5EF4-FFF2-40B4-BE49-F238E27FC236}">
                <a16:creationId xmlns:a16="http://schemas.microsoft.com/office/drawing/2014/main" id="{F74FD5CC-8C38-411D-852B-0B3866494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47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F04E7823-61B5-47C3-B669-C35B88727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8DD099D-979B-4597-9650-C67ED0273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Арбитр поддерживает смену маркировок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9DF46DE4-DC52-45DC-98B8-BF3E30BED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9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af975156924f4a"/>
          <a:stretch xmlns:a="http://schemas.openxmlformats.org/drawingml/2006/main"/>
        </p:blipFill>
        <p:spPr>
          <a:xfrm xmlns:a="http://schemas.openxmlformats.org/drawingml/2006/main">
            <a:off x="552450" y="6495443"/>
            <a:ext cx="304800" cy="258389"/>
          </a:xfrm>
          <a:prstGeom xmlns:a="http://schemas.openxmlformats.org/drawingml/2006/main" prst="rect">
            <a:avLst/>
          </a:prstGeom>
        </p:spPr>
      </p:pic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3CA48063-C26A-4267-AF5D-F662627DB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86525"/>
            <a:ext cx="7334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Имитационное моделирование · лабораторная работа № 5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B3554BD-DC5A-4F9E-A33E-16ACB139B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86525"/>
            <a:ext cx="800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d8032b4a104d95"/>
          <a:stretch xmlns:a="http://schemas.openxmlformats.org/drawingml/2006/main"/>
        </p:blipFill>
        <p:spPr>
          <a:xfrm xmlns:a="http://schemas.openxmlformats.org/drawingml/2006/main">
            <a:off x="629073" y="1105853"/>
            <a:ext cx="7257203" cy="4665345"/>
          </a:xfrm>
          <a:prstGeom xmlns:a="http://schemas.openxmlformats.org/drawingml/2006/main" prst="rect">
            <a:avLst/>
          </a:prstGeom>
        </p:spPr>
      </p:pic>
      <p:sp>
        <p:nvSpPr>
          <p:cNvPr id="9" name="imax-bg">
            <a:extLst xmlns:a="http://schemas.openxmlformats.org/drawingml/2006/main">
              <a:ext uri="{FF2B5EF4-FFF2-40B4-BE49-F238E27FC236}">
                <a16:creationId xmlns:a16="http://schemas.microsoft.com/office/drawing/2014/main" id="{23FB6D0B-5E2B-4B1C-B750-E19EAA837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104900"/>
            <a:ext cx="29527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A"/>
          </a:solidFill>
          <a:ln xmlns:a="http://schemas.openxmlformats.org/drawingml/2006/main" w="9525">
            <a:solidFill>
              <a:srgbClr val="B9D9E8"/>
            </a:solidFill>
            <a:prstDash val="solid"/>
          </a:ln>
        </p:spPr>
      </p:sp>
      <p:sp>
        <p:nvSpPr>
          <p:cNvPr id="10" name="imax-value">
            <a:extLst xmlns:a="http://schemas.openxmlformats.org/drawingml/2006/main">
              <a:ext uri="{FF2B5EF4-FFF2-40B4-BE49-F238E27FC236}">
                <a16:creationId xmlns:a16="http://schemas.microsoft.com/office/drawing/2014/main" id="{B29A502F-6BBC-4C15-80AF-7B56141FD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200150"/>
            <a:ext cx="2609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C83B45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C83B45"/>
                </a:solidFill>
                <a:latin typeface="Calibri"/>
                <a:ea typeface="Calibri"/>
                <a:cs typeface="Calibri"/>
              </a:rPr>
              <a:t>98</a:t>
            </a:r>
          </a:p>
        </p:txBody>
      </p:sp>
      <p:sp>
        <p:nvSpPr>
          <p:cNvPr id="11" name="imax-caption">
            <a:extLst xmlns:a="http://schemas.openxmlformats.org/drawingml/2006/main">
              <a:ext uri="{FF2B5EF4-FFF2-40B4-BE49-F238E27FC236}">
                <a16:creationId xmlns:a16="http://schemas.microsoft.com/office/drawing/2014/main" id="{EAFCEBFD-3EED-4A83-91F8-2D01A6C5C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638300"/>
            <a:ext cx="2609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событий</a:t>
            </a:r>
          </a:p>
        </p:txBody>
      </p:sp>
      <p:sp>
        <p:nvSpPr>
          <p:cNvPr id="12" name="tpeak-bg">
            <a:extLst xmlns:a="http://schemas.openxmlformats.org/drawingml/2006/main">
              <a:ext uri="{FF2B5EF4-FFF2-40B4-BE49-F238E27FC236}">
                <a16:creationId xmlns:a16="http://schemas.microsoft.com/office/drawing/2014/main" id="{CB68471B-DC2C-40D6-8738-71969ACC7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266950"/>
            <a:ext cx="29527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A"/>
          </a:solidFill>
          <a:ln xmlns:a="http://schemas.openxmlformats.org/drawingml/2006/main" w="9525">
            <a:solidFill>
              <a:srgbClr val="B9D9E8"/>
            </a:solidFill>
            <a:prstDash val="solid"/>
          </a:ln>
        </p:spPr>
      </p:sp>
      <p:sp>
        <p:nvSpPr>
          <p:cNvPr id="13" name="tpeak-value">
            <a:extLst xmlns:a="http://schemas.openxmlformats.org/drawingml/2006/main">
              <a:ext uri="{FF2B5EF4-FFF2-40B4-BE49-F238E27FC236}">
                <a16:creationId xmlns:a16="http://schemas.microsoft.com/office/drawing/2014/main" id="{C9732CBD-5B35-4487-81E3-94F91DA2B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362200"/>
            <a:ext cx="2609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  <p:sp>
        <p:nvSpPr>
          <p:cNvPr id="14" name="tpeak-caption">
            <a:extLst xmlns:a="http://schemas.openxmlformats.org/drawingml/2006/main">
              <a:ext uri="{FF2B5EF4-FFF2-40B4-BE49-F238E27FC236}">
                <a16:creationId xmlns:a16="http://schemas.microsoft.com/office/drawing/2014/main" id="{6422106B-D159-415D-9E44-6C792AC71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800350"/>
            <a:ext cx="2609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приём пищи</a:t>
            </a:r>
          </a:p>
        </p:txBody>
      </p:sp>
      <p:sp>
        <p:nvSpPr>
          <p:cNvPr id="15" name="rend-bg">
            <a:extLst xmlns:a="http://schemas.openxmlformats.org/drawingml/2006/main">
              <a:ext uri="{FF2B5EF4-FFF2-40B4-BE49-F238E27FC236}">
                <a16:creationId xmlns:a16="http://schemas.microsoft.com/office/drawing/2014/main" id="{04381D42-5BF5-4983-B4EB-47C62156F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429000"/>
            <a:ext cx="29527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A"/>
          </a:solidFill>
          <a:ln xmlns:a="http://schemas.openxmlformats.org/drawingml/2006/main" w="9525">
            <a:solidFill>
              <a:srgbClr val="B9D9E8"/>
            </a:solidFill>
            <a:prstDash val="solid"/>
          </a:ln>
        </p:spPr>
      </p:sp>
      <p:sp>
        <p:nvSpPr>
          <p:cNvPr id="16" name="rend-value">
            <a:extLst xmlns:a="http://schemas.openxmlformats.org/drawingml/2006/main">
              <a:ext uri="{FF2B5EF4-FFF2-40B4-BE49-F238E27FC236}">
                <a16:creationId xmlns:a16="http://schemas.microsoft.com/office/drawing/2014/main" id="{EC23F540-774E-44A3-BED8-2FFF4B945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524250"/>
            <a:ext cx="2609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D8A5B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1D8A5B"/>
                </a:solidFill>
                <a:latin typeface="Calibri"/>
                <a:ea typeface="Calibri"/>
                <a:cs typeface="Calibri"/>
              </a:rPr>
              <a:t>0,9109</a:t>
            </a:r>
          </a:p>
        </p:txBody>
      </p:sp>
      <p:sp>
        <p:nvSpPr>
          <p:cNvPr id="17" name="rend-caption">
            <a:extLst xmlns:a="http://schemas.openxmlformats.org/drawingml/2006/main">
              <a:ext uri="{FF2B5EF4-FFF2-40B4-BE49-F238E27FC236}">
                <a16:creationId xmlns:a16="http://schemas.microsoft.com/office/drawing/2014/main" id="{BA2CD5D3-B265-4D73-B512-FE1B1471F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962400"/>
            <a:ext cx="2609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индекс Джейна</a:t>
            </a:r>
          </a:p>
        </p:txBody>
      </p:sp>
      <p:sp>
        <p:nvSpPr>
          <p:cNvPr id="18" name="drift">
            <a:extLst xmlns:a="http://schemas.openxmlformats.org/drawingml/2006/main">
              <a:ext uri="{FF2B5EF4-FFF2-40B4-BE49-F238E27FC236}">
                <a16:creationId xmlns:a16="http://schemas.microsoft.com/office/drawing/2014/main" id="{5C0C9BC5-8FBE-41DE-AA12-9933C1D6C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80060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Последнее событие при t = 48,9047.</a:t>
            </a:r>
          </a:p>
        </p:txBody>
      </p:sp>
    </p:spTree>
    <p:extLst>
      <p:ext uri="{BB962C8B-B14F-4D97-AF65-F5344CB8AC3E}">
        <p14:creationId xmlns:p14="http://schemas.microsoft.com/office/powerpoint/2010/main" val="154801997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op-band">
            <a:extLst xmlns:a="http://schemas.openxmlformats.org/drawingml/2006/main">
              <a:ext uri="{FF2B5EF4-FFF2-40B4-BE49-F238E27FC236}">
                <a16:creationId xmlns:a16="http://schemas.microsoft.com/office/drawing/2014/main" id="{97E662BC-85D8-46EB-A645-0207A7B6B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47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AECACF40-E972-4C5C-9D82-E920C434C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EA0F080-7270-4A74-97C7-3BCD4C006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Отдельный сценарий анализирует сохранённые CSV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29DCE7D4-1781-4F89-BA7A-98A6C8680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9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3b1ae70bdb423a"/>
          <a:stretch xmlns:a="http://schemas.openxmlformats.org/drawingml/2006/main"/>
        </p:blipFill>
        <p:spPr>
          <a:xfrm xmlns:a="http://schemas.openxmlformats.org/drawingml/2006/main">
            <a:off x="552450" y="6495443"/>
            <a:ext cx="304800" cy="258389"/>
          </a:xfrm>
          <a:prstGeom xmlns:a="http://schemas.openxmlformats.org/drawingml/2006/main" prst="rect">
            <a:avLst/>
          </a:prstGeom>
        </p:spPr>
      </p:pic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B481C67C-2B86-4F50-BF31-D7FC4B3C2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86525"/>
            <a:ext cx="7334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Имитационное моделирование · лабораторная работа № 5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3A6D7F7-B636-4BA1-A9D4-58AD51F83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86525"/>
            <a:ext cx="800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ad513cdae64743"/>
          <a:stretch xmlns:a="http://schemas.openxmlformats.org/drawingml/2006/main"/>
        </p:blipFill>
        <p:spPr>
          <a:xfrm xmlns:a="http://schemas.openxmlformats.org/drawingml/2006/main">
            <a:off x="1217766" y="1062228"/>
            <a:ext cx="6175069" cy="4771644"/>
          </a:xfrm>
          <a:prstGeom xmlns:a="http://schemas.openxmlformats.org/drawingml/2006/main" prst="rect">
            <a:avLst/>
          </a:prstGeom>
        </p:spPr>
      </p:pic>
      <p:sp>
        <p:nvSpPr>
          <p:cNvPr id="9" name="lv-metrics">
            <a:extLst xmlns:a="http://schemas.openxmlformats.org/drawingml/2006/main">
              <a:ext uri="{FF2B5EF4-FFF2-40B4-BE49-F238E27FC236}">
                <a16:creationId xmlns:a16="http://schemas.microsoft.com/office/drawing/2014/main" id="{8F200868-6BF2-4C9D-9209-E1DB3409F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447800"/>
            <a:ext cx="26098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Классическая сеть:</a:t>
            </a:r>
          </a:p>
          <a:p xmlns:a="http://schemas.openxmlformats.org/drawingml/2006/main">
            <a:pPr algn="l">
              <a:defRPr sz="1725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6 строк, deadlock.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</a:defRPr>
            </a:pPr>
            <a:r>
              <a:rPr sz="1725" b="0">
                <a:solidFill>
                  <a:srgbClr val="17232D"/>
                </a:solidFill>
              </a:rPr>
              <a:t/>
            </a:r>
          </a:p>
          <a:p xmlns:a="http://schemas.openxmlformats.org/drawingml/2006/main">
            <a:pPr algn="l">
              <a:defRPr sz="1725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С арбитром: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99 строк, сеть активна.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Нового расчёта нет.</a:t>
            </a:r>
          </a:p>
        </p:txBody>
      </p:sp>
      <p:sp>
        <p:nvSpPr>
          <p:cNvPr id="10" name="lv-takeaway">
            <a:extLst xmlns:a="http://schemas.openxmlformats.org/drawingml/2006/main">
              <a:ext uri="{FF2B5EF4-FFF2-40B4-BE49-F238E27FC236}">
                <a16:creationId xmlns:a16="http://schemas.microsoft.com/office/drawing/2014/main" id="{9DB94CF0-4DC2-4C75-A4FE-51097031D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305300"/>
            <a:ext cx="3086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04_comparative_report.jl проверяет данные и сопоставляет Eatᵢ.</a:t>
            </a:r>
          </a:p>
        </p:txBody>
      </p:sp>
    </p:spTree>
    <p:extLst>
      <p:ext uri="{BB962C8B-B14F-4D97-AF65-F5344CB8AC3E}">
        <p14:creationId xmlns:p14="http://schemas.microsoft.com/office/powerpoint/2010/main" val="65711623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op-band">
            <a:extLst xmlns:a="http://schemas.openxmlformats.org/drawingml/2006/main">
              <a:ext uri="{FF2B5EF4-FFF2-40B4-BE49-F238E27FC236}">
                <a16:creationId xmlns:a16="http://schemas.microsoft.com/office/drawing/2014/main" id="{4B4A040E-4FA4-4C92-9639-20B50A1DA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47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0E2760E0-2BFB-41A3-B4B9-FC44F2B82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D12DDF8-2FD0-4D82-98E2-44AD868D1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Анимация показывает образование deadlock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75E0F864-667E-4385-A6F2-CC1F5D66D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9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d9cf1297734dc1"/>
          <a:stretch xmlns:a="http://schemas.openxmlformats.org/drawingml/2006/main"/>
        </p:blipFill>
        <p:spPr>
          <a:xfrm xmlns:a="http://schemas.openxmlformats.org/drawingml/2006/main">
            <a:off x="552450" y="6495443"/>
            <a:ext cx="304800" cy="258389"/>
          </a:xfrm>
          <a:prstGeom xmlns:a="http://schemas.openxmlformats.org/drawingml/2006/main" prst="rect">
            <a:avLst/>
          </a:prstGeom>
        </p:spPr>
      </p:pic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E83CD01B-7F94-4DBC-84F5-40CECFAF3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86525"/>
            <a:ext cx="7334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Имитационное моделирование · лабораторная работа № 5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3C7CEEC-053D-4D70-931C-82E3AD18B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86525"/>
            <a:ext cx="800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44fa0fde464f96"/>
          <a:stretch xmlns:a="http://schemas.openxmlformats.org/drawingml/2006/main"/>
        </p:blipFill>
        <p:spPr>
          <a:xfrm xmlns:a="http://schemas.openxmlformats.org/drawingml/2006/main">
            <a:off x="1431257" y="895350"/>
            <a:ext cx="5900487" cy="5095875"/>
          </a:xfrm>
          <a:prstGeom xmlns:a="http://schemas.openxmlformats.org/drawingml/2006/main" prst="rect">
            <a:avLst/>
          </a:prstGeom>
        </p:spPr>
      </p:pic>
      <p:sp>
        <p:nvSpPr>
          <p:cNvPr id="9" name="states">
            <a:extLst xmlns:a="http://schemas.openxmlformats.org/drawingml/2006/main">
              <a:ext uri="{FF2B5EF4-FFF2-40B4-BE49-F238E27FC236}">
                <a16:creationId xmlns:a16="http://schemas.microsoft.com/office/drawing/2014/main" id="{14E3F9B0-44C3-4EC1-8902-2CA766BD7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219200"/>
            <a:ext cx="2552700" cy="365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Классическая сеть:</a:t>
            </a:r>
          </a:p>
          <a:p xmlns:a="http://schemas.openxmlformats.org/drawingml/2006/main">
            <a:pPr algn="l">
              <a:defRPr sz="165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N = 3, горизонт 30.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</a:defRPr>
            </a:pPr>
            <a:r>
              <a:rPr sz="1650" b="0">
                <a:solidFill>
                  <a:srgbClr val="17232D"/>
                </a:solidFill>
              </a:rPr>
              <a:t/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6 событий до deadlock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при t = 2,425484.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</a:defRPr>
            </a:pPr>
            <a:r>
              <a:rPr sz="1650" b="0">
                <a:solidFill>
                  <a:srgbClr val="17232D"/>
                </a:solidFill>
              </a:rPr>
              <a:t/>
            </a:r>
          </a:p>
          <a:p xmlns:a="http://schemas.openxmlformats.org/drawingml/2006/main">
            <a:pPr algn="l">
              <a:defRPr sz="165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Арбитр: 36 событий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без блокировки.</a:t>
            </a:r>
          </a:p>
        </p:txBody>
      </p:sp>
    </p:spTree>
    <p:extLst>
      <p:ext uri="{BB962C8B-B14F-4D97-AF65-F5344CB8AC3E}">
        <p14:creationId xmlns:p14="http://schemas.microsoft.com/office/powerpoint/2010/main" val="158619124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op-band">
            <a:extLst xmlns:a="http://schemas.openxmlformats.org/drawingml/2006/main">
              <a:ext uri="{FF2B5EF4-FFF2-40B4-BE49-F238E27FC236}">
                <a16:creationId xmlns:a16="http://schemas.microsoft.com/office/drawing/2014/main" id="{4B4A040E-4FA4-4C92-9639-20B50A1DA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47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0E2760E0-2BFB-41A3-B4B9-FC44F2B82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D12DDF8-2FD0-4D82-98E2-44AD868D1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ODE дополняет дискретную траекторию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75E0F864-667E-4385-A6F2-CC1F5D66D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9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9e61f96da7466d"/>
          <a:stretch xmlns:a="http://schemas.openxmlformats.org/drawingml/2006/main"/>
        </p:blipFill>
        <p:spPr>
          <a:xfrm xmlns:a="http://schemas.openxmlformats.org/drawingml/2006/main">
            <a:off x="552450" y="6495443"/>
            <a:ext cx="304800" cy="258389"/>
          </a:xfrm>
          <a:prstGeom xmlns:a="http://schemas.openxmlformats.org/drawingml/2006/main" prst="rect">
            <a:avLst/>
          </a:prstGeom>
        </p:spPr>
      </p:pic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E83CD01B-7F94-4DBC-84F5-40CECFAF3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86525"/>
            <a:ext cx="7334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Имитационное моделирование · лабораторная работа № 5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3C7CEEC-053D-4D70-931C-82E3AD18B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86525"/>
            <a:ext cx="800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588f05355c4042"/>
          <a:stretch xmlns:a="http://schemas.openxmlformats.org/drawingml/2006/main"/>
        </p:blipFill>
        <p:spPr>
          <a:xfrm xmlns:a="http://schemas.openxmlformats.org/drawingml/2006/main">
            <a:off x="1196578" y="1468636"/>
            <a:ext cx="6369844" cy="3949303"/>
          </a:xfrm>
          <a:prstGeom xmlns:a="http://schemas.openxmlformats.org/drawingml/2006/main" prst="rect">
            <a:avLst/>
          </a:prstGeom>
        </p:spPr>
      </p:pic>
      <p:sp>
        <p:nvSpPr>
          <p:cNvPr id="9" name="states">
            <a:extLst xmlns:a="http://schemas.openxmlformats.org/drawingml/2006/main">
              <a:ext uri="{FF2B5EF4-FFF2-40B4-BE49-F238E27FC236}">
                <a16:creationId xmlns:a16="http://schemas.microsoft.com/office/drawing/2014/main" id="{14E3F9B0-44C3-4EC1-8902-2CA766BD7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219200"/>
            <a:ext cx="2552700" cy="365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Массовое действие задаёт непрерывные потоки.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Решение не является целочисленной маркировкой.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</a:defRPr>
            </a:pPr>
            <a:r>
              <a:rPr sz="1650" b="0">
                <a:solidFill>
                  <a:srgbClr val="17232D"/>
                </a:solidFill>
              </a:rPr>
              <a:t/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ODE не заменяет проверку дискретного deadlock.</a:t>
            </a:r>
          </a:p>
        </p:txBody>
      </p:sp>
    </p:spTree>
    <p:extLst>
      <p:ext uri="{BB962C8B-B14F-4D97-AF65-F5344CB8AC3E}">
        <p14:creationId xmlns:p14="http://schemas.microsoft.com/office/powerpoint/2010/main" val="1586191248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op-band">
            <a:extLst xmlns:a="http://schemas.openxmlformats.org/drawingml/2006/main">
              <a:ext uri="{FF2B5EF4-FFF2-40B4-BE49-F238E27FC236}">
                <a16:creationId xmlns:a16="http://schemas.microsoft.com/office/drawing/2014/main" id="{48421A46-F9BD-480F-B275-C23896D5E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47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90627352-F663-4A2E-9B7B-12B403F6F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18DEB88-7101-47B0-B748-A400397B5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Параметрическая серия включает 960 траекторий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9CDEA9B6-8955-4F09-B9FA-546DA393B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9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f45b1a042e4f75"/>
          <a:stretch xmlns:a="http://schemas.openxmlformats.org/drawingml/2006/main"/>
        </p:blipFill>
        <p:spPr>
          <a:xfrm xmlns:a="http://schemas.openxmlformats.org/drawingml/2006/main">
            <a:off x="552450" y="6495443"/>
            <a:ext cx="304800" cy="258389"/>
          </a:xfrm>
          <a:prstGeom xmlns:a="http://schemas.openxmlformats.org/drawingml/2006/main" prst="rect">
            <a:avLst/>
          </a:prstGeom>
        </p:spPr>
      </p:pic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B41B547B-6312-422F-97B9-B812308FC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86525"/>
            <a:ext cx="7334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Имитационное моделирование · лабораторная работа № 5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5D149F8-2B2A-45C2-ACB2-B531EF4A6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86525"/>
            <a:ext cx="800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  <p:sp>
        <p:nvSpPr>
          <p:cNvPr id="8" name="goal">
            <a:extLst xmlns:a="http://schemas.openxmlformats.org/drawingml/2006/main">
              <a:ext uri="{FF2B5EF4-FFF2-40B4-BE49-F238E27FC236}">
                <a16:creationId xmlns:a16="http://schemas.microsoft.com/office/drawing/2014/main" id="{867F2279-946D-4402-B6C9-E80BAE1B4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33450"/>
            <a:ext cx="1066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Проверяется влияние числа философов и интенсивности захвата левой вилки.</a:t>
            </a:r>
          </a:p>
        </p:txBody>
      </p:sp>
      <p:sp>
        <p:nvSpPr>
          <p:cNvPr id="9" name="left-rule">
            <a:extLst xmlns:a="http://schemas.openxmlformats.org/drawingml/2006/main">
              <a:ext uri="{FF2B5EF4-FFF2-40B4-BE49-F238E27FC236}">
                <a16:creationId xmlns:a16="http://schemas.microsoft.com/office/drawing/2014/main" id="{0B205D5C-F4E6-46EE-8BE3-E1E85CA2F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52625"/>
            <a:ext cx="57150" cy="3409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tasks">
            <a:extLst xmlns:a="http://schemas.openxmlformats.org/drawingml/2006/main">
              <a:ext uri="{FF2B5EF4-FFF2-40B4-BE49-F238E27FC236}">
                <a16:creationId xmlns:a16="http://schemas.microsoft.com/office/drawing/2014/main" id="{D0B8600E-8057-4E67-AFD8-8FFEDC555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847850"/>
            <a:ext cx="96202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N = 3, 4, 5, 6, 7, 8;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λL = 1,0; 1,5; 2,0; 3,0;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20 повторов каждой комбинации;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два варианта сети;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горизонт каждого прогона: 50;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фиксированные начальные состояния генератора.</a:t>
            </a:r>
          </a:p>
        </p:txBody>
      </p:sp>
    </p:spTree>
    <p:extLst>
      <p:ext uri="{BB962C8B-B14F-4D97-AF65-F5344CB8AC3E}">
        <p14:creationId xmlns:p14="http://schemas.microsoft.com/office/powerpoint/2010/main" val="189917288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op-band">
            <a:extLst xmlns:a="http://schemas.openxmlformats.org/drawingml/2006/main">
              <a:ext uri="{FF2B5EF4-FFF2-40B4-BE49-F238E27FC236}">
                <a16:creationId xmlns:a16="http://schemas.microsoft.com/office/drawing/2014/main" id="{4B71F5F6-248A-493A-BFF4-DB5B4A22A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47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BB5CB7FF-FF77-40E6-A4F7-D6586C902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2042EA1-0509-47F7-86ED-55527639D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В серии deadlock наблюдался только без арбитра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B0DFCD4F-FB53-4C73-8295-9DB007AEA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9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3d3f7fe08845df"/>
          <a:stretch xmlns:a="http://schemas.openxmlformats.org/drawingml/2006/main"/>
        </p:blipFill>
        <p:spPr>
          <a:xfrm xmlns:a="http://schemas.openxmlformats.org/drawingml/2006/main">
            <a:off x="552450" y="6495443"/>
            <a:ext cx="304800" cy="258389"/>
          </a:xfrm>
          <a:prstGeom xmlns:a="http://schemas.openxmlformats.org/drawingml/2006/main" prst="rect">
            <a:avLst/>
          </a:prstGeom>
        </p:spPr>
      </p:pic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8B0EB-4DA1-4111-8E40-6CB1D9B0D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86525"/>
            <a:ext cx="7334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Имитационное моделирование · лабораторная работа № 5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C622E43-05B3-40DE-ABF3-C03225595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86525"/>
            <a:ext cx="800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a38a3fe3954f3b"/>
          <a:stretch xmlns:a="http://schemas.openxmlformats.org/drawingml/2006/main"/>
        </p:blipFill>
        <p:spPr>
          <a:xfrm xmlns:a="http://schemas.openxmlformats.org/drawingml/2006/main">
            <a:off x="476250" y="1106329"/>
            <a:ext cx="7477125" cy="4635818"/>
          </a:xfrm>
          <a:prstGeom xmlns:a="http://schemas.openxmlformats.org/drawingml/2006/main" prst="rect">
            <a:avLst/>
          </a:prstGeom>
        </p:spPr>
      </p:pic>
      <p:sp>
        <p:nvSpPr>
          <p:cNvPr id="9" name="scan-table">
            <a:extLst xmlns:a="http://schemas.openxmlformats.org/drawingml/2006/main">
              <a:ext uri="{FF2B5EF4-FFF2-40B4-BE49-F238E27FC236}">
                <a16:creationId xmlns:a16="http://schemas.microsoft.com/office/drawing/2014/main" id="{B690B6A6-A35B-4EFA-A6BD-EF554132B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257300"/>
            <a:ext cx="26860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Доля остановок: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</a:defRPr>
            </a:pPr>
            <a:r>
              <a:rPr sz="1725" b="0">
                <a:solidFill>
                  <a:srgbClr val="17232D"/>
                </a:solidFill>
              </a:rP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Классическая: 1,0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</a:defRPr>
            </a:pPr>
            <a:r>
              <a:rPr sz="1725" b="0">
                <a:solidFill>
                  <a:srgbClr val="17232D"/>
                </a:solidFill>
              </a:rP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С арбитром: 0,0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</a:defRPr>
            </a:pPr>
            <a:r>
              <a:rPr sz="1725" b="0">
                <a:solidFill>
                  <a:srgbClr val="17232D"/>
                </a:solidFill>
              </a:rP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Всего 960 прогонов.</a:t>
            </a:r>
          </a:p>
        </p:txBody>
      </p:sp>
      <p:sp>
        <p:nvSpPr>
          <p:cNvPr id="10" name="scan-takeaway">
            <a:extLst xmlns:a="http://schemas.openxmlformats.org/drawingml/2006/main">
              <a:ext uri="{FF2B5EF4-FFF2-40B4-BE49-F238E27FC236}">
                <a16:creationId xmlns:a16="http://schemas.microsoft.com/office/drawing/2014/main" id="{8005A1C6-3D7F-4B44-8EF5-7DFA0DF1E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000500"/>
            <a:ext cx="31242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Это наблюдаемая частота на заданном горизонте, а не оценка для всех возможных запусков.</a:t>
            </a:r>
          </a:p>
        </p:txBody>
      </p:sp>
    </p:spTree>
    <p:extLst>
      <p:ext uri="{BB962C8B-B14F-4D97-AF65-F5344CB8AC3E}">
        <p14:creationId xmlns:p14="http://schemas.microsoft.com/office/powerpoint/2010/main" val="157533289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op-band">
            <a:extLst xmlns:a="http://schemas.openxmlformats.org/drawingml/2006/main">
              <a:ext uri="{FF2B5EF4-FFF2-40B4-BE49-F238E27FC236}">
                <a16:creationId xmlns:a16="http://schemas.microsoft.com/office/drawing/2014/main" id="{4B71F5F6-248A-493A-BFF4-DB5B4A22A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47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BB5CB7FF-FF77-40E6-A4F7-D6586C902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2042EA1-0509-47F7-86ED-55527639D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Рабочая сеть сохраняет производительность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B0DFCD4F-FB53-4C73-8295-9DB007AEA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9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8bf822c39142b7"/>
          <a:stretch xmlns:a="http://schemas.openxmlformats.org/drawingml/2006/main"/>
        </p:blipFill>
        <p:spPr>
          <a:xfrm xmlns:a="http://schemas.openxmlformats.org/drawingml/2006/main">
            <a:off x="552450" y="6495443"/>
            <a:ext cx="304800" cy="258389"/>
          </a:xfrm>
          <a:prstGeom xmlns:a="http://schemas.openxmlformats.org/drawingml/2006/main" prst="rect">
            <a:avLst/>
          </a:prstGeom>
        </p:spPr>
      </p:pic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8B0EB-4DA1-4111-8E40-6CB1D9B0D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86525"/>
            <a:ext cx="7334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Имитационное моделирование · лабораторная работа № 5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C622E43-05B3-40DE-ABF3-C03225595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86525"/>
            <a:ext cx="800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3d23a828874121"/>
          <a:stretch xmlns:a="http://schemas.openxmlformats.org/drawingml/2006/main"/>
        </p:blipFill>
        <p:spPr>
          <a:xfrm xmlns:a="http://schemas.openxmlformats.org/drawingml/2006/main">
            <a:off x="476250" y="1804194"/>
            <a:ext cx="7477125" cy="3240088"/>
          </a:xfrm>
          <a:prstGeom xmlns:a="http://schemas.openxmlformats.org/drawingml/2006/main" prst="rect">
            <a:avLst/>
          </a:prstGeom>
        </p:spPr>
      </p:pic>
      <p:sp>
        <p:nvSpPr>
          <p:cNvPr id="9" name="scan-table">
            <a:extLst xmlns:a="http://schemas.openxmlformats.org/drawingml/2006/main">
              <a:ext uri="{FF2B5EF4-FFF2-40B4-BE49-F238E27FC236}">
                <a16:creationId xmlns:a16="http://schemas.microsoft.com/office/drawing/2014/main" id="{B690B6A6-A35B-4EFA-A6BD-EF554132B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257300"/>
            <a:ext cx="26860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При λL = 2: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</a:defRPr>
            </a:pPr>
            <a:r>
              <a:rPr sz="1725" b="0">
                <a:solidFill>
                  <a:srgbClr val="17232D"/>
                </a:solidFill>
              </a:rP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29–31 приём пищи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в среднем.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</a:defRPr>
            </a:pPr>
            <a:r>
              <a:rPr sz="1725" b="0">
                <a:solidFill>
                  <a:srgbClr val="17232D"/>
                </a:solidFill>
              </a:rP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Индекс Джейна: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0,83–0,94.</a:t>
            </a:r>
          </a:p>
        </p:txBody>
      </p:sp>
      <p:sp>
        <p:nvSpPr>
          <p:cNvPr id="10" name="scan-takeaway">
            <a:extLst xmlns:a="http://schemas.openxmlformats.org/drawingml/2006/main">
              <a:ext uri="{FF2B5EF4-FFF2-40B4-BE49-F238E27FC236}">
                <a16:creationId xmlns:a16="http://schemas.microsoft.com/office/drawing/2014/main" id="{8005A1C6-3D7F-4B44-8EF5-7DFA0DF1E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000500"/>
            <a:ext cx="31242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Увеличение числа участников распределяет ограниченный ресурс между большим числом философов.</a:t>
            </a:r>
          </a:p>
        </p:txBody>
      </p:sp>
    </p:spTree>
    <p:extLst>
      <p:ext uri="{BB962C8B-B14F-4D97-AF65-F5344CB8AC3E}">
        <p14:creationId xmlns:p14="http://schemas.microsoft.com/office/powerpoint/2010/main" val="1575332896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op-band">
            <a:extLst xmlns:a="http://schemas.openxmlformats.org/drawingml/2006/main">
              <a:ext uri="{FF2B5EF4-FFF2-40B4-BE49-F238E27FC236}">
                <a16:creationId xmlns:a16="http://schemas.microsoft.com/office/drawing/2014/main" id="{AF2585DF-AC5B-4323-9E8D-F5DD6ADEA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47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F961FBD9-A3D3-4B4D-8148-6A8EA0582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11B50FA-2F33-49D5-92A3-2006E35CA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Блокноты сохраняют код и фактические результаты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A624C76B-A866-4FC3-BD4F-676A5F423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9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15ba224c8d4ed5"/>
          <a:stretch xmlns:a="http://schemas.openxmlformats.org/drawingml/2006/main"/>
        </p:blipFill>
        <p:spPr>
          <a:xfrm xmlns:a="http://schemas.openxmlformats.org/drawingml/2006/main">
            <a:off x="552450" y="6495443"/>
            <a:ext cx="304800" cy="258389"/>
          </a:xfrm>
          <a:prstGeom xmlns:a="http://schemas.openxmlformats.org/drawingml/2006/main" prst="rect">
            <a:avLst/>
          </a:prstGeom>
        </p:spPr>
      </p:pic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8F359995-F295-4F48-BFC9-5FDCEDF79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86525"/>
            <a:ext cx="7334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Имитационное моделирование · лабораторная работа № 5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18B0D7C-16CB-40EC-970C-B3565A5F9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86525"/>
            <a:ext cx="800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ab96a685cd47e0"/>
          <a:stretch xmlns:a="http://schemas.openxmlformats.org/drawingml/2006/main"/>
        </p:blipFill>
        <p:spPr>
          <a:xfrm xmlns:a="http://schemas.openxmlformats.org/drawingml/2006/main">
            <a:off x="495300" y="1640086"/>
            <a:ext cx="5429250" cy="3053953"/>
          </a:xfrm>
          <a:prstGeom xmlns:a="http://schemas.openxmlformats.org/drawingml/2006/main" prst="rect">
            <a:avLst/>
          </a:prstGeom>
        </p:spPr>
      </p:pic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de686e8fee455a"/>
          <a:stretch xmlns:a="http://schemas.openxmlformats.org/drawingml/2006/main"/>
        </p:blipFill>
        <p:spPr>
          <a:xfrm xmlns:a="http://schemas.openxmlformats.org/drawingml/2006/main">
            <a:off x="6267450" y="1640086"/>
            <a:ext cx="5429250" cy="3053953"/>
          </a:xfrm>
          <a:prstGeom xmlns:a="http://schemas.openxmlformats.org/drawingml/2006/main" prst="rect">
            <a:avLst/>
          </a:prstGeom>
        </p:spPr>
      </p:pic>
      <p:sp>
        <p:nvSpPr>
          <p:cNvPr id="10" name="sir-label">
            <a:extLst xmlns:a="http://schemas.openxmlformats.org/drawingml/2006/main">
              <a:ext uri="{FF2B5EF4-FFF2-40B4-BE49-F238E27FC236}">
                <a16:creationId xmlns:a16="http://schemas.microsoft.com/office/drawing/2014/main" id="{2E8BCE43-1A01-4261-B5EA-2E52C7151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410200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Базовая траектория</a:t>
            </a:r>
          </a:p>
        </p:txBody>
      </p:sp>
      <p:sp>
        <p:nvSpPr>
          <p:cNvPr id="11" name="lv-label">
            <a:extLst xmlns:a="http://schemas.openxmlformats.org/drawingml/2006/main">
              <a:ext uri="{FF2B5EF4-FFF2-40B4-BE49-F238E27FC236}">
                <a16:creationId xmlns:a16="http://schemas.microsoft.com/office/drawing/2014/main" id="{9A8A30A9-3164-4FDB-BCBF-1144A3792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5410200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Параметрическая серия</a:t>
            </a:r>
          </a:p>
        </p:txBody>
      </p:sp>
    </p:spTree>
    <p:extLst>
      <p:ext uri="{BB962C8B-B14F-4D97-AF65-F5344CB8AC3E}">
        <p14:creationId xmlns:p14="http://schemas.microsoft.com/office/powerpoint/2010/main" val="413898477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op-band">
            <a:extLst xmlns:a="http://schemas.openxmlformats.org/drawingml/2006/main">
              <a:ext uri="{FF2B5EF4-FFF2-40B4-BE49-F238E27FC236}">
                <a16:creationId xmlns:a16="http://schemas.microsoft.com/office/drawing/2014/main" id="{6D573241-9EE9-4DF9-8086-F9A4F38D1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47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FF6378DF-5E8F-4722-97E0-1107CA5B6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DD81CC7-CBD2-4703-970A-156532EFA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Все 56 проверок модели пройдены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F606674E-824A-4C30-AC07-9394E7D20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9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ddc9e78a5e470e"/>
          <a:stretch xmlns:a="http://schemas.openxmlformats.org/drawingml/2006/main"/>
        </p:blipFill>
        <p:spPr>
          <a:xfrm xmlns:a="http://schemas.openxmlformats.org/drawingml/2006/main">
            <a:off x="552450" y="6495443"/>
            <a:ext cx="304800" cy="258389"/>
          </a:xfrm>
          <a:prstGeom xmlns:a="http://schemas.openxmlformats.org/drawingml/2006/main" prst="rect">
            <a:avLst/>
          </a:prstGeom>
        </p:spPr>
      </p:pic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5B26CBF1-396E-4033-AAF9-489271389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86525"/>
            <a:ext cx="7334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Имитационное моделирование · лабораторная работа № 5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5627C61-6ADF-48E9-A24A-976D6E940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86525"/>
            <a:ext cx="800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aba65aa0e246dc"/>
          <a:stretch xmlns:a="http://schemas.openxmlformats.org/drawingml/2006/main"/>
        </p:blipFill>
        <p:spPr>
          <a:xfrm xmlns:a="http://schemas.openxmlformats.org/drawingml/2006/main">
            <a:off x="514350" y="1241822"/>
            <a:ext cx="7200900" cy="4050506"/>
          </a:xfrm>
          <a:prstGeom xmlns:a="http://schemas.openxmlformats.org/drawingml/2006/main" prst="rect">
            <a:avLst/>
          </a:prstGeom>
        </p:spPr>
      </p:pic>
      <p:sp>
        <p:nvSpPr>
          <p:cNvPr id="9" name="test-list">
            <a:extLst xmlns:a="http://schemas.openxmlformats.org/drawingml/2006/main">
              <a:ext uri="{FF2B5EF4-FFF2-40B4-BE49-F238E27FC236}">
                <a16:creationId xmlns:a16="http://schemas.microsoft.com/office/drawing/2014/main" id="{C4D7CFCF-E677-40A4-ABD8-F9C618B52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257300"/>
            <a:ext cx="321945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✓ структура и переходы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✓ инварианты ресурсов</a:t>
            </a:r>
          </a:p>
          <a:p xmlns:a="http://schemas.openxmlformats.org/drawingml/2006/main">
            <a:pPr algn="l">
              <a:defRPr sz="165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✓ классический deadlock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✓ анимация при N = 3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✓ анализ сохранённых CSV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✓ ODE и индекс Джейна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✓ форматы 4 сценариев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Ошибок не обнаружено.</a:t>
            </a:r>
          </a:p>
        </p:txBody>
      </p:sp>
    </p:spTree>
    <p:extLst>
      <p:ext uri="{BB962C8B-B14F-4D97-AF65-F5344CB8AC3E}">
        <p14:creationId xmlns:p14="http://schemas.microsoft.com/office/powerpoint/2010/main" val="60678283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B477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accent">
            <a:extLst xmlns:a="http://schemas.openxmlformats.org/drawingml/2006/main">
              <a:ext uri="{FF2B5EF4-FFF2-40B4-BE49-F238E27FC236}">
                <a16:creationId xmlns:a16="http://schemas.microsoft.com/office/drawing/2014/main" id="{7EDC123F-A2A1-4A23-B400-58E76A7A6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7001dd062e4ab3"/>
          <a:stretch xmlns:a="http://schemas.openxmlformats.org/drawingml/2006/main"/>
        </p:blipFill>
        <p:spPr>
          <a:xfrm xmlns:a="http://schemas.openxmlformats.org/drawingml/2006/main">
            <a:off x="742950" y="716689"/>
            <a:ext cx="781050" cy="662123"/>
          </a:xfrm>
          <a:prstGeom xmlns:a="http://schemas.openxmlformats.org/drawingml/2006/main" prst="rect">
            <a:avLst/>
          </a:prstGeom>
        </p:spPr>
      </p:pic>
      <p:sp>
        <p:nvSpPr>
          <p:cNvPr id="3" name="conclusion-title">
            <a:extLst xmlns:a="http://schemas.openxmlformats.org/drawingml/2006/main">
              <a:ext uri="{FF2B5EF4-FFF2-40B4-BE49-F238E27FC236}">
                <a16:creationId xmlns:a16="http://schemas.microsoft.com/office/drawing/2014/main" id="{05B54D60-5BA6-4B1C-AA38-11674D76A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723900"/>
            <a:ext cx="8858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Заключение</a:t>
            </a:r>
          </a:p>
        </p:txBody>
      </p:sp>
      <p:sp>
        <p:nvSpPr>
          <p:cNvPr id="4" name="conclusion-rule">
            <a:extLst xmlns:a="http://schemas.openxmlformats.org/drawingml/2006/main">
              <a:ext uri="{FF2B5EF4-FFF2-40B4-BE49-F238E27FC236}">
                <a16:creationId xmlns:a16="http://schemas.microsoft.com/office/drawing/2014/main" id="{A6F50DB3-5845-402B-875A-F3D971960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133600"/>
            <a:ext cx="6286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conclusions">
            <a:extLst xmlns:a="http://schemas.openxmlformats.org/drawingml/2006/main">
              <a:ext uri="{FF2B5EF4-FFF2-40B4-BE49-F238E27FC236}">
                <a16:creationId xmlns:a16="http://schemas.microsoft.com/office/drawing/2014/main" id="{80C76B1D-E492-4AF8-A98B-ACC10B47E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552700"/>
            <a:ext cx="8953500" cy="3219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• Классическая стратегия допускает глобальную остановку.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• Арбитр устраняет цикл захвата всех вилок.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• Данные, блокноты и тесты согласуются с устройством сети.</a:t>
            </a:r>
          </a:p>
        </p:txBody>
      </p:sp>
      <p:sp>
        <p:nvSpPr>
          <p:cNvPr id="6" name="final">
            <a:extLst xmlns:a="http://schemas.openxmlformats.org/drawingml/2006/main">
              <a:ext uri="{FF2B5EF4-FFF2-40B4-BE49-F238E27FC236}">
                <a16:creationId xmlns:a16="http://schemas.microsoft.com/office/drawing/2014/main" id="{FCC7524D-04B4-4E2B-BB4A-218A72DF3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924550"/>
            <a:ext cx="571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35A9D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35A9D3"/>
                </a:solidFill>
                <a:latin typeface="Calibri"/>
                <a:ea typeface="Calibri"/>
                <a:cs typeface="Calibri"/>
              </a:rPr>
              <a:t>Лабораторная работа № 5</a:t>
            </a:r>
          </a:p>
        </p:txBody>
      </p:sp>
    </p:spTree>
    <p:extLst>
      <p:ext uri="{BB962C8B-B14F-4D97-AF65-F5344CB8AC3E}">
        <p14:creationId xmlns:p14="http://schemas.microsoft.com/office/powerpoint/2010/main" val="509539714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0B477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accent">
            <a:extLst xmlns:a="http://schemas.openxmlformats.org/drawingml/2006/main">
              <a:ext uri="{FF2B5EF4-FFF2-40B4-BE49-F238E27FC236}">
                <a16:creationId xmlns:a16="http://schemas.microsoft.com/office/drawing/2014/main" id="{7EDC123F-A2A1-4A23-B400-58E76A7A6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23dd4a88354f69"/>
          <a:stretch xmlns:a="http://schemas.openxmlformats.org/drawingml/2006/main"/>
        </p:blipFill>
        <p:spPr>
          <a:xfrm xmlns:a="http://schemas.openxmlformats.org/drawingml/2006/main">
            <a:off x="742950" y="716689"/>
            <a:ext cx="781050" cy="662123"/>
          </a:xfrm>
          <a:prstGeom xmlns:a="http://schemas.openxmlformats.org/drawingml/2006/main" prst="rect">
            <a:avLst/>
          </a:prstGeom>
        </p:spPr>
      </p:pic>
      <p:sp>
        <p:nvSpPr>
          <p:cNvPr id="3" name="conclusion-title">
            <a:extLst xmlns:a="http://schemas.openxmlformats.org/drawingml/2006/main">
              <a:ext uri="{FF2B5EF4-FFF2-40B4-BE49-F238E27FC236}">
                <a16:creationId xmlns:a16="http://schemas.microsoft.com/office/drawing/2014/main" id="{05B54D60-5BA6-4B1C-AA38-11674D76A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723900"/>
            <a:ext cx="8858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Арбитр устраняет deadlock,</a:t>
            </a:r>
          </a:p>
          <a:p xmlns:a="http://schemas.openxmlformats.org/drawingml/2006/main">
            <a:pPr algn="l">
              <a:buNone/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но не гарантирует равномерность</a:t>
            </a:r>
          </a:p>
        </p:txBody>
      </p:sp>
      <p:sp>
        <p:nvSpPr>
          <p:cNvPr id="4" name="conclusion-rule">
            <a:extLst xmlns:a="http://schemas.openxmlformats.org/drawingml/2006/main">
              <a:ext uri="{FF2B5EF4-FFF2-40B4-BE49-F238E27FC236}">
                <a16:creationId xmlns:a16="http://schemas.microsoft.com/office/drawing/2014/main" id="{A6F50DB3-5845-402B-875A-F3D971960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133600"/>
            <a:ext cx="6286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conclusions">
            <a:extLst xmlns:a="http://schemas.openxmlformats.org/drawingml/2006/main">
              <a:ext uri="{FF2B5EF4-FFF2-40B4-BE49-F238E27FC236}">
                <a16:creationId xmlns:a16="http://schemas.microsoft.com/office/drawing/2014/main" id="{80C76B1D-E492-4AF8-A98B-ACC10B47E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552700"/>
            <a:ext cx="8953500" cy="3219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• Классическая сеть остановилась после 5 событий.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• Сеть с арбитром завершила 31 приём пищи.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• 960 прогонов показали различие двух структур.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• Индекс Джейна базового опыта — 0,9109.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• Получены Julia, IPYNB, QMD, DOCX, PDF, HTML и PPTX.</a:t>
            </a:r>
          </a:p>
        </p:txBody>
      </p:sp>
      <p:sp>
        <p:nvSpPr>
          <p:cNvPr id="6" name="final">
            <a:extLst xmlns:a="http://schemas.openxmlformats.org/drawingml/2006/main">
              <a:ext uri="{FF2B5EF4-FFF2-40B4-BE49-F238E27FC236}">
                <a16:creationId xmlns:a16="http://schemas.microsoft.com/office/drawing/2014/main" id="{FCC7524D-04B4-4E2B-BB4A-218A72DF3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924550"/>
            <a:ext cx="571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35A9D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35A9D3"/>
                </a:solidFill>
                <a:latin typeface="Calibri"/>
                <a:ea typeface="Calibri"/>
                <a:cs typeface="Calibri"/>
              </a:rPr>
              <a:t>Лабораторная работа № 5</a:t>
            </a:r>
          </a:p>
        </p:txBody>
      </p:sp>
    </p:spTree>
    <p:extLst>
      <p:ext uri="{BB962C8B-B14F-4D97-AF65-F5344CB8AC3E}">
        <p14:creationId xmlns:p14="http://schemas.microsoft.com/office/powerpoint/2010/main" val="50953971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2026-08-31T11:56:23.4530000Z</dcterms:created>
  <dcterms:modified xsi:type="dcterms:W3CDTF">2026-08-31T11:56:23.4530000Z</dcterms:modified>
</coreProperties>
</file>