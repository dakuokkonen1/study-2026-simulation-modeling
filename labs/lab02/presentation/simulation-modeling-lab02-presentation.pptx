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e0e2688c6484d66" /><Relationship Type="http://schemas.openxmlformats.org/officeDocument/2006/relationships/extended-properties" Target="/docProps/app.xml" Id="Re9b0d9fb3101497b" /><Relationship Type="http://schemas.openxmlformats.org/officeDocument/2006/relationships/officeDocument" Target="/ppt/presentation.xml" Id="Rf6ca67bbee24447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4d4075aebd142e6"/>
  </p:sldMasterIdLst>
  <p:notesMasterIdLst>
    <p:notesMasterId xmlns:r="http://schemas.openxmlformats.org/officeDocument/2006/relationships" r:id="R8db231323d3d4033"/>
  </p:notesMasterIdLst>
  <p:sldIdLst>
    <p:sldId xmlns:r="http://schemas.openxmlformats.org/officeDocument/2006/relationships" id="256" r:id="Rf5207626628e41e2"/>
    <p:sldId xmlns:r="http://schemas.openxmlformats.org/officeDocument/2006/relationships" id="257" r:id="R985bfc7ef0fe472d"/>
    <p:sldId xmlns:r="http://schemas.openxmlformats.org/officeDocument/2006/relationships" id="258" r:id="R95709ad06cdf4bda"/>
    <p:sldId xmlns:r="http://schemas.openxmlformats.org/officeDocument/2006/relationships" id="259" r:id="Re792d473a9d2413d"/>
    <p:sldId xmlns:r="http://schemas.openxmlformats.org/officeDocument/2006/relationships" id="260" r:id="R07515f50b66940ec"/>
    <p:sldId xmlns:r="http://schemas.openxmlformats.org/officeDocument/2006/relationships" id="261" r:id="R65546c2974f6478b"/>
    <p:sldId xmlns:r="http://schemas.openxmlformats.org/officeDocument/2006/relationships" id="262" r:id="R8ce970c78fde46ea"/>
    <p:sldId xmlns:r="http://schemas.openxmlformats.org/officeDocument/2006/relationships" id="263" r:id="R3ab34b50b881497e"/>
    <p:sldId xmlns:r="http://schemas.openxmlformats.org/officeDocument/2006/relationships" id="264" r:id="R79947d4ad4bc4bb8"/>
    <p:sldId xmlns:r="http://schemas.openxmlformats.org/officeDocument/2006/relationships" id="265" r:id="R1b9299e9ac5744dc"/>
    <p:sldId xmlns:r="http://schemas.openxmlformats.org/officeDocument/2006/relationships" id="266" r:id="Rc65e72154f3f4c4a"/>
    <p:sldId xmlns:r="http://schemas.openxmlformats.org/officeDocument/2006/relationships" id="267" r:id="Rdce914e8c7bf4646"/>
    <p:sldId xmlns:r="http://schemas.openxmlformats.org/officeDocument/2006/relationships" id="268" r:id="Rf5efbae3244c4759"/>
    <p:sldId xmlns:r="http://schemas.openxmlformats.org/officeDocument/2006/relationships" id="269" r:id="Re101dd43187e42fd"/>
    <p:sldId xmlns:r="http://schemas.openxmlformats.org/officeDocument/2006/relationships" id="270" r:id="Rdeb139abfc22496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39ced6ac43d404e" /><Relationship Type="http://schemas.openxmlformats.org/officeDocument/2006/relationships/slideMaster" Target="/ppt/slideMasters/slideMaster1.xml" Id="Rd4d4075aebd142e6" /><Relationship Type="http://schemas.openxmlformats.org/officeDocument/2006/relationships/notesMaster" Target="/ppt/notesMasters/notesMaster1.xml" Id="R8db231323d3d4033" /><Relationship Type="http://schemas.openxmlformats.org/officeDocument/2006/relationships/presProps" Target="/ppt/presProps.xml" Id="Rd0bc6c2df6c146dc" /><Relationship Type="http://schemas.openxmlformats.org/officeDocument/2006/relationships/tableStyles" Target="/ppt/tableStyles.xml" Id="R7a56534ab37f400f" /><Relationship Type="http://schemas.openxmlformats.org/officeDocument/2006/relationships/slide" Target="/ppt/slides/slide1.xml" Id="Rf5207626628e41e2" /><Relationship Type="http://schemas.openxmlformats.org/officeDocument/2006/relationships/slide" Target="/ppt/slides/slide2.xml" Id="R985bfc7ef0fe472d" /><Relationship Type="http://schemas.openxmlformats.org/officeDocument/2006/relationships/slide" Target="/ppt/slides/slide3.xml" Id="R95709ad06cdf4bda" /><Relationship Type="http://schemas.openxmlformats.org/officeDocument/2006/relationships/slide" Target="/ppt/slides/slide4.xml" Id="Re792d473a9d2413d" /><Relationship Type="http://schemas.openxmlformats.org/officeDocument/2006/relationships/slide" Target="/ppt/slides/slide5.xml" Id="R07515f50b66940ec" /><Relationship Type="http://schemas.openxmlformats.org/officeDocument/2006/relationships/slide" Target="/ppt/slides/slide6.xml" Id="R65546c2974f6478b" /><Relationship Type="http://schemas.openxmlformats.org/officeDocument/2006/relationships/slide" Target="/ppt/slides/slide7.xml" Id="R8ce970c78fde46ea" /><Relationship Type="http://schemas.openxmlformats.org/officeDocument/2006/relationships/slide" Target="/ppt/slides/slide8.xml" Id="R3ab34b50b881497e" /><Relationship Type="http://schemas.openxmlformats.org/officeDocument/2006/relationships/slide" Target="/ppt/slides/slide9.xml" Id="R79947d4ad4bc4bb8" /><Relationship Type="http://schemas.openxmlformats.org/officeDocument/2006/relationships/slide" Target="/ppt/slides/slide10.xml" Id="R1b9299e9ac5744dc" /><Relationship Type="http://schemas.openxmlformats.org/officeDocument/2006/relationships/slide" Target="/ppt/slides/slide11.xml" Id="Rc65e72154f3f4c4a" /><Relationship Type="http://schemas.openxmlformats.org/officeDocument/2006/relationships/slide" Target="/ppt/slides/slide12.xml" Id="Rdce914e8c7bf4646" /><Relationship Type="http://schemas.openxmlformats.org/officeDocument/2006/relationships/slide" Target="/ppt/slides/slide13.xml" Id="Rf5efbae3244c4759" /><Relationship Type="http://schemas.openxmlformats.org/officeDocument/2006/relationships/slide" Target="/ppt/slides/slide14.xml" Id="Re101dd43187e42fd" /><Relationship Type="http://schemas.openxmlformats.org/officeDocument/2006/relationships/slide" Target="/ppt/slides/slide15.xml" Id="Rdeb139abfc22496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2c99beaa69a4bb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94a88e6ad734d6a" /><Relationship Type="http://schemas.openxmlformats.org/officeDocument/2006/relationships/notesMaster" Target="/ppt/notesMasters/notesMaster1.xml" Id="R36b6dc187c50472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09d76f70bba4fb9" /><Relationship Type="http://schemas.openxmlformats.org/officeDocument/2006/relationships/notesMaster" Target="/ppt/notesMasters/notesMaster1.xml" Id="Rb377550a53ed4c7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fb0cf20f7a34ccd" /><Relationship Type="http://schemas.openxmlformats.org/officeDocument/2006/relationships/notesMaster" Target="/ppt/notesMasters/notesMaster1.xml" Id="Re21c93c2305e4c7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fe3542752f24408" /><Relationship Type="http://schemas.openxmlformats.org/officeDocument/2006/relationships/notesMaster" Target="/ppt/notesMasters/notesMaster1.xml" Id="Rad6ae7db7979478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eecab07cd5b4598" /><Relationship Type="http://schemas.openxmlformats.org/officeDocument/2006/relationships/notesMaster" Target="/ppt/notesMasters/notesMaster1.xml" Id="Rf9c953f6de944ec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a56008ec7164763" /><Relationship Type="http://schemas.openxmlformats.org/officeDocument/2006/relationships/notesMaster" Target="/ppt/notesMasters/notesMaster1.xml" Id="Rbc04a0f9b7274a7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25a04027b674515" /><Relationship Type="http://schemas.openxmlformats.org/officeDocument/2006/relationships/notesMaster" Target="/ppt/notesMasters/notesMaster1.xml" Id="R19fcd2d16109480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38c8190b9424f44" /><Relationship Type="http://schemas.openxmlformats.org/officeDocument/2006/relationships/notesMaster" Target="/ppt/notesMasters/notesMaster1.xml" Id="R476e221831ca407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0919e8824fa4248" /><Relationship Type="http://schemas.openxmlformats.org/officeDocument/2006/relationships/notesMaster" Target="/ppt/notesMasters/notesMaster1.xml" Id="R2e69bfa379644b8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3b05b1853394432" /><Relationship Type="http://schemas.openxmlformats.org/officeDocument/2006/relationships/notesMaster" Target="/ppt/notesMasters/notesMaster1.xml" Id="R2a8cfe2105f0478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a110e5b452347fa" /><Relationship Type="http://schemas.openxmlformats.org/officeDocument/2006/relationships/notesMaster" Target="/ppt/notesMasters/notesMaster1.xml" Id="Rd7cf226efc4945f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735df834a4341ab" /><Relationship Type="http://schemas.openxmlformats.org/officeDocument/2006/relationships/notesMaster" Target="/ppt/notesMasters/notesMaster1.xml" Id="R0eab0e8a401a41d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599a26058a2418f" /><Relationship Type="http://schemas.openxmlformats.org/officeDocument/2006/relationships/notesMaster" Target="/ppt/notesMasters/notesMaster1.xml" Id="R64a437372c634e6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30b601db9244500" /><Relationship Type="http://schemas.openxmlformats.org/officeDocument/2006/relationships/notesMaster" Target="/ppt/notesMasters/notesMaster1.xml" Id="Rfe803bb7772d496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23ebb64da904c3f" /><Relationship Type="http://schemas.openxmlformats.org/officeDocument/2006/relationships/notesMaster" Target="/ppt/notesMasters/notesMaster1.xml" Id="R9d3617aa14e0471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8ac0d8d58e438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23c49c6cf494a41" /><Relationship Type="http://schemas.openxmlformats.org/officeDocument/2006/relationships/slideLayout" Target="/ppt/slideLayouts/slideLayout1.xml" Id="Rfc58b2a5e5db465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c58b2a5e5db465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c8d29f40124ab9" /><Relationship Type="http://schemas.openxmlformats.org/officeDocument/2006/relationships/image" Target="/ppt/media/image.png" Id="R7d2091087df34812" /><Relationship Type="http://schemas.openxmlformats.org/officeDocument/2006/relationships/notesSlide" Target="/ppt/notesSlides/notesSlide1.xml" Id="R184bb53d5040437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198bc07083467b" /><Relationship Type="http://schemas.openxmlformats.org/officeDocument/2006/relationships/image" Target="/ppt/media/image2.png" Id="R5b8bcfd5fd7b4df3" /><Relationship Type="http://schemas.openxmlformats.org/officeDocument/2006/relationships/notesSlide" Target="/ppt/notesSlides/notesSlide2.xml" Id="Re03d10b62c544ae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24c2705f6443d2" /><Relationship Type="http://schemas.openxmlformats.org/officeDocument/2006/relationships/image" Target="/ppt/media/image3.png" Id="Rb7d8dbb7485a400d" /><Relationship Type="http://schemas.openxmlformats.org/officeDocument/2006/relationships/notesSlide" Target="/ppt/notesSlides/notesSlide3.xml" Id="Ra9650fed490345a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77a62b48554313" /><Relationship Type="http://schemas.openxmlformats.org/officeDocument/2006/relationships/image" Target="/ppt/media/image4.png" Id="R7b5c4471ff684d55" /><Relationship Type="http://schemas.openxmlformats.org/officeDocument/2006/relationships/notesSlide" Target="/ppt/notesSlides/notesSlide4.xml" Id="Rb36b035a0264407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db10517cc941a8" /><Relationship Type="http://schemas.openxmlformats.org/officeDocument/2006/relationships/image" Target="/ppt/media/image5.png" Id="Rb1039371518c4a8c" /><Relationship Type="http://schemas.openxmlformats.org/officeDocument/2006/relationships/image" Target="/ppt/media/image6.png" Id="R99d30695c8824b65" /><Relationship Type="http://schemas.openxmlformats.org/officeDocument/2006/relationships/notesSlide" Target="/ppt/notesSlides/notesSlide5.xml" Id="Rd6b9c8b30984416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3f3cd97bab47f2" /><Relationship Type="http://schemas.openxmlformats.org/officeDocument/2006/relationships/image" Target="/ppt/media/image7.png" Id="Re282b94cff24446b" /><Relationship Type="http://schemas.openxmlformats.org/officeDocument/2006/relationships/image" Target="/ppt/media/image8.png" Id="R1929aaace8cf479a" /><Relationship Type="http://schemas.openxmlformats.org/officeDocument/2006/relationships/notesSlide" Target="/ppt/notesSlides/notesSlide6.xml" Id="R1f9bd1339b1f4c9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c7e5a267ec4842" /><Relationship Type="http://schemas.openxmlformats.org/officeDocument/2006/relationships/image" Target="/ppt/media/image9.png" Id="R61d0fa4d918247b0" /><Relationship Type="http://schemas.openxmlformats.org/officeDocument/2006/relationships/image" Target="/ppt/media/image10.png" Id="Rc3e1328785074304" /><Relationship Type="http://schemas.openxmlformats.org/officeDocument/2006/relationships/notesSlide" Target="/ppt/notesSlides/notesSlide7.xml" Id="R7f1e4593970d437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bf4cdb0eb34783" /><Relationship Type="http://schemas.openxmlformats.org/officeDocument/2006/relationships/image" Target="/ppt/media/image11.png" Id="Rc23d890a59b54e75" /><Relationship Type="http://schemas.openxmlformats.org/officeDocument/2006/relationships/image" Target="/ppt/media/image12.png" Id="Rb161e5af4e694fde" /><Relationship Type="http://schemas.openxmlformats.org/officeDocument/2006/relationships/notesSlide" Target="/ppt/notesSlides/notesSlide8.xml" Id="Rbb422e77773d4d7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71550fe9014afb" /><Relationship Type="http://schemas.openxmlformats.org/officeDocument/2006/relationships/image" Target="/ppt/media/image13.png" Id="Re10851e8f2c7417c" /><Relationship Type="http://schemas.openxmlformats.org/officeDocument/2006/relationships/image" Target="/ppt/media/image14.png" Id="Rd88ff2dcf59f491d" /><Relationship Type="http://schemas.openxmlformats.org/officeDocument/2006/relationships/notesSlide" Target="/ppt/notesSlides/notesSlide9.xml" Id="R72df9d61c6264de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0ca77a8e69497e" /><Relationship Type="http://schemas.openxmlformats.org/officeDocument/2006/relationships/image" Target="/ppt/media/image15.png" Id="R1d30d75539b841f3" /><Relationship Type="http://schemas.openxmlformats.org/officeDocument/2006/relationships/image" Target="/ppt/media/image16.png" Id="Rab4ee4be99464e3b" /><Relationship Type="http://schemas.openxmlformats.org/officeDocument/2006/relationships/image" Target="/ppt/media/image17.png" Id="R766b1dcc07654760" /><Relationship Type="http://schemas.openxmlformats.org/officeDocument/2006/relationships/notesSlide" Target="/ppt/notesSlides/notesSlide10.xml" Id="Redb53bbdd9c3494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e44de2b6d643c0" /><Relationship Type="http://schemas.openxmlformats.org/officeDocument/2006/relationships/image" Target="/ppt/media/image18.png" Id="R144a7c42c0624806" /><Relationship Type="http://schemas.openxmlformats.org/officeDocument/2006/relationships/image" Target="/ppt/media/image19.png" Id="Rcdc72d99df9a4628" /><Relationship Type="http://schemas.openxmlformats.org/officeDocument/2006/relationships/notesSlide" Target="/ppt/notesSlides/notesSlide11.xml" Id="Rd843f69e3945490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4f3f27cd3d47ff" /><Relationship Type="http://schemas.openxmlformats.org/officeDocument/2006/relationships/image" Target="/ppt/media/image20.png" Id="R297883c62e474e2e" /><Relationship Type="http://schemas.openxmlformats.org/officeDocument/2006/relationships/image" Target="/ppt/media/image.jpeg" Id="Rcd67152cc6d44be3" /><Relationship Type="http://schemas.openxmlformats.org/officeDocument/2006/relationships/image" Target="/ppt/media/image2.jpeg" Id="R908bb3b9925e4003" /><Relationship Type="http://schemas.openxmlformats.org/officeDocument/2006/relationships/notesSlide" Target="/ppt/notesSlides/notesSlide12.xml" Id="R7cf794550761462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29bef8bd534ce5" /><Relationship Type="http://schemas.openxmlformats.org/officeDocument/2006/relationships/image" Target="/ppt/media/image21.png" Id="R87106a6e37dd4590" /><Relationship Type="http://schemas.openxmlformats.org/officeDocument/2006/relationships/image" Target="/ppt/media/image22.png" Id="R7754ae2763864228" /><Relationship Type="http://schemas.openxmlformats.org/officeDocument/2006/relationships/notesSlide" Target="/ppt/notesSlides/notesSlide13.xml" Id="R248e69eb5f654a2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ea23ae52024448" /><Relationship Type="http://schemas.openxmlformats.org/officeDocument/2006/relationships/image" Target="/ppt/media/image23.png" Id="R004db3bd61144897" /><Relationship Type="http://schemas.openxmlformats.org/officeDocument/2006/relationships/notesSlide" Target="/ppt/notesSlides/notesSlide14.xml" Id="R89be8d726d894fe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dd7ed741a242b4" /><Relationship Type="http://schemas.openxmlformats.org/officeDocument/2006/relationships/image" Target="/ppt/media/image24.png" Id="R4d2aa5d2e33a455b" /><Relationship Type="http://schemas.openxmlformats.org/officeDocument/2006/relationships/notesSlide" Target="/ppt/notesSlides/notesSlide15.xml" Id="Rd6550197471c4bd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left-band">
            <a:extLst xmlns:a="http://schemas.openxmlformats.org/drawingml/2006/main">
              <a:ext uri="{FF2B5EF4-FFF2-40B4-BE49-F238E27FC236}">
                <a16:creationId xmlns:a16="http://schemas.microsoft.com/office/drawing/2014/main" id="{3396A765-E720-4140-8F2A-9B2252C72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00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7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accent-band">
            <a:extLst xmlns:a="http://schemas.openxmlformats.org/drawingml/2006/main">
              <a:ext uri="{FF2B5EF4-FFF2-40B4-BE49-F238E27FC236}">
                <a16:creationId xmlns:a16="http://schemas.microsoft.com/office/drawing/2014/main" id="{F0AA6C92-D1C5-4BD3-9709-9C06392CC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9D3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2091087df34812"/>
          <a:stretch xmlns:a="http://schemas.openxmlformats.org/drawingml/2006/main"/>
        </p:blipFill>
        <p:spPr>
          <a:xfrm xmlns:a="http://schemas.openxmlformats.org/drawingml/2006/main">
            <a:off x="457200" y="560369"/>
            <a:ext cx="1104900" cy="936661"/>
          </a:xfrm>
          <a:prstGeom xmlns:a="http://schemas.openxmlformats.org/drawingml/2006/main" prst="rect">
            <a:avLst/>
          </a:prstGeom>
        </p:spPr>
      </p:pic>
      <p:sp>
        <p:nvSpPr>
          <p:cNvPr id="4" name="course">
            <a:extLst xmlns:a="http://schemas.openxmlformats.org/drawingml/2006/main">
              <a:ext uri="{FF2B5EF4-FFF2-40B4-BE49-F238E27FC236}">
                <a16:creationId xmlns:a16="http://schemas.microsoft.com/office/drawing/2014/main" id="{5F81805C-F6B2-4923-AA28-EDF4ED91C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914400"/>
            <a:ext cx="847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6EA5"/>
                </a:solidFill>
              </a:defRPr>
            </a:pPr>
            <a:r>
              <a:rPr sz="1350" b="1">
                <a:solidFill>
                  <a:srgbClr val="176EA5"/>
                </a:solidFill>
              </a:rPr>
              <a:t>ИМИТАЦИОННОЕ МОДЕЛИРОВАНИЕ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1045F79F-CBEE-46C7-8579-E321FAC8C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1562100"/>
            <a:ext cx="8572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0B4778"/>
                </a:solidFill>
              </a:defRPr>
            </a:pPr>
            <a:r>
              <a:rPr sz="3675" b="1">
                <a:solidFill>
                  <a:srgbClr val="0B4778"/>
                </a:solidFill>
              </a:rPr>
              <a:t>Лабораторная работа № 2</a:t>
            </a:r>
          </a:p>
        </p:txBody>
      </p:sp>
      <p:sp>
        <p:nvSpPr>
          <p:cNvPr id="6" name="subtitle">
            <a:extLst xmlns:a="http://schemas.openxmlformats.org/drawingml/2006/main">
              <a:ext uri="{FF2B5EF4-FFF2-40B4-BE49-F238E27FC236}">
                <a16:creationId xmlns:a16="http://schemas.microsoft.com/office/drawing/2014/main" id="{35432B33-C963-45BE-9D52-7A35D6A18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40030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232D"/>
                </a:solidFill>
              </a:defRPr>
            </a:pPr>
            <a:r>
              <a:rPr sz="2100" b="0">
                <a:solidFill>
                  <a:srgbClr val="17232D"/>
                </a:solidFill>
              </a:rPr>
              <a:t>Динамические модели SIR и Лотки–Вольтерры</a:t>
            </a:r>
          </a:p>
        </p:txBody>
      </p:sp>
      <p:sp>
        <p:nvSpPr>
          <p:cNvPr id="7" name="divider">
            <a:extLst xmlns:a="http://schemas.openxmlformats.org/drawingml/2006/main">
              <a:ext uri="{FF2B5EF4-FFF2-40B4-BE49-F238E27FC236}">
                <a16:creationId xmlns:a16="http://schemas.microsoft.com/office/drawing/2014/main" id="{DDF11CD1-D867-493C-A776-41C0A6BCE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295650"/>
            <a:ext cx="5905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9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author">
            <a:extLst xmlns:a="http://schemas.openxmlformats.org/drawingml/2006/main">
              <a:ext uri="{FF2B5EF4-FFF2-40B4-BE49-F238E27FC236}">
                <a16:creationId xmlns:a16="http://schemas.microsoft.com/office/drawing/2014/main" id="{C9EE01F2-1E06-4D5F-B59A-782D6429D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619500"/>
            <a:ext cx="6096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32D"/>
                </a:solidFill>
              </a:defRPr>
            </a:pPr>
            <a:r>
              <a:rPr sz="1725" b="0">
                <a:solidFill>
                  <a:srgbClr val="17232D"/>
                </a:solidFill>
              </a:rPr>
              <a:t>Куокконен Дарина Андреевна</a:t>
            </a:r>
          </a:p>
          <a:p xmlns:a="http://schemas.openxmlformats.org/drawingml/2006/main">
            <a:pPr algn="l">
              <a:defRPr sz="1725" b="0">
                <a:solidFill>
                  <a:srgbClr val="17232D"/>
                </a:solidFill>
              </a:defRPr>
            </a:pPr>
            <a:r>
              <a:rPr sz="1725" b="0">
                <a:solidFill>
                  <a:srgbClr val="17232D"/>
                </a:solidFill>
              </a:rPr>
              <a:t>НФИбд-01-23</a:t>
            </a:r>
          </a:p>
        </p:txBody>
      </p:sp>
      <p:sp>
        <p:nvSpPr>
          <p:cNvPr id="9" name="university">
            <a:extLst xmlns:a="http://schemas.openxmlformats.org/drawingml/2006/main">
              <a:ext uri="{FF2B5EF4-FFF2-40B4-BE49-F238E27FC236}">
                <a16:creationId xmlns:a16="http://schemas.microsoft.com/office/drawing/2014/main" id="{1E145EEC-F5DF-4FF7-9082-F8E82222F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5067300"/>
            <a:ext cx="7810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675"/>
                </a:solidFill>
              </a:defRPr>
            </a:pPr>
            <a:r>
              <a:rPr sz="1350" b="0">
                <a:solidFill>
                  <a:srgbClr val="526675"/>
                </a:solidFill>
              </a:rPr>
              <a:t>Российский университет дружбы народов</a:t>
            </a:r>
          </a:p>
          <a:p xmlns:a="http://schemas.openxmlformats.org/drawingml/2006/main">
            <a:pPr algn="l">
              <a:defRPr sz="1350" b="0">
                <a:solidFill>
                  <a:srgbClr val="526675"/>
                </a:solidFill>
              </a:defRPr>
            </a:pPr>
            <a:r>
              <a:rPr sz="1350" b="0">
                <a:solidFill>
                  <a:srgbClr val="526675"/>
                </a:solidFill>
              </a:rPr>
              <a:t>имени Патриса Лумумбы · Москва · 2026</a:t>
            </a:r>
          </a:p>
        </p:txBody>
      </p:sp>
    </p:spTree>
    <p:extLst>
      <p:ext uri="{BB962C8B-B14F-4D97-AF65-F5344CB8AC3E}">
        <p14:creationId xmlns:p14="http://schemas.microsoft.com/office/powerpoint/2010/main" val="189112477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op-band">
            <a:extLst xmlns:a="http://schemas.openxmlformats.org/drawingml/2006/main">
              <a:ext uri="{FF2B5EF4-FFF2-40B4-BE49-F238E27FC236}">
                <a16:creationId xmlns:a16="http://schemas.microsoft.com/office/drawing/2014/main" id="{48421A46-F9BD-480F-B275-C23896D5E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7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accent">
            <a:extLst xmlns:a="http://schemas.openxmlformats.org/drawingml/2006/main">
              <a:ext uri="{FF2B5EF4-FFF2-40B4-BE49-F238E27FC236}">
                <a16:creationId xmlns:a16="http://schemas.microsoft.com/office/drawing/2014/main" id="{90627352-F663-4A2E-9B7B-12B403F6F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86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9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18DEB88-7101-47B0-B748-A400397B5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Две модели показывают разные типы динамики</a:t>
            </a:r>
          </a:p>
        </p:txBody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9CDEA9B6-8955-4F09-B9FA-546DA393B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9E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8bcfd5fd7b4df3"/>
          <a:stretch xmlns:a="http://schemas.openxmlformats.org/drawingml/2006/main"/>
        </p:blipFill>
        <p:spPr>
          <a:xfrm xmlns:a="http://schemas.openxmlformats.org/drawingml/2006/main">
            <a:off x="552450" y="6495443"/>
            <a:ext cx="304800" cy="258389"/>
          </a:xfrm>
          <a:prstGeom xmlns:a="http://schemas.openxmlformats.org/drawingml/2006/main" prst="rect">
            <a:avLst/>
          </a:prstGeom>
        </p:spPr>
      </p:pic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B41B547B-6312-422F-97B9-B812308FC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486525"/>
            <a:ext cx="7334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675"/>
                </a:solidFill>
              </a:defRPr>
            </a:pPr>
            <a:r>
              <a:rPr sz="900" b="0">
                <a:solidFill>
                  <a:srgbClr val="526675"/>
                </a:solidFill>
              </a:rPr>
              <a:t>Имитационное моделирование · лабораторная работа № 2</a:t>
            </a:r>
          </a:p>
        </p:txBody>
      </p:sp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5D149F8-2B2A-45C2-ACB2-B531EF4A6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486525"/>
            <a:ext cx="80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4778"/>
                </a:solidFill>
              </a:defRPr>
            </a:pPr>
            <a:r>
              <a:rPr sz="975" b="1">
                <a:solidFill>
                  <a:srgbClr val="0B4778"/>
                </a:solidFill>
              </a:rPr>
              <a:t>2</a:t>
            </a:r>
          </a:p>
        </p:txBody>
      </p:sp>
      <p:sp>
        <p:nvSpPr>
          <p:cNvPr id="8" name="goal">
            <a:extLst xmlns:a="http://schemas.openxmlformats.org/drawingml/2006/main">
              <a:ext uri="{FF2B5EF4-FFF2-40B4-BE49-F238E27FC236}">
                <a16:creationId xmlns:a16="http://schemas.microsoft.com/office/drawing/2014/main" id="{867F2279-946D-4402-B6C9-E80BAE1B4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3345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4778"/>
                </a:solidFill>
              </a:defRPr>
            </a:pPr>
            <a:r>
              <a:rPr sz="1800" b="1">
                <a:solidFill>
                  <a:srgbClr val="0B4778"/>
                </a:solidFill>
              </a:rPr>
              <a:t>Цель — исследовать пороговую эпидемическую динамику и циклическое взаимодействие популяций средствами Julia.</a:t>
            </a:r>
          </a:p>
        </p:txBody>
      </p:sp>
      <p:sp>
        <p:nvSpPr>
          <p:cNvPr id="9" name="left-rule">
            <a:extLst xmlns:a="http://schemas.openxmlformats.org/drawingml/2006/main">
              <a:ext uri="{FF2B5EF4-FFF2-40B4-BE49-F238E27FC236}">
                <a16:creationId xmlns:a16="http://schemas.microsoft.com/office/drawing/2014/main" id="{0B205D5C-F4E6-46EE-8BE3-E1E85CA2F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57150" cy="3409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9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asks">
            <a:extLst xmlns:a="http://schemas.openxmlformats.org/drawingml/2006/main">
              <a:ext uri="{FF2B5EF4-FFF2-40B4-BE49-F238E27FC236}">
                <a16:creationId xmlns:a16="http://schemas.microsoft.com/office/drawing/2014/main" id="{D0B8600E-8057-4E67-AFD8-8FFEDC555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847850"/>
            <a:ext cx="96202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32D"/>
                </a:solidFill>
              </a:defRPr>
            </a:pPr>
            <a:r>
              <a:rPr sz="1725" b="0">
                <a:solidFill>
                  <a:srgbClr val="17232D"/>
                </a:solidFill>
              </a:rPr>
              <a:t>• реализовать правые части обеих систем ОДУ;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17232D"/>
                </a:solidFill>
              </a:defRPr>
            </a:pPr>
            <a:r>
              <a:rPr sz="1725" b="0">
                <a:solidFill>
                  <a:srgbClr val="17232D"/>
                </a:solidFill>
              </a:rPr>
              <a:t>• определить пик SIR и влияние числа контактов;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17232D"/>
                </a:solidFill>
              </a:defRPr>
            </a:pPr>
            <a:r>
              <a:rPr sz="1725" b="0">
                <a:solidFill>
                  <a:srgbClr val="17232D"/>
                </a:solidFill>
              </a:rPr>
              <a:t>• найти равновесие и период Лотки–Вольтерры;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17232D"/>
                </a:solidFill>
              </a:defRPr>
            </a:pPr>
            <a:r>
              <a:rPr sz="1725" b="0">
                <a:solidFill>
                  <a:srgbClr val="17232D"/>
                </a:solidFill>
              </a:rPr>
              <a:t>• проверить физические инварианты;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17232D"/>
                </a:solidFill>
              </a:defRPr>
            </a:pPr>
            <a:r>
              <a:rPr sz="1725" b="0">
                <a:solidFill>
                  <a:srgbClr val="17232D"/>
                </a:solidFill>
              </a:rPr>
              <a:t>• получить Julia, QMD, IPYNB, HTML, DOCX, PDF и PPTX;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17232D"/>
                </a:solidFill>
              </a:defRPr>
            </a:pPr>
            <a:r>
              <a:rPr sz="1725" b="0">
                <a:solidFill>
                  <a:srgbClr val="17232D"/>
                </a:solidFill>
              </a:rPr>
              <a:t>• подтвердить реализацию автоматическими тестами.</a:t>
            </a:r>
          </a:p>
        </p:txBody>
      </p:sp>
    </p:spTree>
    <p:extLst>
      <p:ext uri="{BB962C8B-B14F-4D97-AF65-F5344CB8AC3E}">
        <p14:creationId xmlns:p14="http://schemas.microsoft.com/office/powerpoint/2010/main" val="189917288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op-band">
            <a:extLst xmlns:a="http://schemas.openxmlformats.org/drawingml/2006/main">
              <a:ext uri="{FF2B5EF4-FFF2-40B4-BE49-F238E27FC236}">
                <a16:creationId xmlns:a16="http://schemas.microsoft.com/office/drawing/2014/main" id="{3EEA6B23-AFB4-4427-A475-AEF5DDAE6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7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accent">
            <a:extLst xmlns:a="http://schemas.openxmlformats.org/drawingml/2006/main">
              <a:ext uri="{FF2B5EF4-FFF2-40B4-BE49-F238E27FC236}">
                <a16:creationId xmlns:a16="http://schemas.microsoft.com/office/drawing/2014/main" id="{730A9777-4FA0-429D-8228-411BC965E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86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9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06A3BF7-966F-458F-B59D-CE4CCF981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В SIR порог задаёт репродуктивное число</a:t>
            </a:r>
          </a:p>
        </p:txBody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91C91618-2B9A-40EC-9AA7-257BA9B76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9E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d8dbb7485a400d"/>
          <a:stretch xmlns:a="http://schemas.openxmlformats.org/drawingml/2006/main"/>
        </p:blipFill>
        <p:spPr>
          <a:xfrm xmlns:a="http://schemas.openxmlformats.org/drawingml/2006/main">
            <a:off x="552450" y="6495443"/>
            <a:ext cx="304800" cy="258389"/>
          </a:xfrm>
          <a:prstGeom xmlns:a="http://schemas.openxmlformats.org/drawingml/2006/main" prst="rect">
            <a:avLst/>
          </a:prstGeom>
        </p:spPr>
      </p:pic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4EAE11C7-4C12-40DF-87E8-6272C63C1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486525"/>
            <a:ext cx="7334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675"/>
                </a:solidFill>
              </a:defRPr>
            </a:pPr>
            <a:r>
              <a:rPr sz="900" b="0">
                <a:solidFill>
                  <a:srgbClr val="526675"/>
                </a:solidFill>
              </a:rPr>
              <a:t>Имитационное моделирование · лабораторная работа № 2</a:t>
            </a:r>
          </a:p>
        </p:txBody>
      </p:sp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DA091B3-20E5-4A17-8498-D902EADB7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486525"/>
            <a:ext cx="80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4778"/>
                </a:solidFill>
              </a:defRPr>
            </a:pPr>
            <a:r>
              <a:rPr sz="975" b="1">
                <a:solidFill>
                  <a:srgbClr val="0B4778"/>
                </a:solidFill>
              </a:rPr>
              <a:t>3</a:t>
            </a:r>
          </a:p>
        </p:txBody>
      </p:sp>
      <p:sp>
        <p:nvSpPr>
          <p:cNvPr id="8" name="formula-bg">
            <a:extLst xmlns:a="http://schemas.openxmlformats.org/drawingml/2006/main">
              <a:ext uri="{FF2B5EF4-FFF2-40B4-BE49-F238E27FC236}">
                <a16:creationId xmlns:a16="http://schemas.microsoft.com/office/drawing/2014/main" id="{B1E9D04E-FA55-4CFF-8F43-F473404F3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09650"/>
            <a:ext cx="50482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A"/>
          </a:solidFill>
          <a:ln xmlns:a="http://schemas.openxmlformats.org/drawingml/2006/main" w="9525">
            <a:solidFill>
              <a:srgbClr val="B9D9E8"/>
            </a:solidFill>
            <a:prstDash val="solid"/>
          </a:ln>
        </p:spPr>
      </p:sp>
      <p:sp>
        <p:nvSpPr>
          <p:cNvPr id="9" name="sir-formulas">
            <a:extLst xmlns:a="http://schemas.openxmlformats.org/drawingml/2006/main">
              <a:ext uri="{FF2B5EF4-FFF2-40B4-BE49-F238E27FC236}">
                <a16:creationId xmlns:a16="http://schemas.microsoft.com/office/drawing/2014/main" id="{E62C42B5-3244-41DB-8CEC-D1C06B6D0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257300"/>
            <a:ext cx="4333875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0B4778"/>
                </a:solidFill>
              </a:defRPr>
            </a:pPr>
            <a:r>
              <a:rPr sz="2175" b="1">
                <a:solidFill>
                  <a:srgbClr val="0B4778"/>
                </a:solidFill>
              </a:rPr>
              <a:t>dS/dt = −βcSI/N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2175" b="1">
                <a:solidFill>
                  <a:srgbClr val="0B4778"/>
                </a:solidFill>
              </a:defRPr>
            </a:pPr>
            <a:r>
              <a:rPr sz="2175" b="1">
                <a:solidFill>
                  <a:srgbClr val="0B4778"/>
                </a:solidFill>
              </a:rPr>
              <a:t>dI/dt = βcSI/N − γI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2175" b="1">
                <a:solidFill>
                  <a:srgbClr val="0B4778"/>
                </a:solidFill>
              </a:defRPr>
            </a:pPr>
            <a:r>
              <a:rPr sz="2175" b="1">
                <a:solidFill>
                  <a:srgbClr val="0B4778"/>
                </a:solidFill>
              </a:rPr>
              <a:t>dR/dt = γI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2175" b="1">
                <a:solidFill>
                  <a:srgbClr val="0B4778"/>
                </a:solidFill>
              </a:defRPr>
            </a:pPr>
            <a:r>
              <a:rPr sz="2175" b="1">
                <a:solidFill>
                  <a:srgbClr val="0B4778"/>
                </a:solidFill>
              </a:rPr>
              <a:t>R₀ = βc/γ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2175" b="1">
                <a:solidFill>
                  <a:srgbClr val="0B4778"/>
                </a:solidFill>
              </a:defRPr>
            </a:pPr>
            <a:r>
              <a:rPr sz="2175" b="1">
                <a:solidFill>
                  <a:srgbClr val="0B4778"/>
                </a:solidFill>
              </a:rPr>
              <a:t>Rₑ(t) = R₀S(t)/N</a:t>
            </a:r>
          </a:p>
        </p:txBody>
      </p:sp>
      <p:sp>
        <p:nvSpPr>
          <p:cNvPr id="10" name="sir-meaning">
            <a:extLst xmlns:a="http://schemas.openxmlformats.org/drawingml/2006/main">
              <a:ext uri="{FF2B5EF4-FFF2-40B4-BE49-F238E27FC236}">
                <a16:creationId xmlns:a16="http://schemas.microsoft.com/office/drawing/2014/main" id="{41D19FF8-7068-4D04-B519-53E816117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381125"/>
            <a:ext cx="47625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232D"/>
                </a:solidFill>
              </a:defRPr>
            </a:pPr>
            <a:r>
              <a:rPr sz="1875" b="0">
                <a:solidFill>
                  <a:srgbClr val="17232D"/>
                </a:solidFill>
              </a:rPr>
              <a:t>S + I + R = N сохраняется.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17232D"/>
                </a:solidFill>
              </a:defRPr>
            </a:pPr>
            <a:r>
              <a:rPr sz="1875" b="0">
                <a:solidFill>
                  <a:srgbClr val="17232D"/>
                </a:solidFill>
              </a:rPr>
              <a:t>При R₀ &gt; 1 инфекция сначала распространяется.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17232D"/>
                </a:solidFill>
              </a:defRPr>
            </a:pPr>
            <a:r>
              <a:rPr sz="1875" b="0">
                <a:solidFill>
                  <a:srgbClr val="17232D"/>
                </a:solidFill>
              </a:rPr>
              <a:t>После пересечения Rₑ = 1 число инфицированных убывает.</a:t>
            </a:r>
          </a:p>
        </p:txBody>
      </p:sp>
      <p:sp>
        <p:nvSpPr>
          <p:cNvPr id="11" name="r0-bg">
            <a:extLst xmlns:a="http://schemas.openxmlformats.org/drawingml/2006/main">
              <a:ext uri="{FF2B5EF4-FFF2-40B4-BE49-F238E27FC236}">
                <a16:creationId xmlns:a16="http://schemas.microsoft.com/office/drawing/2014/main" id="{DDA48782-AECC-4910-B9D2-3F2995585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400550"/>
            <a:ext cx="22098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A"/>
          </a:solidFill>
          <a:ln xmlns:a="http://schemas.openxmlformats.org/drawingml/2006/main" w="9525">
            <a:solidFill>
              <a:srgbClr val="B9D9E8"/>
            </a:solidFill>
            <a:prstDash val="solid"/>
          </a:ln>
        </p:spPr>
      </p:sp>
      <p:sp>
        <p:nvSpPr>
          <p:cNvPr id="12" name="r0-value">
            <a:extLst xmlns:a="http://schemas.openxmlformats.org/drawingml/2006/main">
              <a:ext uri="{FF2B5EF4-FFF2-40B4-BE49-F238E27FC236}">
                <a16:creationId xmlns:a16="http://schemas.microsoft.com/office/drawing/2014/main" id="{B18707AA-ED3C-4619-A9B6-DFF0176B1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495800"/>
            <a:ext cx="1866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4778"/>
                </a:solidFill>
              </a:defRPr>
            </a:pPr>
            <a:r>
              <a:rPr sz="2250" b="1">
                <a:solidFill>
                  <a:srgbClr val="0B4778"/>
                </a:solidFill>
              </a:rPr>
              <a:t>R₀ = 2</a:t>
            </a:r>
          </a:p>
        </p:txBody>
      </p:sp>
      <p:sp>
        <p:nvSpPr>
          <p:cNvPr id="13" name="r0-caption">
            <a:extLst xmlns:a="http://schemas.openxmlformats.org/drawingml/2006/main">
              <a:ext uri="{FF2B5EF4-FFF2-40B4-BE49-F238E27FC236}">
                <a16:creationId xmlns:a16="http://schemas.microsoft.com/office/drawing/2014/main" id="{A58DA480-4E37-4926-931E-A697D701D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933950"/>
            <a:ext cx="1866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675"/>
                </a:solidFill>
              </a:defRPr>
            </a:pPr>
            <a:r>
              <a:rPr sz="1125" b="0">
                <a:solidFill>
                  <a:srgbClr val="526675"/>
                </a:solidFill>
              </a:rPr>
              <a:t>базовый сценарий</a:t>
            </a:r>
          </a:p>
        </p:txBody>
      </p:sp>
      <p:sp>
        <p:nvSpPr>
          <p:cNvPr id="14" name="peak-bg">
            <a:extLst xmlns:a="http://schemas.openxmlformats.org/drawingml/2006/main">
              <a:ext uri="{FF2B5EF4-FFF2-40B4-BE49-F238E27FC236}">
                <a16:creationId xmlns:a16="http://schemas.microsoft.com/office/drawing/2014/main" id="{057DFCE5-9E6A-4EC5-AF80-3D23DC913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400550"/>
            <a:ext cx="22098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A"/>
          </a:solidFill>
          <a:ln xmlns:a="http://schemas.openxmlformats.org/drawingml/2006/main" w="9525">
            <a:solidFill>
              <a:srgbClr val="B9D9E8"/>
            </a:solidFill>
            <a:prstDash val="solid"/>
          </a:ln>
        </p:spPr>
      </p:sp>
      <p:sp>
        <p:nvSpPr>
          <p:cNvPr id="15" name="peak-value">
            <a:extLst xmlns:a="http://schemas.openxmlformats.org/drawingml/2006/main">
              <a:ext uri="{FF2B5EF4-FFF2-40B4-BE49-F238E27FC236}">
                <a16:creationId xmlns:a16="http://schemas.microsoft.com/office/drawing/2014/main" id="{25877720-9526-4D97-B9EA-1C32D0D95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495800"/>
            <a:ext cx="1866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C83B45"/>
                </a:solidFill>
              </a:defRPr>
            </a:pPr>
            <a:r>
              <a:rPr sz="2250" b="1">
                <a:solidFill>
                  <a:srgbClr val="C83B45"/>
                </a:solidFill>
              </a:rPr>
              <a:t>17,5 дня</a:t>
            </a:r>
          </a:p>
        </p:txBody>
      </p:sp>
      <p:sp>
        <p:nvSpPr>
          <p:cNvPr id="16" name="peak-caption">
            <a:extLst xmlns:a="http://schemas.openxmlformats.org/drawingml/2006/main">
              <a:ext uri="{FF2B5EF4-FFF2-40B4-BE49-F238E27FC236}">
                <a16:creationId xmlns:a16="http://schemas.microsoft.com/office/drawing/2014/main" id="{7005C71B-CBA1-467E-AD9C-32FB37119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933950"/>
            <a:ext cx="1866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675"/>
                </a:solidFill>
              </a:defRPr>
            </a:pPr>
            <a:r>
              <a:rPr sz="1125" b="0">
                <a:solidFill>
                  <a:srgbClr val="526675"/>
                </a:solidFill>
              </a:rPr>
              <a:t>момент пика</a:t>
            </a:r>
          </a:p>
        </p:txBody>
      </p:sp>
    </p:spTree>
    <p:extLst>
      <p:ext uri="{BB962C8B-B14F-4D97-AF65-F5344CB8AC3E}">
        <p14:creationId xmlns:p14="http://schemas.microsoft.com/office/powerpoint/2010/main" val="158478995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op-band">
            <a:extLst xmlns:a="http://schemas.openxmlformats.org/drawingml/2006/main">
              <a:ext uri="{FF2B5EF4-FFF2-40B4-BE49-F238E27FC236}">
                <a16:creationId xmlns:a16="http://schemas.microsoft.com/office/drawing/2014/main" id="{AE851876-E4F3-42CF-B13E-732A40746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7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accent">
            <a:extLst xmlns:a="http://schemas.openxmlformats.org/drawingml/2006/main">
              <a:ext uri="{FF2B5EF4-FFF2-40B4-BE49-F238E27FC236}">
                <a16:creationId xmlns:a16="http://schemas.microsoft.com/office/drawing/2014/main" id="{077E9EA1-240A-4A9D-86B1-E823F2BC1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86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9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60A880F-EB7A-4877-9F48-C43A30B7F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Лотка–Вольтерра образует замкнутые орбиты</a:t>
            </a:r>
          </a:p>
        </p:txBody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66CD5096-7B1C-4E38-99C6-492D6625A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9E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5c4471ff684d55"/>
          <a:stretch xmlns:a="http://schemas.openxmlformats.org/drawingml/2006/main"/>
        </p:blipFill>
        <p:spPr>
          <a:xfrm xmlns:a="http://schemas.openxmlformats.org/drawingml/2006/main">
            <a:off x="552450" y="6495443"/>
            <a:ext cx="304800" cy="258389"/>
          </a:xfrm>
          <a:prstGeom xmlns:a="http://schemas.openxmlformats.org/drawingml/2006/main" prst="rect">
            <a:avLst/>
          </a:prstGeom>
        </p:spPr>
      </p:pic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3F236ABF-78D3-494B-BC1F-3BF65D253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486525"/>
            <a:ext cx="7334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675"/>
                </a:solidFill>
              </a:defRPr>
            </a:pPr>
            <a:r>
              <a:rPr sz="900" b="0">
                <a:solidFill>
                  <a:srgbClr val="526675"/>
                </a:solidFill>
              </a:rPr>
              <a:t>Имитационное моделирование · лабораторная работа № 2</a:t>
            </a:r>
          </a:p>
        </p:txBody>
      </p:sp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F704435-51D2-43C5-A95D-8BBA66795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486525"/>
            <a:ext cx="80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4778"/>
                </a:solidFill>
              </a:defRPr>
            </a:pPr>
            <a:r>
              <a:rPr sz="975" b="1">
                <a:solidFill>
                  <a:srgbClr val="0B4778"/>
                </a:solidFill>
              </a:rPr>
              <a:t>4</a:t>
            </a:r>
          </a:p>
        </p:txBody>
      </p:sp>
      <p:sp>
        <p:nvSpPr>
          <p:cNvPr id="8" name="formula-bg">
            <a:extLst xmlns:a="http://schemas.openxmlformats.org/drawingml/2006/main">
              <a:ext uri="{FF2B5EF4-FFF2-40B4-BE49-F238E27FC236}">
                <a16:creationId xmlns:a16="http://schemas.microsoft.com/office/drawing/2014/main" id="{A1154276-9ACC-4D1B-9A5B-D59D10479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09650"/>
            <a:ext cx="52197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A"/>
          </a:solidFill>
          <a:ln xmlns:a="http://schemas.openxmlformats.org/drawingml/2006/main" w="9525">
            <a:solidFill>
              <a:srgbClr val="B9D9E8"/>
            </a:solidFill>
            <a:prstDash val="solid"/>
          </a:ln>
        </p:spPr>
      </p:sp>
      <p:sp>
        <p:nvSpPr>
          <p:cNvPr id="9" name="lv-formulas">
            <a:extLst xmlns:a="http://schemas.openxmlformats.org/drawingml/2006/main">
              <a:ext uri="{FF2B5EF4-FFF2-40B4-BE49-F238E27FC236}">
                <a16:creationId xmlns:a16="http://schemas.microsoft.com/office/drawing/2014/main" id="{ED5EE27F-E01E-4EF1-A773-EDE1C3074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285875"/>
            <a:ext cx="46482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0B4778"/>
                </a:solidFill>
              </a:defRPr>
            </a:pPr>
            <a:r>
              <a:rPr sz="2025" b="1">
                <a:solidFill>
                  <a:srgbClr val="0B4778"/>
                </a:solidFill>
              </a:rPr>
              <a:t>dx/dt = αx − βxy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2025" b="1">
                <a:solidFill>
                  <a:srgbClr val="0B4778"/>
                </a:solidFill>
              </a:defRPr>
            </a:pPr>
            <a:r>
              <a:rPr sz="2025" b="1">
                <a:solidFill>
                  <a:srgbClr val="0B4778"/>
                </a:solidFill>
              </a:rPr>
              <a:t>dy/dt = δxy − γy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2025" b="1">
                <a:solidFill>
                  <a:srgbClr val="0B4778"/>
                </a:solidFill>
              </a:defRPr>
            </a:pPr>
            <a:r>
              <a:rPr sz="2025" b="1">
                <a:solidFill>
                  <a:srgbClr val="0B4778"/>
                </a:solidFill>
              </a:rPr>
              <a:t>(x*, y*) = (γ/δ, α/β)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2025" b="1">
                <a:solidFill>
                  <a:srgbClr val="0B4778"/>
                </a:solidFill>
              </a:defRPr>
            </a:pPr>
            <a:r>
              <a:rPr sz="2025" b="1">
                <a:solidFill>
                  <a:srgbClr val="0B4778"/>
                </a:solidFill>
              </a:rPr>
              <a:t>H = δx − γ ln x + βy − α ln y</a:t>
            </a:r>
          </a:p>
        </p:txBody>
      </p:sp>
      <p:sp>
        <p:nvSpPr>
          <p:cNvPr id="10" name="lv-meaning">
            <a:extLst xmlns:a="http://schemas.openxmlformats.org/drawingml/2006/main">
              <a:ext uri="{FF2B5EF4-FFF2-40B4-BE49-F238E27FC236}">
                <a16:creationId xmlns:a16="http://schemas.microsoft.com/office/drawing/2014/main" id="{98E47E58-19B5-4074-9F5D-48CFF71DA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381125"/>
            <a:ext cx="46672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232D"/>
                </a:solidFill>
              </a:defRPr>
            </a:pPr>
            <a:r>
              <a:rPr sz="1875" b="0">
                <a:solidFill>
                  <a:srgbClr val="17232D"/>
                </a:solidFill>
              </a:rPr>
              <a:t>Равновесие: (30, 5).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17232D"/>
                </a:solidFill>
              </a:defRPr>
            </a:pPr>
            <a:r>
              <a:rPr sz="1875" b="0">
                <a:solidFill>
                  <a:srgbClr val="17232D"/>
                </a:solidFill>
              </a:rPr>
              <a:t>Начальное состояние задаёт конкретную замкнутую орбиту.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17232D"/>
                </a:solidFill>
              </a:defRPr>
            </a:pPr>
            <a:r>
              <a:rPr sz="1875" b="0">
                <a:solidFill>
                  <a:srgbClr val="17232D"/>
                </a:solidFill>
              </a:rPr>
              <a:t>Дрейф первого интеграла служит контролем точности интегрирования.</a:t>
            </a:r>
          </a:p>
        </p:txBody>
      </p:sp>
      <p:sp>
        <p:nvSpPr>
          <p:cNvPr id="11" name="period-bg">
            <a:extLst xmlns:a="http://schemas.openxmlformats.org/drawingml/2006/main">
              <a:ext uri="{FF2B5EF4-FFF2-40B4-BE49-F238E27FC236}">
                <a16:creationId xmlns:a16="http://schemas.microsoft.com/office/drawing/2014/main" id="{0511A5E7-A74F-4703-ABCA-9BD93745A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457700"/>
            <a:ext cx="21907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A"/>
          </a:solidFill>
          <a:ln xmlns:a="http://schemas.openxmlformats.org/drawingml/2006/main" w="9525">
            <a:solidFill>
              <a:srgbClr val="B9D9E8"/>
            </a:solidFill>
            <a:prstDash val="solid"/>
          </a:ln>
        </p:spPr>
      </p:sp>
      <p:sp>
        <p:nvSpPr>
          <p:cNvPr id="12" name="period-value">
            <a:extLst xmlns:a="http://schemas.openxmlformats.org/drawingml/2006/main">
              <a:ext uri="{FF2B5EF4-FFF2-40B4-BE49-F238E27FC236}">
                <a16:creationId xmlns:a16="http://schemas.microsoft.com/office/drawing/2014/main" id="{FDB99F33-5682-4C0B-8DB3-C5B8B0B1C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552950"/>
            <a:ext cx="1847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D8A5B"/>
                </a:solidFill>
              </a:defRPr>
            </a:pPr>
            <a:r>
              <a:rPr sz="2250" b="1">
                <a:solidFill>
                  <a:srgbClr val="1D8A5B"/>
                </a:solidFill>
              </a:rPr>
              <a:t>37,6889</a:t>
            </a:r>
          </a:p>
        </p:txBody>
      </p:sp>
      <p:sp>
        <p:nvSpPr>
          <p:cNvPr id="13" name="period-caption">
            <a:extLst xmlns:a="http://schemas.openxmlformats.org/drawingml/2006/main">
              <a:ext uri="{FF2B5EF4-FFF2-40B4-BE49-F238E27FC236}">
                <a16:creationId xmlns:a16="http://schemas.microsoft.com/office/drawing/2014/main" id="{BBEDD93C-B6F0-4B1F-8435-EB94DA0A6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991100"/>
            <a:ext cx="1847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675"/>
                </a:solidFill>
              </a:defRPr>
            </a:pPr>
            <a:r>
              <a:rPr sz="1125" b="0">
                <a:solidFill>
                  <a:srgbClr val="526675"/>
                </a:solidFill>
              </a:rPr>
              <a:t>оценка периода</a:t>
            </a:r>
          </a:p>
        </p:txBody>
      </p:sp>
      <p:sp>
        <p:nvSpPr>
          <p:cNvPr id="14" name="drift-bg">
            <a:extLst xmlns:a="http://schemas.openxmlformats.org/drawingml/2006/main">
              <a:ext uri="{FF2B5EF4-FFF2-40B4-BE49-F238E27FC236}">
                <a16:creationId xmlns:a16="http://schemas.microsoft.com/office/drawing/2014/main" id="{235B091A-44CB-4BDC-98CB-501D43147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457700"/>
            <a:ext cx="21907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A"/>
          </a:solidFill>
          <a:ln xmlns:a="http://schemas.openxmlformats.org/drawingml/2006/main" w="9525">
            <a:solidFill>
              <a:srgbClr val="B9D9E8"/>
            </a:solidFill>
            <a:prstDash val="solid"/>
          </a:ln>
        </p:spPr>
      </p:sp>
      <p:sp>
        <p:nvSpPr>
          <p:cNvPr id="15" name="drift-value">
            <a:extLst xmlns:a="http://schemas.openxmlformats.org/drawingml/2006/main">
              <a:ext uri="{FF2B5EF4-FFF2-40B4-BE49-F238E27FC236}">
                <a16:creationId xmlns:a16="http://schemas.microsoft.com/office/drawing/2014/main" id="{9BC52E5B-F448-4230-B5FE-9C7B6737E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552950"/>
            <a:ext cx="1847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6EA5"/>
                </a:solidFill>
              </a:defRPr>
            </a:pPr>
            <a:r>
              <a:rPr sz="2250" b="1">
                <a:solidFill>
                  <a:srgbClr val="176EA5"/>
                </a:solidFill>
              </a:rPr>
              <a:t>1,82·10⁻¹¹</a:t>
            </a:r>
          </a:p>
        </p:txBody>
      </p:sp>
      <p:sp>
        <p:nvSpPr>
          <p:cNvPr id="16" name="drift-caption">
            <a:extLst xmlns:a="http://schemas.openxmlformats.org/drawingml/2006/main">
              <a:ext uri="{FF2B5EF4-FFF2-40B4-BE49-F238E27FC236}">
                <a16:creationId xmlns:a16="http://schemas.microsoft.com/office/drawing/2014/main" id="{9F3E1B8F-C766-47FC-8FE0-8FCB35E2C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991100"/>
            <a:ext cx="1847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675"/>
                </a:solidFill>
              </a:defRPr>
            </a:pPr>
            <a:r>
              <a:rPr sz="1125" b="0">
                <a:solidFill>
                  <a:srgbClr val="526675"/>
                </a:solidFill>
              </a:rPr>
              <a:t>дрейф H</a:t>
            </a:r>
          </a:p>
        </p:txBody>
      </p:sp>
    </p:spTree>
    <p:extLst>
      <p:ext uri="{BB962C8B-B14F-4D97-AF65-F5344CB8AC3E}">
        <p14:creationId xmlns:p14="http://schemas.microsoft.com/office/powerpoint/2010/main" val="23570310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op-band">
            <a:extLst xmlns:a="http://schemas.openxmlformats.org/drawingml/2006/main">
              <a:ext uri="{FF2B5EF4-FFF2-40B4-BE49-F238E27FC236}">
                <a16:creationId xmlns:a16="http://schemas.microsoft.com/office/drawing/2014/main" id="{F6DA7DFC-D303-45C7-932C-2B94A3AEA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7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accent">
            <a:extLst xmlns:a="http://schemas.openxmlformats.org/drawingml/2006/main">
              <a:ext uri="{FF2B5EF4-FFF2-40B4-BE49-F238E27FC236}">
                <a16:creationId xmlns:a16="http://schemas.microsoft.com/office/drawing/2014/main" id="{E13BE153-F224-4FFB-A6F8-60B72D8FC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86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9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C8A92CE-6E00-4040-9EA3-57F7709CE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Проект повторяет конвейер лабораторной № 1</a:t>
            </a:r>
          </a:p>
        </p:txBody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8FAC0AB2-F232-4224-990D-03B69F9F4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9E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039371518c4a8c"/>
          <a:stretch xmlns:a="http://schemas.openxmlformats.org/drawingml/2006/main"/>
        </p:blipFill>
        <p:spPr>
          <a:xfrm xmlns:a="http://schemas.openxmlformats.org/drawingml/2006/main">
            <a:off x="552450" y="6495443"/>
            <a:ext cx="304800" cy="258389"/>
          </a:xfrm>
          <a:prstGeom xmlns:a="http://schemas.openxmlformats.org/drawingml/2006/main" prst="rect">
            <a:avLst/>
          </a:prstGeom>
        </p:spPr>
      </p:pic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8F67D68B-5FBC-4A0B-927B-439ED0437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486525"/>
            <a:ext cx="7334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675"/>
                </a:solidFill>
              </a:defRPr>
            </a:pPr>
            <a:r>
              <a:rPr sz="900" b="0">
                <a:solidFill>
                  <a:srgbClr val="526675"/>
                </a:solidFill>
              </a:rPr>
              <a:t>Имитационное моделирование · лабораторная работа № 2</a:t>
            </a:r>
          </a:p>
        </p:txBody>
      </p:sp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A6334E4-9415-4008-9646-364F276B7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486525"/>
            <a:ext cx="80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4778"/>
                </a:solidFill>
              </a:defRPr>
            </a:pPr>
            <a:r>
              <a:rPr sz="975" b="1">
                <a:solidFill>
                  <a:srgbClr val="0B4778"/>
                </a:solidFill>
              </a:rPr>
              <a:t>5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d30695c8824b65"/>
          <a:stretch xmlns:a="http://schemas.openxmlformats.org/drawingml/2006/main"/>
        </p:blipFill>
        <p:spPr>
          <a:xfrm xmlns:a="http://schemas.openxmlformats.org/drawingml/2006/main">
            <a:off x="552450" y="1267420"/>
            <a:ext cx="7143750" cy="4018359"/>
          </a:xfrm>
          <a:prstGeom xmlns:a="http://schemas.openxmlformats.org/drawingml/2006/main" prst="rect">
            <a:avLst/>
          </a:prstGeom>
        </p:spPr>
      </p:pic>
      <p:sp>
        <p:nvSpPr>
          <p:cNvPr id="9" name="pipeline">
            <a:extLst xmlns:a="http://schemas.openxmlformats.org/drawingml/2006/main">
              <a:ext uri="{FF2B5EF4-FFF2-40B4-BE49-F238E27FC236}">
                <a16:creationId xmlns:a16="http://schemas.microsoft.com/office/drawing/2014/main" id="{A132DAB6-9E24-4B67-8EEE-3D0F24206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066800"/>
            <a:ext cx="3524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4778"/>
                </a:solidFill>
              </a:defRPr>
            </a:pPr>
            <a:r>
              <a:rPr sz="1650" b="1">
                <a:solidFill>
                  <a:srgbClr val="0B4778"/>
                </a:solidFill>
              </a:rPr>
              <a:t>Literate.jl → Julia → Jupyter → Quarto → Git</a:t>
            </a:r>
          </a:p>
        </p:txBody>
      </p:sp>
      <p:sp>
        <p:nvSpPr>
          <p:cNvPr id="10" name="versions">
            <a:extLst xmlns:a="http://schemas.openxmlformats.org/drawingml/2006/main">
              <a:ext uri="{FF2B5EF4-FFF2-40B4-BE49-F238E27FC236}">
                <a16:creationId xmlns:a16="http://schemas.microsoft.com/office/drawing/2014/main" id="{A0225854-4DE9-4CAF-B50B-6816A3562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095500"/>
            <a:ext cx="310515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32D"/>
                </a:solidFill>
              </a:defRPr>
            </a:pPr>
            <a:r>
              <a:rPr sz="1650" b="0">
                <a:solidFill>
                  <a:srgbClr val="17232D"/>
                </a:solidFill>
              </a:rPr>
              <a:t>Julia 1.11.9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7232D"/>
                </a:solidFill>
              </a:defRPr>
            </a:pPr>
            <a:r>
              <a:rPr sz="1650" b="0">
                <a:solidFill>
                  <a:srgbClr val="17232D"/>
                </a:solidFill>
              </a:rPr>
              <a:t>DifferentialEquations.jl</a:t>
            </a:r>
          </a:p>
          <a:p xmlns:a="http://schemas.openxmlformats.org/drawingml/2006/main">
            <a:pPr algn="l">
              <a:defRPr sz="1650" b="0">
                <a:solidFill>
                  <a:srgbClr val="17232D"/>
                </a:solidFill>
              </a:defRPr>
            </a:pPr>
            <a:r>
              <a:rPr sz="1650" b="0">
                <a:solidFill>
                  <a:srgbClr val="17232D"/>
                </a:solidFill>
              </a:rPr>
              <a:t>DrWatson.jl</a:t>
            </a:r>
          </a:p>
          <a:p xmlns:a="http://schemas.openxmlformats.org/drawingml/2006/main">
            <a:pPr algn="l">
              <a:defRPr sz="1650" b="0">
                <a:solidFill>
                  <a:srgbClr val="17232D"/>
                </a:solidFill>
              </a:defRPr>
            </a:pPr>
            <a:r>
              <a:rPr sz="1650" b="0">
                <a:solidFill>
                  <a:srgbClr val="17232D"/>
                </a:solidFill>
              </a:rPr>
              <a:t>Plots.jl</a:t>
            </a:r>
          </a:p>
          <a:p xmlns:a="http://schemas.openxmlformats.org/drawingml/2006/main">
            <a:pPr algn="l">
              <a:defRPr sz="1650" b="0">
                <a:solidFill>
                  <a:srgbClr val="17232D"/>
                </a:solidFill>
              </a:defRPr>
            </a:pPr>
            <a:r>
              <a:rPr sz="1650" b="0">
                <a:solidFill>
                  <a:srgbClr val="17232D"/>
                </a:solidFill>
              </a:rPr>
              <a:t>IJulia и Quarto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7232D"/>
                </a:solidFill>
              </a:defRPr>
            </a:pPr>
            <a:r>
              <a:rPr sz="1650" b="0">
                <a:solidFill>
                  <a:srgbClr val="17232D"/>
                </a:solidFill>
              </a:rPr>
              <a:t>Версии закреплены в Manifest.toml.</a:t>
            </a:r>
          </a:p>
        </p:txBody>
      </p:sp>
    </p:spTree>
    <p:extLst>
      <p:ext uri="{BB962C8B-B14F-4D97-AF65-F5344CB8AC3E}">
        <p14:creationId xmlns:p14="http://schemas.microsoft.com/office/powerpoint/2010/main" val="122148484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op-band">
            <a:extLst xmlns:a="http://schemas.openxmlformats.org/drawingml/2006/main">
              <a:ext uri="{FF2B5EF4-FFF2-40B4-BE49-F238E27FC236}">
                <a16:creationId xmlns:a16="http://schemas.microsoft.com/office/drawing/2014/main" id="{949485B2-FD7F-457C-A990-0BB86779C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7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accent">
            <a:extLst xmlns:a="http://schemas.openxmlformats.org/drawingml/2006/main">
              <a:ext uri="{FF2B5EF4-FFF2-40B4-BE49-F238E27FC236}">
                <a16:creationId xmlns:a16="http://schemas.microsoft.com/office/drawing/2014/main" id="{D7C26137-CE0A-4B86-96E0-EBB943626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86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9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ABD5031-7004-4AB6-8C31-931DE09ED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Один модуль содержит обе математические модели</a:t>
            </a:r>
          </a:p>
        </p:txBody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740A8A3C-B0DD-46BD-9E70-45B7F4CB7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9E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82b94cff24446b"/>
          <a:stretch xmlns:a="http://schemas.openxmlformats.org/drawingml/2006/main"/>
        </p:blipFill>
        <p:spPr>
          <a:xfrm xmlns:a="http://schemas.openxmlformats.org/drawingml/2006/main">
            <a:off x="552450" y="6495443"/>
            <a:ext cx="304800" cy="258389"/>
          </a:xfrm>
          <a:prstGeom xmlns:a="http://schemas.openxmlformats.org/drawingml/2006/main" prst="rect">
            <a:avLst/>
          </a:prstGeom>
        </p:spPr>
      </p:pic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A2F3A184-AB98-438B-87C3-A6BD103F0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486525"/>
            <a:ext cx="7334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675"/>
                </a:solidFill>
              </a:defRPr>
            </a:pPr>
            <a:r>
              <a:rPr sz="900" b="0">
                <a:solidFill>
                  <a:srgbClr val="526675"/>
                </a:solidFill>
              </a:rPr>
              <a:t>Имитационное моделирование · лабораторная работа № 2</a:t>
            </a:r>
          </a:p>
        </p:txBody>
      </p:sp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02EAD69D-9D4F-4807-ADC8-EF8BFF3C6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486525"/>
            <a:ext cx="80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4778"/>
                </a:solidFill>
              </a:defRPr>
            </a:pPr>
            <a:r>
              <a:rPr sz="975" b="1">
                <a:solidFill>
                  <a:srgbClr val="0B4778"/>
                </a:solidFill>
              </a:rPr>
              <a:t>6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29aaace8cf479a"/>
          <a:stretch xmlns:a="http://schemas.openxmlformats.org/drawingml/2006/main"/>
        </p:blipFill>
        <p:spPr>
          <a:xfrm xmlns:a="http://schemas.openxmlformats.org/drawingml/2006/main">
            <a:off x="533400" y="1231106"/>
            <a:ext cx="7543800" cy="4243388"/>
          </a:xfrm>
          <a:prstGeom xmlns:a="http://schemas.openxmlformats.org/drawingml/2006/main" prst="rect">
            <a:avLst/>
          </a:prstGeom>
        </p:spPr>
      </p:pic>
      <p:sp>
        <p:nvSpPr>
          <p:cNvPr id="9" name="module-list">
            <a:extLst xmlns:a="http://schemas.openxmlformats.org/drawingml/2006/main">
              <a:ext uri="{FF2B5EF4-FFF2-40B4-BE49-F238E27FC236}">
                <a16:creationId xmlns:a16="http://schemas.microsoft.com/office/drawing/2014/main" id="{BCDC27FB-957B-4F11-B9CA-957924479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181100"/>
            <a:ext cx="304800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32D"/>
                </a:solidFill>
              </a:defRPr>
            </a:pPr>
            <a:r>
              <a:rPr sz="1650" b="0">
                <a:solidFill>
                  <a:srgbClr val="17232D"/>
                </a:solidFill>
              </a:rPr>
              <a:t>Общие функции: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7232D"/>
                </a:solidFill>
              </a:defRPr>
            </a:pPr>
            <a:r>
              <a:rPr sz="1650" b="0">
                <a:solidFill>
                  <a:srgbClr val="17232D"/>
                </a:solidFill>
              </a:rPr>
              <a:t>• sir!</a:t>
            </a:r>
          </a:p>
          <a:p xmlns:a="http://schemas.openxmlformats.org/drawingml/2006/main">
            <a:pPr algn="l">
              <a:defRPr sz="1650" b="0">
                <a:solidFill>
                  <a:srgbClr val="17232D"/>
                </a:solidFill>
              </a:defRPr>
            </a:pPr>
            <a:r>
              <a:rPr sz="1650" b="0">
                <a:solidFill>
                  <a:srgbClr val="17232D"/>
                </a:solidFill>
              </a:rPr>
              <a:t>• lotka_volterra!</a:t>
            </a:r>
          </a:p>
          <a:p xmlns:a="http://schemas.openxmlformats.org/drawingml/2006/main">
            <a:pPr algn="l">
              <a:defRPr sz="1650" b="0">
                <a:solidFill>
                  <a:srgbClr val="17232D"/>
                </a:solidFill>
              </a:defRPr>
            </a:pPr>
            <a:r>
              <a:rPr sz="1650" b="0">
                <a:solidFill>
                  <a:srgbClr val="17232D"/>
                </a:solidFill>
              </a:rPr>
              <a:t>• R₀ и Rₑ(t)</a:t>
            </a:r>
          </a:p>
          <a:p xmlns:a="http://schemas.openxmlformats.org/drawingml/2006/main">
            <a:pPr algn="l">
              <a:defRPr sz="1650" b="0">
                <a:solidFill>
                  <a:srgbClr val="17232D"/>
                </a:solidFill>
              </a:defRPr>
            </a:pPr>
            <a:r>
              <a:rPr sz="1650" b="0">
                <a:solidFill>
                  <a:srgbClr val="17232D"/>
                </a:solidFill>
              </a:rPr>
              <a:t>• равновесие</a:t>
            </a:r>
          </a:p>
          <a:p xmlns:a="http://schemas.openxmlformats.org/drawingml/2006/main">
            <a:pPr algn="l">
              <a:defRPr sz="1650" b="0">
                <a:solidFill>
                  <a:srgbClr val="17232D"/>
                </a:solidFill>
              </a:defRPr>
            </a:pPr>
            <a:r>
              <a:rPr sz="1650" b="0">
                <a:solidFill>
                  <a:srgbClr val="17232D"/>
                </a:solidFill>
              </a:rPr>
              <a:t>• первый интеграл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7232D"/>
                </a:solidFill>
              </a:defRPr>
            </a:pPr>
            <a:r>
              <a:rPr sz="1650" b="0">
                <a:solidFill>
                  <a:srgbClr val="17232D"/>
                </a:solidFill>
              </a:rPr>
              <a:t>Сценарии и тесты используют один источник формул.</a:t>
            </a:r>
          </a:p>
        </p:txBody>
      </p:sp>
    </p:spTree>
    <p:extLst>
      <p:ext uri="{BB962C8B-B14F-4D97-AF65-F5344CB8AC3E}">
        <p14:creationId xmlns:p14="http://schemas.microsoft.com/office/powerpoint/2010/main" val="29816004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op-band">
            <a:extLst xmlns:a="http://schemas.openxmlformats.org/drawingml/2006/main">
              <a:ext uri="{FF2B5EF4-FFF2-40B4-BE49-F238E27FC236}">
                <a16:creationId xmlns:a16="http://schemas.microsoft.com/office/drawing/2014/main" id="{F74FD5CC-8C38-411D-852B-0B3866494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7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accent">
            <a:extLst xmlns:a="http://schemas.openxmlformats.org/drawingml/2006/main">
              <a:ext uri="{FF2B5EF4-FFF2-40B4-BE49-F238E27FC236}">
                <a16:creationId xmlns:a16="http://schemas.microsoft.com/office/drawing/2014/main" id="{F04E7823-61B5-47C3-B669-C35B88727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86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9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8DD099D-979B-4597-9650-C67ED0273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При R₀ = 2 пик возникает на 17,5-й день</a:t>
            </a:r>
          </a:p>
        </p:txBody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9DF46DE4-DC52-45DC-98B8-BF3E30BED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9E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d0fa4d918247b0"/>
          <a:stretch xmlns:a="http://schemas.openxmlformats.org/drawingml/2006/main"/>
        </p:blipFill>
        <p:spPr>
          <a:xfrm xmlns:a="http://schemas.openxmlformats.org/drawingml/2006/main">
            <a:off x="552450" y="6495443"/>
            <a:ext cx="304800" cy="258389"/>
          </a:xfrm>
          <a:prstGeom xmlns:a="http://schemas.openxmlformats.org/drawingml/2006/main" prst="rect">
            <a:avLst/>
          </a:prstGeom>
        </p:spPr>
      </p:pic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3CA48063-C26A-4267-AF5D-F662627DB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486525"/>
            <a:ext cx="7334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675"/>
                </a:solidFill>
              </a:defRPr>
            </a:pPr>
            <a:r>
              <a:rPr sz="900" b="0">
                <a:solidFill>
                  <a:srgbClr val="526675"/>
                </a:solidFill>
              </a:rPr>
              <a:t>Имитационное моделирование · лабораторная работа № 2</a:t>
            </a:r>
          </a:p>
        </p:txBody>
      </p:sp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B3554BD-DC5A-4F9E-A33E-16ACB139B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486525"/>
            <a:ext cx="80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4778"/>
                </a:solidFill>
              </a:defRPr>
            </a:pPr>
            <a:r>
              <a:rPr sz="975" b="1">
                <a:solidFill>
                  <a:srgbClr val="0B4778"/>
                </a:solidFill>
              </a:rPr>
              <a:t>7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e1328785074304"/>
          <a:stretch xmlns:a="http://schemas.openxmlformats.org/drawingml/2006/main"/>
        </p:blipFill>
        <p:spPr>
          <a:xfrm xmlns:a="http://schemas.openxmlformats.org/drawingml/2006/main">
            <a:off x="495300" y="1105853"/>
            <a:ext cx="7524750" cy="4665345"/>
          </a:xfrm>
          <a:prstGeom xmlns:a="http://schemas.openxmlformats.org/drawingml/2006/main" prst="rect">
            <a:avLst/>
          </a:prstGeom>
        </p:spPr>
      </p:pic>
      <p:sp>
        <p:nvSpPr>
          <p:cNvPr id="9" name="imax-bg">
            <a:extLst xmlns:a="http://schemas.openxmlformats.org/drawingml/2006/main">
              <a:ext uri="{FF2B5EF4-FFF2-40B4-BE49-F238E27FC236}">
                <a16:creationId xmlns:a16="http://schemas.microsoft.com/office/drawing/2014/main" id="{23FB6D0B-5E2B-4B1C-B750-E19EAA837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104900"/>
            <a:ext cx="29527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A"/>
          </a:solidFill>
          <a:ln xmlns:a="http://schemas.openxmlformats.org/drawingml/2006/main" w="9525">
            <a:solidFill>
              <a:srgbClr val="B9D9E8"/>
            </a:solidFill>
            <a:prstDash val="solid"/>
          </a:ln>
        </p:spPr>
      </p:sp>
      <p:sp>
        <p:nvSpPr>
          <p:cNvPr id="10" name="imax-value">
            <a:extLst xmlns:a="http://schemas.openxmlformats.org/drawingml/2006/main">
              <a:ext uri="{FF2B5EF4-FFF2-40B4-BE49-F238E27FC236}">
                <a16:creationId xmlns:a16="http://schemas.microsoft.com/office/drawing/2014/main" id="{B29A502F-6BBC-4C15-80AF-7B56141FD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200150"/>
            <a:ext cx="2609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C83B45"/>
                </a:solidFill>
              </a:defRPr>
            </a:pPr>
            <a:r>
              <a:rPr sz="2250" b="1">
                <a:solidFill>
                  <a:srgbClr val="C83B45"/>
                </a:solidFill>
              </a:rPr>
              <a:t>158,4512</a:t>
            </a:r>
          </a:p>
        </p:txBody>
      </p:sp>
      <p:sp>
        <p:nvSpPr>
          <p:cNvPr id="11" name="imax-caption">
            <a:extLst xmlns:a="http://schemas.openxmlformats.org/drawingml/2006/main">
              <a:ext uri="{FF2B5EF4-FFF2-40B4-BE49-F238E27FC236}">
                <a16:creationId xmlns:a16="http://schemas.microsoft.com/office/drawing/2014/main" id="{EAFCEBFD-3EED-4A83-91F8-2D01A6C5C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638300"/>
            <a:ext cx="2609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675"/>
                </a:solidFill>
              </a:defRPr>
            </a:pPr>
            <a:r>
              <a:rPr sz="1125" b="0">
                <a:solidFill>
                  <a:srgbClr val="526675"/>
                </a:solidFill>
              </a:rPr>
              <a:t>максимум I(t)</a:t>
            </a:r>
          </a:p>
        </p:txBody>
      </p:sp>
      <p:sp>
        <p:nvSpPr>
          <p:cNvPr id="12" name="tpeak-bg">
            <a:extLst xmlns:a="http://schemas.openxmlformats.org/drawingml/2006/main">
              <a:ext uri="{FF2B5EF4-FFF2-40B4-BE49-F238E27FC236}">
                <a16:creationId xmlns:a16="http://schemas.microsoft.com/office/drawing/2014/main" id="{CB68471B-DC2C-40D6-8738-71969ACC7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266950"/>
            <a:ext cx="29527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A"/>
          </a:solidFill>
          <a:ln xmlns:a="http://schemas.openxmlformats.org/drawingml/2006/main" w="9525">
            <a:solidFill>
              <a:srgbClr val="B9D9E8"/>
            </a:solidFill>
            <a:prstDash val="solid"/>
          </a:ln>
        </p:spPr>
      </p:sp>
      <p:sp>
        <p:nvSpPr>
          <p:cNvPr id="13" name="tpeak-value">
            <a:extLst xmlns:a="http://schemas.openxmlformats.org/drawingml/2006/main">
              <a:ext uri="{FF2B5EF4-FFF2-40B4-BE49-F238E27FC236}">
                <a16:creationId xmlns:a16="http://schemas.microsoft.com/office/drawing/2014/main" id="{C9732CBD-5B35-4487-81E3-94F91DA2B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362200"/>
            <a:ext cx="2609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4778"/>
                </a:solidFill>
              </a:defRPr>
            </a:pPr>
            <a:r>
              <a:rPr sz="2250" b="1">
                <a:solidFill>
                  <a:srgbClr val="0B4778"/>
                </a:solidFill>
              </a:rPr>
              <a:t>17,5</a:t>
            </a:r>
          </a:p>
        </p:txBody>
      </p:sp>
      <p:sp>
        <p:nvSpPr>
          <p:cNvPr id="14" name="tpeak-caption">
            <a:extLst xmlns:a="http://schemas.openxmlformats.org/drawingml/2006/main">
              <a:ext uri="{FF2B5EF4-FFF2-40B4-BE49-F238E27FC236}">
                <a16:creationId xmlns:a16="http://schemas.microsoft.com/office/drawing/2014/main" id="{6422106B-D159-415D-9E44-6C792AC71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800350"/>
            <a:ext cx="2609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675"/>
                </a:solidFill>
              </a:defRPr>
            </a:pPr>
            <a:r>
              <a:rPr sz="1125" b="0">
                <a:solidFill>
                  <a:srgbClr val="526675"/>
                </a:solidFill>
              </a:rPr>
              <a:t>день пика</a:t>
            </a:r>
          </a:p>
        </p:txBody>
      </p:sp>
      <p:sp>
        <p:nvSpPr>
          <p:cNvPr id="15" name="rend-bg">
            <a:extLst xmlns:a="http://schemas.openxmlformats.org/drawingml/2006/main">
              <a:ext uri="{FF2B5EF4-FFF2-40B4-BE49-F238E27FC236}">
                <a16:creationId xmlns:a16="http://schemas.microsoft.com/office/drawing/2014/main" id="{04381D42-5BF5-4983-B4EB-47C62156F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429000"/>
            <a:ext cx="29527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A"/>
          </a:solidFill>
          <a:ln xmlns:a="http://schemas.openxmlformats.org/drawingml/2006/main" w="9525">
            <a:solidFill>
              <a:srgbClr val="B9D9E8"/>
            </a:solidFill>
            <a:prstDash val="solid"/>
          </a:ln>
        </p:spPr>
      </p:sp>
      <p:sp>
        <p:nvSpPr>
          <p:cNvPr id="16" name="rend-value">
            <a:extLst xmlns:a="http://schemas.openxmlformats.org/drawingml/2006/main">
              <a:ext uri="{FF2B5EF4-FFF2-40B4-BE49-F238E27FC236}">
                <a16:creationId xmlns:a16="http://schemas.microsoft.com/office/drawing/2014/main" id="{EC23F540-774E-44A3-BED8-2FFF4B945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524250"/>
            <a:ext cx="2609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D8A5B"/>
                </a:solidFill>
              </a:defRPr>
            </a:pPr>
            <a:r>
              <a:rPr sz="2250" b="1">
                <a:solidFill>
                  <a:srgbClr val="1D8A5B"/>
                </a:solidFill>
              </a:rPr>
              <a:t>800,1424</a:t>
            </a:r>
          </a:p>
        </p:txBody>
      </p:sp>
      <p:sp>
        <p:nvSpPr>
          <p:cNvPr id="17" name="rend-caption">
            <a:extLst xmlns:a="http://schemas.openxmlformats.org/drawingml/2006/main">
              <a:ext uri="{FF2B5EF4-FFF2-40B4-BE49-F238E27FC236}">
                <a16:creationId xmlns:a16="http://schemas.microsoft.com/office/drawing/2014/main" id="{BA2CD5D3-B265-4D73-B512-FE1B1471F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962400"/>
            <a:ext cx="2609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675"/>
                </a:solidFill>
              </a:defRPr>
            </a:pPr>
            <a:r>
              <a:rPr sz="1125" b="0">
                <a:solidFill>
                  <a:srgbClr val="526675"/>
                </a:solidFill>
              </a:rPr>
              <a:t>R(80)</a:t>
            </a:r>
          </a:p>
        </p:txBody>
      </p:sp>
      <p:sp>
        <p:nvSpPr>
          <p:cNvPr id="18" name="drift">
            <a:extLst xmlns:a="http://schemas.openxmlformats.org/drawingml/2006/main">
              <a:ext uri="{FF2B5EF4-FFF2-40B4-BE49-F238E27FC236}">
                <a16:creationId xmlns:a16="http://schemas.microsoft.com/office/drawing/2014/main" id="{5C0C9BC5-8FBE-41DE-AA12-9933C1D6C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80060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4778"/>
                </a:solidFill>
              </a:defRPr>
            </a:pPr>
            <a:r>
              <a:rPr sz="1500" b="1">
                <a:solidFill>
                  <a:srgbClr val="0B4778"/>
                </a:solidFill>
              </a:rPr>
              <a:t>Дрейф S + I + R &lt; 8·10⁻¹³</a:t>
            </a:r>
          </a:p>
        </p:txBody>
      </p:sp>
    </p:spTree>
    <p:extLst>
      <p:ext uri="{BB962C8B-B14F-4D97-AF65-F5344CB8AC3E}">
        <p14:creationId xmlns:p14="http://schemas.microsoft.com/office/powerpoint/2010/main" val="154801997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op-band">
            <a:extLst xmlns:a="http://schemas.openxmlformats.org/drawingml/2006/main">
              <a:ext uri="{FF2B5EF4-FFF2-40B4-BE49-F238E27FC236}">
                <a16:creationId xmlns:a16="http://schemas.microsoft.com/office/drawing/2014/main" id="{4B71F5F6-248A-493A-BFF4-DB5B4A22A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7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accent">
            <a:extLst xmlns:a="http://schemas.openxmlformats.org/drawingml/2006/main">
              <a:ext uri="{FF2B5EF4-FFF2-40B4-BE49-F238E27FC236}">
                <a16:creationId xmlns:a16="http://schemas.microsoft.com/office/drawing/2014/main" id="{BB5CB7FF-FF77-40E6-A4F7-D6586C902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86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9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2042EA1-0509-47F7-86ED-55527639D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Число контактов управляет высотой и временем пика</a:t>
            </a:r>
          </a:p>
        </p:txBody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B0DFCD4F-FB53-4C73-8295-9DB007AEA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9E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3d890a59b54e75"/>
          <a:stretch xmlns:a="http://schemas.openxmlformats.org/drawingml/2006/main"/>
        </p:blipFill>
        <p:spPr>
          <a:xfrm xmlns:a="http://schemas.openxmlformats.org/drawingml/2006/main">
            <a:off x="552450" y="6495443"/>
            <a:ext cx="304800" cy="258389"/>
          </a:xfrm>
          <a:prstGeom xmlns:a="http://schemas.openxmlformats.org/drawingml/2006/main" prst="rect">
            <a:avLst/>
          </a:prstGeom>
        </p:spPr>
      </p:pic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07E8B0EB-4DA1-4111-8E40-6CB1D9B0D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486525"/>
            <a:ext cx="7334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675"/>
                </a:solidFill>
              </a:defRPr>
            </a:pPr>
            <a:r>
              <a:rPr sz="900" b="0">
                <a:solidFill>
                  <a:srgbClr val="526675"/>
                </a:solidFill>
              </a:rPr>
              <a:t>Имитационное моделирование · лабораторная работа № 2</a:t>
            </a:r>
          </a:p>
        </p:txBody>
      </p:sp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C622E43-05B3-40DE-ABF3-C03225595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486525"/>
            <a:ext cx="80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4778"/>
                </a:solidFill>
              </a:defRPr>
            </a:pPr>
            <a:r>
              <a:rPr sz="975" b="1">
                <a:solidFill>
                  <a:srgbClr val="0B4778"/>
                </a:solidFill>
              </a:rPr>
              <a:t>8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61e5af4e694fde"/>
          <a:stretch xmlns:a="http://schemas.openxmlformats.org/drawingml/2006/main"/>
        </p:blipFill>
        <p:spPr>
          <a:xfrm xmlns:a="http://schemas.openxmlformats.org/drawingml/2006/main">
            <a:off x="476250" y="1106329"/>
            <a:ext cx="7477125" cy="4635818"/>
          </a:xfrm>
          <a:prstGeom xmlns:a="http://schemas.openxmlformats.org/drawingml/2006/main" prst="rect">
            <a:avLst/>
          </a:prstGeom>
        </p:spPr>
      </p:pic>
      <p:sp>
        <p:nvSpPr>
          <p:cNvPr id="9" name="scan-table">
            <a:extLst xmlns:a="http://schemas.openxmlformats.org/drawingml/2006/main">
              <a:ext uri="{FF2B5EF4-FFF2-40B4-BE49-F238E27FC236}">
                <a16:creationId xmlns:a16="http://schemas.microsoft.com/office/drawing/2014/main" id="{B690B6A6-A35B-4EFA-A6BD-EF554132B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257300"/>
            <a:ext cx="26860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32D"/>
                </a:solidFill>
              </a:defRPr>
            </a:pPr>
            <a:r>
              <a:rPr sz="1725" b="0">
                <a:solidFill>
                  <a:srgbClr val="17232D"/>
                </a:solidFill>
              </a:rPr>
              <a:t>c       R₀       Imax</a:t>
            </a:r>
          </a:p>
          <a:p xmlns:a="http://schemas.openxmlformats.org/drawingml/2006/main">
            <a:pPr algn="l">
              <a:defRPr sz="1725" b="0">
                <a:solidFill>
                  <a:srgbClr val="17232D"/>
                </a:solidFill>
              </a:defRPr>
            </a:pPr>
            <a:r>
              <a:rPr sz="1725" b="0">
                <a:solidFill>
                  <a:srgbClr val="17232D"/>
                </a:solidFill>
              </a:rPr>
              <a:t>3       0,6      10,0</a:t>
            </a:r>
          </a:p>
          <a:p xmlns:a="http://schemas.openxmlformats.org/drawingml/2006/main">
            <a:pPr algn="l">
              <a:defRPr sz="1725" b="0">
                <a:solidFill>
                  <a:srgbClr val="17232D"/>
                </a:solidFill>
              </a:defRPr>
            </a:pPr>
            <a:r>
              <a:rPr sz="1725" b="0">
                <a:solidFill>
                  <a:srgbClr val="17232D"/>
                </a:solidFill>
              </a:rPr>
              <a:t>5       1,0      10,0</a:t>
            </a:r>
          </a:p>
          <a:p xmlns:a="http://schemas.openxmlformats.org/drawingml/2006/main">
            <a:pPr algn="l">
              <a:defRPr sz="1725" b="0">
                <a:solidFill>
                  <a:srgbClr val="17232D"/>
                </a:solidFill>
              </a:defRPr>
            </a:pPr>
            <a:r>
              <a:rPr sz="1725" b="0">
                <a:solidFill>
                  <a:srgbClr val="17232D"/>
                </a:solidFill>
              </a:rPr>
              <a:t>7,5    1,5      69,7</a:t>
            </a:r>
          </a:p>
          <a:p xmlns:a="http://schemas.openxmlformats.org/drawingml/2006/main">
            <a:pPr algn="l">
              <a:defRPr sz="1725" b="0">
                <a:solidFill>
                  <a:srgbClr val="17232D"/>
                </a:solidFill>
              </a:defRPr>
            </a:pPr>
            <a:r>
              <a:rPr sz="1725" b="0">
                <a:solidFill>
                  <a:srgbClr val="17232D"/>
                </a:solidFill>
              </a:rPr>
              <a:t>10     2,0      158,5</a:t>
            </a:r>
          </a:p>
          <a:p xmlns:a="http://schemas.openxmlformats.org/drawingml/2006/main">
            <a:pPr algn="l">
              <a:defRPr sz="1725" b="0">
                <a:solidFill>
                  <a:srgbClr val="17232D"/>
                </a:solidFill>
              </a:defRPr>
            </a:pPr>
            <a:r>
              <a:rPr sz="1725" b="0">
                <a:solidFill>
                  <a:srgbClr val="17232D"/>
                </a:solidFill>
              </a:rPr>
              <a:t>15     3,0      303,8</a:t>
            </a:r>
          </a:p>
        </p:txBody>
      </p:sp>
      <p:sp>
        <p:nvSpPr>
          <p:cNvPr id="10" name="scan-takeaway">
            <a:extLst xmlns:a="http://schemas.openxmlformats.org/drawingml/2006/main">
              <a:ext uri="{FF2B5EF4-FFF2-40B4-BE49-F238E27FC236}">
                <a16:creationId xmlns:a16="http://schemas.microsoft.com/office/drawing/2014/main" id="{8005A1C6-3D7F-4B44-8EF5-7DFA0DF1E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000500"/>
            <a:ext cx="31242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4778"/>
                </a:solidFill>
              </a:defRPr>
            </a:pPr>
            <a:r>
              <a:rPr sz="1650" b="1">
                <a:solidFill>
                  <a:srgbClr val="0B4778"/>
                </a:solidFill>
              </a:rPr>
              <a:t>Рост R₀ делает эпидемическую волну выше и сдвигает её к началу интервала.</a:t>
            </a:r>
          </a:p>
        </p:txBody>
      </p:sp>
    </p:spTree>
    <p:extLst>
      <p:ext uri="{BB962C8B-B14F-4D97-AF65-F5344CB8AC3E}">
        <p14:creationId xmlns:p14="http://schemas.microsoft.com/office/powerpoint/2010/main" val="157533289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op-band">
            <a:extLst xmlns:a="http://schemas.openxmlformats.org/drawingml/2006/main">
              <a:ext uri="{FF2B5EF4-FFF2-40B4-BE49-F238E27FC236}">
                <a16:creationId xmlns:a16="http://schemas.microsoft.com/office/drawing/2014/main" id="{97E662BC-85D8-46EB-A645-0207A7B6B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7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accent">
            <a:extLst xmlns:a="http://schemas.openxmlformats.org/drawingml/2006/main">
              <a:ext uri="{FF2B5EF4-FFF2-40B4-BE49-F238E27FC236}">
                <a16:creationId xmlns:a16="http://schemas.microsoft.com/office/drawing/2014/main" id="{AECACF40-E972-4C5C-9D82-E920C434C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86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9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EA0F080-7270-4A74-97C7-3BCD4C006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Рост жертв опережает рост хищников</a:t>
            </a:r>
          </a:p>
        </p:txBody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29DCE7D4-1781-4F89-BA7A-98A6C8680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9E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0851e8f2c7417c"/>
          <a:stretch xmlns:a="http://schemas.openxmlformats.org/drawingml/2006/main"/>
        </p:blipFill>
        <p:spPr>
          <a:xfrm xmlns:a="http://schemas.openxmlformats.org/drawingml/2006/main">
            <a:off x="552450" y="6495443"/>
            <a:ext cx="304800" cy="258389"/>
          </a:xfrm>
          <a:prstGeom xmlns:a="http://schemas.openxmlformats.org/drawingml/2006/main" prst="rect">
            <a:avLst/>
          </a:prstGeom>
        </p:spPr>
      </p:pic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B481C67C-2B86-4F50-BF31-D7FC4B3C2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486525"/>
            <a:ext cx="7334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675"/>
                </a:solidFill>
              </a:defRPr>
            </a:pPr>
            <a:r>
              <a:rPr sz="900" b="0">
                <a:solidFill>
                  <a:srgbClr val="526675"/>
                </a:solidFill>
              </a:rPr>
              <a:t>Имитационное моделирование · лабораторная работа № 2</a:t>
            </a:r>
          </a:p>
        </p:txBody>
      </p:sp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3A6D7F7-B636-4BA1-A9D4-58AD51F83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486525"/>
            <a:ext cx="80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4778"/>
                </a:solidFill>
              </a:defRPr>
            </a:pPr>
            <a:r>
              <a:rPr sz="975" b="1">
                <a:solidFill>
                  <a:srgbClr val="0B4778"/>
                </a:solidFill>
              </a:rPr>
              <a:t>9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8ff2dcf59f491d"/>
          <a:stretch xmlns:a="http://schemas.openxmlformats.org/drawingml/2006/main"/>
        </p:blipFill>
        <p:spPr>
          <a:xfrm xmlns:a="http://schemas.openxmlformats.org/drawingml/2006/main">
            <a:off x="457200" y="1062228"/>
            <a:ext cx="7696200" cy="4771644"/>
          </a:xfrm>
          <a:prstGeom xmlns:a="http://schemas.openxmlformats.org/drawingml/2006/main" prst="rect">
            <a:avLst/>
          </a:prstGeom>
        </p:spPr>
      </p:pic>
      <p:sp>
        <p:nvSpPr>
          <p:cNvPr id="9" name="lv-metrics">
            <a:extLst xmlns:a="http://schemas.openxmlformats.org/drawingml/2006/main">
              <a:ext uri="{FF2B5EF4-FFF2-40B4-BE49-F238E27FC236}">
                <a16:creationId xmlns:a16="http://schemas.microsoft.com/office/drawing/2014/main" id="{8F200868-6BF2-4C9D-9209-E1DB3409F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447800"/>
            <a:ext cx="26098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32D"/>
                </a:solidFill>
              </a:defRPr>
            </a:pPr>
            <a:r>
              <a:rPr sz="1725" b="0">
                <a:solidFill>
                  <a:srgbClr val="17232D"/>
                </a:solidFill>
              </a:rPr>
              <a:t>Равновесие: (30, 5)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17232D"/>
                </a:solidFill>
              </a:defRPr>
            </a:pPr>
            <a:r>
              <a:rPr sz="1725" b="0">
                <a:solidFill>
                  <a:srgbClr val="17232D"/>
                </a:solidFill>
              </a:rPr>
              <a:t>Период: 37,6889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17232D"/>
                </a:solidFill>
              </a:defRPr>
            </a:pPr>
            <a:r>
              <a:rPr sz="1725" b="0">
                <a:solidFill>
                  <a:srgbClr val="17232D"/>
                </a:solidFill>
              </a:rPr>
              <a:t>Жертвы: 17,75–46,89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17232D"/>
                </a:solidFill>
              </a:defRPr>
            </a:pPr>
            <a:r>
              <a:rPr sz="1725" b="0">
                <a:solidFill>
                  <a:srgbClr val="17232D"/>
                </a:solidFill>
              </a:rPr>
              <a:t>Хищники: 1,90–10,41</a:t>
            </a:r>
          </a:p>
        </p:txBody>
      </p:sp>
      <p:sp>
        <p:nvSpPr>
          <p:cNvPr id="10" name="lv-takeaway">
            <a:extLst xmlns:a="http://schemas.openxmlformats.org/drawingml/2006/main">
              <a:ext uri="{FF2B5EF4-FFF2-40B4-BE49-F238E27FC236}">
                <a16:creationId xmlns:a16="http://schemas.microsoft.com/office/drawing/2014/main" id="{9DB94CF0-4DC2-4C75-A4FE-51097031D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305300"/>
            <a:ext cx="3086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B4778"/>
                </a:solidFill>
              </a:defRPr>
            </a:pPr>
            <a:r>
              <a:rPr sz="1575" b="1">
                <a:solidFill>
                  <a:srgbClr val="0B4778"/>
                </a:solidFill>
              </a:rPr>
              <a:t>Максимум хищников следует за максимумом жертв — в системе возникает причинная задержка.</a:t>
            </a:r>
          </a:p>
        </p:txBody>
      </p:sp>
    </p:spTree>
    <p:extLst>
      <p:ext uri="{BB962C8B-B14F-4D97-AF65-F5344CB8AC3E}">
        <p14:creationId xmlns:p14="http://schemas.microsoft.com/office/powerpoint/2010/main" val="65711623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op-band">
            <a:extLst xmlns:a="http://schemas.openxmlformats.org/drawingml/2006/main">
              <a:ext uri="{FF2B5EF4-FFF2-40B4-BE49-F238E27FC236}">
                <a16:creationId xmlns:a16="http://schemas.microsoft.com/office/drawing/2014/main" id="{3E922C0C-ABB8-4B25-8B75-A22816007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7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accent">
            <a:extLst xmlns:a="http://schemas.openxmlformats.org/drawingml/2006/main">
              <a:ext uri="{FF2B5EF4-FFF2-40B4-BE49-F238E27FC236}">
                <a16:creationId xmlns:a16="http://schemas.microsoft.com/office/drawing/2014/main" id="{7EE8CE78-6CCA-4896-BD8F-45BAF9436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86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9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62500AA-CE4D-4C73-B451-CD3F2446F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Фазовая орбита замкнута, а первый интеграл почти постоянен</a:t>
            </a:r>
          </a:p>
        </p:txBody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9E879AF2-EE9B-4B99-8FB6-38FBBBE23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9E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30d75539b841f3"/>
          <a:stretch xmlns:a="http://schemas.openxmlformats.org/drawingml/2006/main"/>
        </p:blipFill>
        <p:spPr>
          <a:xfrm xmlns:a="http://schemas.openxmlformats.org/drawingml/2006/main">
            <a:off x="552450" y="6495443"/>
            <a:ext cx="304800" cy="258389"/>
          </a:xfrm>
          <a:prstGeom xmlns:a="http://schemas.openxmlformats.org/drawingml/2006/main" prst="rect">
            <a:avLst/>
          </a:prstGeom>
        </p:spPr>
      </p:pic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A40E70F6-15AE-4FE5-833C-900EFC805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486525"/>
            <a:ext cx="7334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675"/>
                </a:solidFill>
              </a:defRPr>
            </a:pPr>
            <a:r>
              <a:rPr sz="900" b="0">
                <a:solidFill>
                  <a:srgbClr val="526675"/>
                </a:solidFill>
              </a:rPr>
              <a:t>Имитационное моделирование · лабораторная работа № 2</a:t>
            </a:r>
          </a:p>
        </p:txBody>
      </p:sp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DA4FA70-3A89-465E-95C3-6070F9DE6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486525"/>
            <a:ext cx="80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4778"/>
                </a:solidFill>
              </a:defRPr>
            </a:pPr>
            <a:r>
              <a:rPr sz="975" b="1">
                <a:solidFill>
                  <a:srgbClr val="0B4778"/>
                </a:solidFill>
              </a:rPr>
              <a:t>10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4ee4be99464e3b"/>
          <a:stretch xmlns:a="http://schemas.openxmlformats.org/drawingml/2006/main"/>
        </p:blipFill>
        <p:spPr>
          <a:xfrm xmlns:a="http://schemas.openxmlformats.org/drawingml/2006/main">
            <a:off x="495300" y="1062990"/>
            <a:ext cx="5391150" cy="4312920"/>
          </a:xfrm>
          <a:prstGeom xmlns:a="http://schemas.openxmlformats.org/drawingml/2006/main" prst="rect">
            <a:avLst/>
          </a:prstGeom>
        </p:spPr>
      </p:pic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6b1dcc07654760"/>
          <a:stretch xmlns:a="http://schemas.openxmlformats.org/drawingml/2006/main"/>
        </p:blipFill>
        <p:spPr>
          <a:xfrm xmlns:a="http://schemas.openxmlformats.org/drawingml/2006/main">
            <a:off x="6286500" y="1548194"/>
            <a:ext cx="5391150" cy="3342513"/>
          </a:xfrm>
          <a:prstGeom xmlns:a="http://schemas.openxmlformats.org/drawingml/2006/main" prst="rect">
            <a:avLst/>
          </a:prstGeom>
        </p:spPr>
      </p:pic>
      <p:sp>
        <p:nvSpPr>
          <p:cNvPr id="10" name="phase-caption">
            <a:extLst xmlns:a="http://schemas.openxmlformats.org/drawingml/2006/main">
              <a:ext uri="{FF2B5EF4-FFF2-40B4-BE49-F238E27FC236}">
                <a16:creationId xmlns:a16="http://schemas.microsoft.com/office/drawing/2014/main" id="{2D71CC65-DF69-40A8-BF29-AE487CD77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19750"/>
            <a:ext cx="4667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4778"/>
                </a:solidFill>
              </a:defRPr>
            </a:pPr>
            <a:r>
              <a:rPr sz="1500" b="1">
                <a:solidFill>
                  <a:srgbClr val="0B4778"/>
                </a:solidFill>
              </a:rPr>
              <a:t>Орбита окружает точку (30, 5)</a:t>
            </a:r>
          </a:p>
        </p:txBody>
      </p:sp>
      <p:sp>
        <p:nvSpPr>
          <p:cNvPr id="11" name="inv-caption">
            <a:extLst xmlns:a="http://schemas.openxmlformats.org/drawingml/2006/main">
              <a:ext uri="{FF2B5EF4-FFF2-40B4-BE49-F238E27FC236}">
                <a16:creationId xmlns:a16="http://schemas.microsoft.com/office/drawing/2014/main" id="{D6659F4D-F984-4216-9789-5FB1AF7A9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619750"/>
            <a:ext cx="4629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4778"/>
                </a:solidFill>
              </a:defRPr>
            </a:pPr>
            <a:r>
              <a:rPr sz="1500" b="1">
                <a:solidFill>
                  <a:srgbClr val="0B4778"/>
                </a:solidFill>
              </a:rPr>
              <a:t>max |H(t) − H(0)| ≈ 1,82·10⁻¹¹</a:t>
            </a:r>
          </a:p>
        </p:txBody>
      </p:sp>
    </p:spTree>
    <p:extLst>
      <p:ext uri="{BB962C8B-B14F-4D97-AF65-F5344CB8AC3E}">
        <p14:creationId xmlns:p14="http://schemas.microsoft.com/office/powerpoint/2010/main" val="82456616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op-band">
            <a:extLst xmlns:a="http://schemas.openxmlformats.org/drawingml/2006/main">
              <a:ext uri="{FF2B5EF4-FFF2-40B4-BE49-F238E27FC236}">
                <a16:creationId xmlns:a16="http://schemas.microsoft.com/office/drawing/2014/main" id="{4B4A040E-4FA4-4C92-9639-20B50A1DA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7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accent">
            <a:extLst xmlns:a="http://schemas.openxmlformats.org/drawingml/2006/main">
              <a:ext uri="{FF2B5EF4-FFF2-40B4-BE49-F238E27FC236}">
                <a16:creationId xmlns:a16="http://schemas.microsoft.com/office/drawing/2014/main" id="{0E2760E0-2BFB-41A3-B4B9-FC44F2B82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86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9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D12DDF8-2FD0-4D82-98E2-44AD868D1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Начальные условия меняют амплитуду, но не равновесие</a:t>
            </a:r>
          </a:p>
        </p:txBody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75E0F864-667E-4385-A6F2-CC1F5D66D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9E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4a7c42c0624806"/>
          <a:stretch xmlns:a="http://schemas.openxmlformats.org/drawingml/2006/main"/>
        </p:blipFill>
        <p:spPr>
          <a:xfrm xmlns:a="http://schemas.openxmlformats.org/drawingml/2006/main">
            <a:off x="552450" y="6495443"/>
            <a:ext cx="304800" cy="258389"/>
          </a:xfrm>
          <a:prstGeom xmlns:a="http://schemas.openxmlformats.org/drawingml/2006/main" prst="rect">
            <a:avLst/>
          </a:prstGeom>
        </p:spPr>
      </p:pic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E83CD01B-7F94-4DBC-84F5-40CECFAF3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486525"/>
            <a:ext cx="7334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675"/>
                </a:solidFill>
              </a:defRPr>
            </a:pPr>
            <a:r>
              <a:rPr sz="900" b="0">
                <a:solidFill>
                  <a:srgbClr val="526675"/>
                </a:solidFill>
              </a:rPr>
              <a:t>Имитационное моделирование · лабораторная работа № 2</a:t>
            </a:r>
          </a:p>
        </p:txBody>
      </p:sp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3C7CEEC-053D-4D70-931C-82E3AD18B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486525"/>
            <a:ext cx="80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4778"/>
                </a:solidFill>
              </a:defRPr>
            </a:pPr>
            <a:r>
              <a:rPr sz="975" b="1">
                <a:solidFill>
                  <a:srgbClr val="0B4778"/>
                </a:solidFill>
              </a:rPr>
              <a:t>11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c72d99df9a4628"/>
          <a:stretch xmlns:a="http://schemas.openxmlformats.org/drawingml/2006/main"/>
        </p:blipFill>
        <p:spPr>
          <a:xfrm xmlns:a="http://schemas.openxmlformats.org/drawingml/2006/main">
            <a:off x="1196578" y="895350"/>
            <a:ext cx="6369844" cy="5095875"/>
          </a:xfrm>
          <a:prstGeom xmlns:a="http://schemas.openxmlformats.org/drawingml/2006/main" prst="rect">
            <a:avLst/>
          </a:prstGeom>
        </p:spPr>
      </p:pic>
      <p:sp>
        <p:nvSpPr>
          <p:cNvPr id="9" name="states">
            <a:extLst xmlns:a="http://schemas.openxmlformats.org/drawingml/2006/main">
              <a:ext uri="{FF2B5EF4-FFF2-40B4-BE49-F238E27FC236}">
                <a16:creationId xmlns:a16="http://schemas.microsoft.com/office/drawing/2014/main" id="{14E3F9B0-44C3-4EC1-8902-2CA766BD7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219200"/>
            <a:ext cx="2552700" cy="365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32D"/>
                </a:solidFill>
              </a:defRPr>
            </a:pPr>
            <a:r>
              <a:rPr sz="1650" b="0">
                <a:solidFill>
                  <a:srgbClr val="17232D"/>
                </a:solidFill>
              </a:rPr>
              <a:t>Исследованы состояния: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7232D"/>
                </a:solidFill>
              </a:defRPr>
            </a:pPr>
            <a:r>
              <a:rPr sz="1650" b="0">
                <a:solidFill>
                  <a:srgbClr val="17232D"/>
                </a:solidFill>
              </a:rPr>
              <a:t>(20, 4)</a:t>
            </a:r>
          </a:p>
          <a:p xmlns:a="http://schemas.openxmlformats.org/drawingml/2006/main">
            <a:pPr algn="l">
              <a:defRPr sz="1650" b="0">
                <a:solidFill>
                  <a:srgbClr val="17232D"/>
                </a:solidFill>
              </a:defRPr>
            </a:pPr>
            <a:r>
              <a:rPr sz="1650" b="0">
                <a:solidFill>
                  <a:srgbClr val="17232D"/>
                </a:solidFill>
              </a:rPr>
              <a:t>(30, 12)</a:t>
            </a:r>
          </a:p>
          <a:p xmlns:a="http://schemas.openxmlformats.org/drawingml/2006/main">
            <a:pPr algn="l">
              <a:defRPr sz="1650" b="0">
                <a:solidFill>
                  <a:srgbClr val="17232D"/>
                </a:solidFill>
              </a:defRPr>
            </a:pPr>
            <a:r>
              <a:rPr sz="1650" b="0">
                <a:solidFill>
                  <a:srgbClr val="17232D"/>
                </a:solidFill>
              </a:rPr>
              <a:t>(40, 9)</a:t>
            </a:r>
          </a:p>
          <a:p xmlns:a="http://schemas.openxmlformats.org/drawingml/2006/main">
            <a:pPr algn="l">
              <a:defRPr sz="1650" b="0">
                <a:solidFill>
                  <a:srgbClr val="17232D"/>
                </a:solidFill>
              </a:defRPr>
            </a:pPr>
            <a:r>
              <a:rPr sz="1650" b="0">
                <a:solidFill>
                  <a:srgbClr val="17232D"/>
                </a:solidFill>
              </a:rPr>
              <a:t>(55, 6)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7232D"/>
                </a:solidFill>
              </a:defRPr>
            </a:pPr>
            <a:r>
              <a:rPr sz="1650" b="0">
                <a:solidFill>
                  <a:srgbClr val="17232D"/>
                </a:solidFill>
              </a:rPr>
              <a:t>Все орбиты окружают одну точку (30, 5).</a:t>
            </a:r>
          </a:p>
        </p:txBody>
      </p:sp>
    </p:spTree>
    <p:extLst>
      <p:ext uri="{BB962C8B-B14F-4D97-AF65-F5344CB8AC3E}">
        <p14:creationId xmlns:p14="http://schemas.microsoft.com/office/powerpoint/2010/main" val="158619124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op-band">
            <a:extLst xmlns:a="http://schemas.openxmlformats.org/drawingml/2006/main">
              <a:ext uri="{FF2B5EF4-FFF2-40B4-BE49-F238E27FC236}">
                <a16:creationId xmlns:a16="http://schemas.microsoft.com/office/drawing/2014/main" id="{AF2585DF-AC5B-4323-9E8D-F5DD6ADEA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7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accent">
            <a:extLst xmlns:a="http://schemas.openxmlformats.org/drawingml/2006/main">
              <a:ext uri="{FF2B5EF4-FFF2-40B4-BE49-F238E27FC236}">
                <a16:creationId xmlns:a16="http://schemas.microsoft.com/office/drawing/2014/main" id="{F961FBD9-A3D3-4B4D-8148-6A8EA0582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86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9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11B50FA-2F33-49D5-92A3-2006E35CA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Jupyter используется только для интерактивного воспроизведения</a:t>
            </a:r>
          </a:p>
        </p:txBody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A624C76B-A866-4FC3-BD4F-676A5F423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9E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7883c62e474e2e"/>
          <a:stretch xmlns:a="http://schemas.openxmlformats.org/drawingml/2006/main"/>
        </p:blipFill>
        <p:spPr>
          <a:xfrm xmlns:a="http://schemas.openxmlformats.org/drawingml/2006/main">
            <a:off x="552450" y="6495443"/>
            <a:ext cx="304800" cy="258389"/>
          </a:xfrm>
          <a:prstGeom xmlns:a="http://schemas.openxmlformats.org/drawingml/2006/main" prst="rect">
            <a:avLst/>
          </a:prstGeom>
        </p:spPr>
      </p:pic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8F359995-F295-4F48-BFC9-5FDCEDF79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486525"/>
            <a:ext cx="7334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675"/>
                </a:solidFill>
              </a:defRPr>
            </a:pPr>
            <a:r>
              <a:rPr sz="900" b="0">
                <a:solidFill>
                  <a:srgbClr val="526675"/>
                </a:solidFill>
              </a:rPr>
              <a:t>Имитационное моделирование · лабораторная работа № 2</a:t>
            </a:r>
          </a:p>
        </p:txBody>
      </p:sp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018B0D7C-16CB-40EC-970C-B3565A5F9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486525"/>
            <a:ext cx="80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4778"/>
                </a:solidFill>
              </a:defRPr>
            </a:pPr>
            <a:r>
              <a:rPr sz="975" b="1">
                <a:solidFill>
                  <a:srgbClr val="0B4778"/>
                </a:solidFill>
              </a:rPr>
              <a:t>12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67152cc6d44be3"/>
          <a:stretch xmlns:a="http://schemas.openxmlformats.org/drawingml/2006/main"/>
        </p:blipFill>
        <p:spPr>
          <a:xfrm xmlns:a="http://schemas.openxmlformats.org/drawingml/2006/main">
            <a:off x="495300" y="1640086"/>
            <a:ext cx="5429250" cy="3053953"/>
          </a:xfrm>
          <a:prstGeom xmlns:a="http://schemas.openxmlformats.org/drawingml/2006/main" prst="rect">
            <a:avLst/>
          </a:prstGeom>
        </p:spPr>
      </p:pic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8bb3b9925e4003"/>
          <a:stretch xmlns:a="http://schemas.openxmlformats.org/drawingml/2006/main"/>
        </p:blipFill>
        <p:spPr>
          <a:xfrm xmlns:a="http://schemas.openxmlformats.org/drawingml/2006/main">
            <a:off x="6267450" y="1640086"/>
            <a:ext cx="5429250" cy="3053953"/>
          </a:xfrm>
          <a:prstGeom xmlns:a="http://schemas.openxmlformats.org/drawingml/2006/main" prst="rect">
            <a:avLst/>
          </a:prstGeom>
        </p:spPr>
      </p:pic>
      <p:sp>
        <p:nvSpPr>
          <p:cNvPr id="10" name="sir-label">
            <a:extLst xmlns:a="http://schemas.openxmlformats.org/drawingml/2006/main">
              <a:ext uri="{FF2B5EF4-FFF2-40B4-BE49-F238E27FC236}">
                <a16:creationId xmlns:a16="http://schemas.microsoft.com/office/drawing/2014/main" id="{2E8BCE43-1A01-4261-B5EA-2E52C7151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410200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B4778"/>
                </a:solidFill>
              </a:defRPr>
            </a:pPr>
            <a:r>
              <a:rPr sz="1575" b="1">
                <a:solidFill>
                  <a:srgbClr val="0B4778"/>
                </a:solidFill>
              </a:rPr>
              <a:t>Модель SIR</a:t>
            </a:r>
          </a:p>
        </p:txBody>
      </p:sp>
      <p:sp>
        <p:nvSpPr>
          <p:cNvPr id="11" name="lv-label">
            <a:extLst xmlns:a="http://schemas.openxmlformats.org/drawingml/2006/main">
              <a:ext uri="{FF2B5EF4-FFF2-40B4-BE49-F238E27FC236}">
                <a16:creationId xmlns:a16="http://schemas.microsoft.com/office/drawing/2014/main" id="{9A8A30A9-3164-4FDB-BCBF-1144A3792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541020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B4778"/>
                </a:solidFill>
              </a:defRPr>
            </a:pPr>
            <a:r>
              <a:rPr sz="1575" b="1">
                <a:solidFill>
                  <a:srgbClr val="0B4778"/>
                </a:solidFill>
              </a:rPr>
              <a:t>Модель Лотки–Вольтерры</a:t>
            </a:r>
          </a:p>
        </p:txBody>
      </p:sp>
    </p:spTree>
    <p:extLst>
      <p:ext uri="{BB962C8B-B14F-4D97-AF65-F5344CB8AC3E}">
        <p14:creationId xmlns:p14="http://schemas.microsoft.com/office/powerpoint/2010/main" val="41389847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op-band">
            <a:extLst xmlns:a="http://schemas.openxmlformats.org/drawingml/2006/main">
              <a:ext uri="{FF2B5EF4-FFF2-40B4-BE49-F238E27FC236}">
                <a16:creationId xmlns:a16="http://schemas.microsoft.com/office/drawing/2014/main" id="{6D573241-9EE9-4DF9-8086-F9A4F38D1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7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accent">
            <a:extLst xmlns:a="http://schemas.openxmlformats.org/drawingml/2006/main">
              <a:ext uri="{FF2B5EF4-FFF2-40B4-BE49-F238E27FC236}">
                <a16:creationId xmlns:a16="http://schemas.microsoft.com/office/drawing/2014/main" id="{FF6378DF-5E8F-4722-97E0-1107CA5B6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86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9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DD81CC7-CBD2-4703-970A-156532EFA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Десять тестов проверяют формулы и инварианты</a:t>
            </a:r>
          </a:p>
        </p:txBody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F606674E-824A-4C30-AC07-9394E7D20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9E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106a6e37dd4590"/>
          <a:stretch xmlns:a="http://schemas.openxmlformats.org/drawingml/2006/main"/>
        </p:blipFill>
        <p:spPr>
          <a:xfrm xmlns:a="http://schemas.openxmlformats.org/drawingml/2006/main">
            <a:off x="552450" y="6495443"/>
            <a:ext cx="304800" cy="258389"/>
          </a:xfrm>
          <a:prstGeom xmlns:a="http://schemas.openxmlformats.org/drawingml/2006/main" prst="rect">
            <a:avLst/>
          </a:prstGeom>
        </p:spPr>
      </p:pic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5B26CBF1-396E-4033-AAF9-489271389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486525"/>
            <a:ext cx="7334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675"/>
                </a:solidFill>
              </a:defRPr>
            </a:pPr>
            <a:r>
              <a:rPr sz="900" b="0">
                <a:solidFill>
                  <a:srgbClr val="526675"/>
                </a:solidFill>
              </a:rPr>
              <a:t>Имитационное моделирование · лабораторная работа № 2</a:t>
            </a:r>
          </a:p>
        </p:txBody>
      </p:sp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A5627C61-6ADF-48E9-A24A-976D6E940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486525"/>
            <a:ext cx="80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4778"/>
                </a:solidFill>
              </a:defRPr>
            </a:pPr>
            <a:r>
              <a:rPr sz="975" b="1">
                <a:solidFill>
                  <a:srgbClr val="0B4778"/>
                </a:solidFill>
              </a:rPr>
              <a:t>13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54ae2763864228"/>
          <a:stretch xmlns:a="http://schemas.openxmlformats.org/drawingml/2006/main"/>
        </p:blipFill>
        <p:spPr>
          <a:xfrm xmlns:a="http://schemas.openxmlformats.org/drawingml/2006/main">
            <a:off x="514350" y="1241822"/>
            <a:ext cx="7200900" cy="4050506"/>
          </a:xfrm>
          <a:prstGeom xmlns:a="http://schemas.openxmlformats.org/drawingml/2006/main" prst="rect">
            <a:avLst/>
          </a:prstGeom>
        </p:spPr>
      </p:pic>
      <p:sp>
        <p:nvSpPr>
          <p:cNvPr id="9" name="test-list">
            <a:extLst xmlns:a="http://schemas.openxmlformats.org/drawingml/2006/main">
              <a:ext uri="{FF2B5EF4-FFF2-40B4-BE49-F238E27FC236}">
                <a16:creationId xmlns:a16="http://schemas.microsoft.com/office/drawing/2014/main" id="{C4D7CFCF-E677-40A4-ABD8-F9C618B52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257300"/>
            <a:ext cx="3219450" cy="3676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32D"/>
                </a:solidFill>
              </a:defRPr>
            </a:pPr>
            <a:r>
              <a:rPr sz="1650" b="0">
                <a:solidFill>
                  <a:srgbClr val="17232D"/>
                </a:solidFill>
              </a:rPr>
              <a:t>6 проверок SIR</a:t>
            </a:r>
          </a:p>
          <a:p xmlns:a="http://schemas.openxmlformats.org/drawingml/2006/main">
            <a:pPr algn="l">
              <a:defRPr sz="1650" b="0">
                <a:solidFill>
                  <a:srgbClr val="17232D"/>
                </a:solidFill>
              </a:defRPr>
            </a:pPr>
            <a:r>
              <a:rPr sz="1650" b="0">
                <a:solidFill>
                  <a:srgbClr val="17232D"/>
                </a:solidFill>
              </a:rPr>
              <a:t>4 проверки Лотки–Вольтерры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7232D"/>
                </a:solidFill>
              </a:defRPr>
            </a:pPr>
            <a:r>
              <a:rPr sz="1650" b="0">
                <a:solidFill>
                  <a:srgbClr val="17232D"/>
                </a:solidFill>
              </a:rPr>
              <a:t>✓ сохранение S + I + R</a:t>
            </a:r>
          </a:p>
          <a:p xmlns:a="http://schemas.openxmlformats.org/drawingml/2006/main">
            <a:pPr algn="l">
              <a:defRPr sz="1650" b="0">
                <a:solidFill>
                  <a:srgbClr val="17232D"/>
                </a:solidFill>
              </a:defRPr>
            </a:pPr>
            <a:r>
              <a:rPr sz="1650" b="0">
                <a:solidFill>
                  <a:srgbClr val="17232D"/>
                </a:solidFill>
              </a:rPr>
              <a:t>✓ положительность решений</a:t>
            </a:r>
          </a:p>
          <a:p xmlns:a="http://schemas.openxmlformats.org/drawingml/2006/main">
            <a:pPr algn="l">
              <a:defRPr sz="1650" b="0">
                <a:solidFill>
                  <a:srgbClr val="17232D"/>
                </a:solidFill>
              </a:defRPr>
            </a:pPr>
            <a:r>
              <a:rPr sz="1650" b="0">
                <a:solidFill>
                  <a:srgbClr val="17232D"/>
                </a:solidFill>
              </a:rPr>
              <a:t>✓ стационарная точка</a:t>
            </a:r>
          </a:p>
          <a:p xmlns:a="http://schemas.openxmlformats.org/drawingml/2006/main">
            <a:pPr algn="l">
              <a:defRPr sz="1650" b="0">
                <a:solidFill>
                  <a:srgbClr val="17232D"/>
                </a:solidFill>
              </a:defRPr>
            </a:pPr>
            <a:r>
              <a:rPr sz="1650" b="0">
                <a:solidFill>
                  <a:srgbClr val="17232D"/>
                </a:solidFill>
              </a:rPr>
              <a:t>✓ сохранение H(x, y)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7232D"/>
                </a:solidFill>
              </a:defRPr>
            </a:pPr>
            <a:r>
              <a:rPr sz="1650" b="0">
                <a:solidFill>
                  <a:srgbClr val="17232D"/>
                </a:solidFill>
              </a:rPr>
              <a:t>Все тесты пройдены.</a:t>
            </a:r>
          </a:p>
        </p:txBody>
      </p:sp>
    </p:spTree>
    <p:extLst>
      <p:ext uri="{BB962C8B-B14F-4D97-AF65-F5344CB8AC3E}">
        <p14:creationId xmlns:p14="http://schemas.microsoft.com/office/powerpoint/2010/main" val="6067828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op-band">
            <a:extLst xmlns:a="http://schemas.openxmlformats.org/drawingml/2006/main">
              <a:ext uri="{FF2B5EF4-FFF2-40B4-BE49-F238E27FC236}">
                <a16:creationId xmlns:a16="http://schemas.microsoft.com/office/drawing/2014/main" id="{49734C38-27F5-41E9-AE40-B2280B0BA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7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accent">
            <a:extLst xmlns:a="http://schemas.openxmlformats.org/drawingml/2006/main">
              <a:ext uri="{FF2B5EF4-FFF2-40B4-BE49-F238E27FC236}">
                <a16:creationId xmlns:a16="http://schemas.microsoft.com/office/drawing/2014/main" id="{AC85DC4D-DCA4-478D-8970-A99DD113D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86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9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83DF33A-E339-44DE-836A-AA0421DD2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Весь конвейер повторяется пятью командами</a:t>
            </a:r>
          </a:p>
        </p:txBody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A263D394-B9E4-46CD-B043-C08BCA04F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9E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4db3bd61144897"/>
          <a:stretch xmlns:a="http://schemas.openxmlformats.org/drawingml/2006/main"/>
        </p:blipFill>
        <p:spPr>
          <a:xfrm xmlns:a="http://schemas.openxmlformats.org/drawingml/2006/main">
            <a:off x="552450" y="6495443"/>
            <a:ext cx="304800" cy="258389"/>
          </a:xfrm>
          <a:prstGeom xmlns:a="http://schemas.openxmlformats.org/drawingml/2006/main" prst="rect">
            <a:avLst/>
          </a:prstGeom>
        </p:spPr>
      </p:pic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5A96F062-4599-4561-8DB8-BFB6CD2D2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486525"/>
            <a:ext cx="7334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675"/>
                </a:solidFill>
              </a:defRPr>
            </a:pPr>
            <a:r>
              <a:rPr sz="900" b="0">
                <a:solidFill>
                  <a:srgbClr val="526675"/>
                </a:solidFill>
              </a:rPr>
              <a:t>Имитационное моделирование · лабораторная работа № 2</a:t>
            </a:r>
          </a:p>
        </p:txBody>
      </p:sp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B35FBE1-4001-4D2A-A44F-90B33D244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486525"/>
            <a:ext cx="80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4778"/>
                </a:solidFill>
              </a:defRPr>
            </a:pPr>
            <a:r>
              <a:rPr sz="975" b="1">
                <a:solidFill>
                  <a:srgbClr val="0B4778"/>
                </a:solidFill>
              </a:rPr>
              <a:t>14</a:t>
            </a:r>
          </a:p>
        </p:txBody>
      </p:sp>
      <p:sp>
        <p:nvSpPr>
          <p:cNvPr id="8" name="command-bg">
            <a:extLst xmlns:a="http://schemas.openxmlformats.org/drawingml/2006/main">
              <a:ext uri="{FF2B5EF4-FFF2-40B4-BE49-F238E27FC236}">
                <a16:creationId xmlns:a16="http://schemas.microsoft.com/office/drawing/2014/main" id="{FB589B73-FEBA-46DB-9E20-5C028F937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476250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117"/>
          </a:solidFill>
          <a:ln xmlns:a="http://schemas.openxmlformats.org/drawingml/2006/main" w="9525">
            <a:solidFill>
              <a:srgbClr val="263442"/>
            </a:solidFill>
            <a:prstDash val="solid"/>
          </a:ln>
        </p:spPr>
      </p:sp>
      <p:sp>
        <p:nvSpPr>
          <p:cNvPr id="9" name="commands">
            <a:extLst xmlns:a="http://schemas.openxmlformats.org/drawingml/2006/main">
              <a:ext uri="{FF2B5EF4-FFF2-40B4-BE49-F238E27FC236}">
                <a16:creationId xmlns:a16="http://schemas.microsoft.com/office/drawing/2014/main" id="{9E3F3B85-21F1-4785-B94A-290C87777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333500"/>
            <a:ext cx="390525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D8DEE9"/>
                </a:solidFill>
              </a:defRPr>
            </a:pPr>
            <a:r>
              <a:rPr sz="2025" b="1">
                <a:solidFill>
                  <a:srgbClr val="D8DEE9"/>
                </a:solidFill>
              </a:rPr>
              <a:t>$ make tangle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1">
                <a:solidFill>
                  <a:srgbClr val="D8DEE9"/>
                </a:solidFill>
              </a:defRPr>
            </a:pPr>
            <a:r>
              <a:rPr sz="2025" b="1">
                <a:solidFill>
                  <a:srgbClr val="D8DEE9"/>
                </a:solidFill>
              </a:rPr>
              <a:t>$ make run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1">
                <a:solidFill>
                  <a:srgbClr val="D8DEE9"/>
                </a:solidFill>
              </a:defRPr>
            </a:pPr>
            <a:r>
              <a:rPr sz="2025" b="1">
                <a:solidFill>
                  <a:srgbClr val="D8DEE9"/>
                </a:solidFill>
              </a:rPr>
              <a:t>$ make notebooks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1">
                <a:solidFill>
                  <a:srgbClr val="D8DEE9"/>
                </a:solidFill>
              </a:defRPr>
            </a:pPr>
            <a:r>
              <a:rPr sz="2025" b="1">
                <a:solidFill>
                  <a:srgbClr val="D8DEE9"/>
                </a:solidFill>
              </a:rPr>
              <a:t>$ make docs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1">
                <a:solidFill>
                  <a:srgbClr val="D8DEE9"/>
                </a:solidFill>
              </a:defRPr>
            </a:pPr>
            <a:r>
              <a:rPr sz="2025" b="1">
                <a:solidFill>
                  <a:srgbClr val="D8DEE9"/>
                </a:solidFill>
              </a:rPr>
              <a:t>$ make test</a:t>
            </a:r>
          </a:p>
        </p:txBody>
      </p:sp>
      <p:sp>
        <p:nvSpPr>
          <p:cNvPr id="10" name="outputs">
            <a:extLst xmlns:a="http://schemas.openxmlformats.org/drawingml/2006/main">
              <a:ext uri="{FF2B5EF4-FFF2-40B4-BE49-F238E27FC236}">
                <a16:creationId xmlns:a16="http://schemas.microsoft.com/office/drawing/2014/main" id="{5A56D3BE-9E70-48FC-9478-9913FE81F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066800"/>
            <a:ext cx="447675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32D"/>
                </a:solidFill>
              </a:defRPr>
            </a:pPr>
            <a:r>
              <a:rPr sz="1800" b="0">
                <a:solidFill>
                  <a:srgbClr val="17232D"/>
                </a:solidFill>
              </a:rPr>
              <a:t>Результат: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17232D"/>
                </a:solidFill>
              </a:defRPr>
            </a:pPr>
            <a:r>
              <a:rPr sz="1800" b="0">
                <a:solidFill>
                  <a:srgbClr val="17232D"/>
                </a:solidFill>
              </a:rPr>
              <a:t>• Julia-скрипты;</a:t>
            </a:r>
          </a:p>
          <a:p xmlns:a="http://schemas.openxmlformats.org/drawingml/2006/main">
            <a:pPr algn="l">
              <a:defRPr sz="1800" b="0">
                <a:solidFill>
                  <a:srgbClr val="17232D"/>
                </a:solidFill>
              </a:defRPr>
            </a:pPr>
            <a:r>
              <a:rPr sz="1800" b="0">
                <a:solidFill>
                  <a:srgbClr val="17232D"/>
                </a:solidFill>
              </a:rPr>
              <a:t>• CSV и графики;</a:t>
            </a:r>
          </a:p>
          <a:p xmlns:a="http://schemas.openxmlformats.org/drawingml/2006/main">
            <a:pPr algn="l">
              <a:defRPr sz="1800" b="0">
                <a:solidFill>
                  <a:srgbClr val="17232D"/>
                </a:solidFill>
              </a:defRPr>
            </a:pPr>
            <a:r>
              <a:rPr sz="1800" b="0">
                <a:solidFill>
                  <a:srgbClr val="17232D"/>
                </a:solidFill>
              </a:rPr>
              <a:t>• выполненные IPYNB;</a:t>
            </a:r>
          </a:p>
          <a:p xmlns:a="http://schemas.openxmlformats.org/drawingml/2006/main">
            <a:pPr algn="l">
              <a:defRPr sz="1800" b="0">
                <a:solidFill>
                  <a:srgbClr val="17232D"/>
                </a:solidFill>
              </a:defRPr>
            </a:pPr>
            <a:r>
              <a:rPr sz="1800" b="0">
                <a:solidFill>
                  <a:srgbClr val="17232D"/>
                </a:solidFill>
              </a:rPr>
              <a:t>• HTML-документация;</a:t>
            </a:r>
          </a:p>
          <a:p xmlns:a="http://schemas.openxmlformats.org/drawingml/2006/main">
            <a:pPr algn="l">
              <a:defRPr sz="1800" b="0">
                <a:solidFill>
                  <a:srgbClr val="17232D"/>
                </a:solidFill>
              </a:defRPr>
            </a:pPr>
            <a:r>
              <a:rPr sz="1800" b="0">
                <a:solidFill>
                  <a:srgbClr val="17232D"/>
                </a:solidFill>
              </a:rPr>
              <a:t>• DOCX и PDF отчёта;</a:t>
            </a:r>
          </a:p>
          <a:p xmlns:a="http://schemas.openxmlformats.org/drawingml/2006/main">
            <a:pPr algn="l">
              <a:defRPr sz="1800" b="0">
                <a:solidFill>
                  <a:srgbClr val="17232D"/>
                </a:solidFill>
              </a:defRPr>
            </a:pPr>
            <a:r>
              <a:rPr sz="1800" b="0">
                <a:solidFill>
                  <a:srgbClr val="17232D"/>
                </a:solidFill>
              </a:rPr>
              <a:t>• HTML и PPTX презентации;</a:t>
            </a:r>
          </a:p>
          <a:p xmlns:a="http://schemas.openxmlformats.org/drawingml/2006/main">
            <a:pPr algn="l">
              <a:defRPr sz="1800" b="0">
                <a:solidFill>
                  <a:srgbClr val="17232D"/>
                </a:solidFill>
              </a:defRPr>
            </a:pPr>
            <a:r>
              <a:rPr sz="1800" b="0">
                <a:solidFill>
                  <a:srgbClr val="17232D"/>
                </a:solidFill>
              </a:rPr>
              <a:t>• проверенная история Git.</a:t>
            </a:r>
          </a:p>
        </p:txBody>
      </p:sp>
    </p:spTree>
    <p:extLst>
      <p:ext uri="{BB962C8B-B14F-4D97-AF65-F5344CB8AC3E}">
        <p14:creationId xmlns:p14="http://schemas.microsoft.com/office/powerpoint/2010/main" val="155256769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B477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accent">
            <a:extLst xmlns:a="http://schemas.openxmlformats.org/drawingml/2006/main">
              <a:ext uri="{FF2B5EF4-FFF2-40B4-BE49-F238E27FC236}">
                <a16:creationId xmlns:a16="http://schemas.microsoft.com/office/drawing/2014/main" id="{7EDC123F-A2A1-4A23-B400-58E76A7A6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9D3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2aa5d2e33a455b"/>
          <a:stretch xmlns:a="http://schemas.openxmlformats.org/drawingml/2006/main"/>
        </p:blipFill>
        <p:spPr>
          <a:xfrm xmlns:a="http://schemas.openxmlformats.org/drawingml/2006/main">
            <a:off x="742950" y="716689"/>
            <a:ext cx="781050" cy="662123"/>
          </a:xfrm>
          <a:prstGeom xmlns:a="http://schemas.openxmlformats.org/drawingml/2006/main" prst="rect">
            <a:avLst/>
          </a:prstGeom>
        </p:spPr>
      </p:pic>
      <p:sp>
        <p:nvSpPr>
          <p:cNvPr id="3" name="conclusion-title">
            <a:extLst xmlns:a="http://schemas.openxmlformats.org/drawingml/2006/main">
              <a:ext uri="{FF2B5EF4-FFF2-40B4-BE49-F238E27FC236}">
                <a16:creationId xmlns:a16="http://schemas.microsoft.com/office/drawing/2014/main" id="{05B54D60-5BA6-4B1C-AA38-11674D76A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723900"/>
            <a:ext cx="8858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Обе модели согласуются</a:t>
            </a:r>
          </a:p>
          <a:p xmlns:a="http://schemas.openxmlformats.org/drawingml/2006/main">
            <a:pPr algn="l"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с теоретическими свойствами</a:t>
            </a:r>
          </a:p>
        </p:txBody>
      </p:sp>
      <p:sp>
        <p:nvSpPr>
          <p:cNvPr id="4" name="conclusion-rule">
            <a:extLst xmlns:a="http://schemas.openxmlformats.org/drawingml/2006/main">
              <a:ext uri="{FF2B5EF4-FFF2-40B4-BE49-F238E27FC236}">
                <a16:creationId xmlns:a16="http://schemas.microsoft.com/office/drawing/2014/main" id="{A6F50DB3-5845-402B-875A-F3D971960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133600"/>
            <a:ext cx="6286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9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onclusions">
            <a:extLst xmlns:a="http://schemas.openxmlformats.org/drawingml/2006/main">
              <a:ext uri="{FF2B5EF4-FFF2-40B4-BE49-F238E27FC236}">
                <a16:creationId xmlns:a16="http://schemas.microsoft.com/office/drawing/2014/main" id="{80C76B1D-E492-4AF8-A98B-ACC10B47E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552700"/>
            <a:ext cx="8953500" cy="3219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FFFFF"/>
                </a:solidFill>
              </a:defRPr>
            </a:pPr>
            <a:r>
              <a:rPr sz="1875" b="0">
                <a:solidFill>
                  <a:srgbClr val="FFFFFF"/>
                </a:solidFill>
              </a:rPr>
              <a:t>• SIR показала пороговый переход и затухание после Rₑ = 1.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FFFFFF"/>
                </a:solidFill>
              </a:defRPr>
            </a:pPr>
            <a:r>
              <a:rPr sz="1875" b="0">
                <a:solidFill>
                  <a:srgbClr val="FFFFFF"/>
                </a:solidFill>
              </a:rPr>
              <a:t>• Увеличение числа контактов повышает и ускоряет пик инфекции.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FFFFFF"/>
                </a:solidFill>
              </a:defRPr>
            </a:pPr>
            <a:r>
              <a:rPr sz="1875" b="0">
                <a:solidFill>
                  <a:srgbClr val="FFFFFF"/>
                </a:solidFill>
              </a:rPr>
              <a:t>• Лотка–Вольтерра образует периодические замкнутые орбиты.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FFFFFF"/>
                </a:solidFill>
              </a:defRPr>
            </a:pPr>
            <a:r>
              <a:rPr sz="1875" b="0">
                <a:solidFill>
                  <a:srgbClr val="FFFFFF"/>
                </a:solidFill>
              </a:rPr>
              <a:t>• Инварианты сохраняются с погрешностью 10⁻¹¹–10⁻¹³.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FFFFFF"/>
                </a:solidFill>
              </a:defRPr>
            </a:pPr>
            <a:r>
              <a:rPr sz="1875" b="0">
                <a:solidFill>
                  <a:srgbClr val="FFFFFF"/>
                </a:solidFill>
              </a:rPr>
              <a:t>• Исходники, отчёт, презентация и тесты собираются воспроизводимо.</a:t>
            </a:r>
          </a:p>
        </p:txBody>
      </p:sp>
      <p:sp>
        <p:nvSpPr>
          <p:cNvPr id="6" name="final">
            <a:extLst xmlns:a="http://schemas.openxmlformats.org/drawingml/2006/main">
              <a:ext uri="{FF2B5EF4-FFF2-40B4-BE49-F238E27FC236}">
                <a16:creationId xmlns:a16="http://schemas.microsoft.com/office/drawing/2014/main" id="{FCC7524D-04B4-4E2B-BB4A-218A72DF3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924550"/>
            <a:ext cx="571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5A9D3"/>
                </a:solidFill>
              </a:defRPr>
            </a:pPr>
            <a:r>
              <a:rPr sz="1650" b="1">
                <a:solidFill>
                  <a:srgbClr val="35A9D3"/>
                </a:solidFill>
              </a:rPr>
              <a:t>Лабораторная работа № 2</a:t>
            </a:r>
          </a:p>
        </p:txBody>
      </p:sp>
    </p:spTree>
    <p:extLst>
      <p:ext uri="{BB962C8B-B14F-4D97-AF65-F5344CB8AC3E}">
        <p14:creationId xmlns:p14="http://schemas.microsoft.com/office/powerpoint/2010/main" val="50953971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2026-08-30T11:58:30.7240000Z</dcterms:created>
  <dcterms:modified xsi:type="dcterms:W3CDTF">2026-08-30T11:58:30.7240000Z</dcterms:modified>
</coreProperties>
</file>